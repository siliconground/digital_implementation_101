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handoutMasterIdLst>
    <p:handoutMasterId r:id="rId80"/>
  </p:handoutMasterIdLst>
  <p:sldIdLst>
    <p:sldId id="270" r:id="rId2"/>
    <p:sldId id="14910" r:id="rId3"/>
    <p:sldId id="257" r:id="rId4"/>
    <p:sldId id="14950" r:id="rId5"/>
    <p:sldId id="262" r:id="rId6"/>
    <p:sldId id="14952" r:id="rId7"/>
    <p:sldId id="14953" r:id="rId8"/>
    <p:sldId id="14954" r:id="rId9"/>
    <p:sldId id="277" r:id="rId10"/>
    <p:sldId id="14955" r:id="rId11"/>
    <p:sldId id="14956" r:id="rId12"/>
    <p:sldId id="14958" r:id="rId13"/>
    <p:sldId id="14959" r:id="rId14"/>
    <p:sldId id="14960" r:id="rId15"/>
    <p:sldId id="14961" r:id="rId16"/>
    <p:sldId id="14962" r:id="rId17"/>
    <p:sldId id="14963" r:id="rId18"/>
    <p:sldId id="14964" r:id="rId19"/>
    <p:sldId id="14965" r:id="rId20"/>
    <p:sldId id="14966" r:id="rId21"/>
    <p:sldId id="14967" r:id="rId22"/>
    <p:sldId id="14968" r:id="rId23"/>
    <p:sldId id="14969" r:id="rId24"/>
    <p:sldId id="14970" r:id="rId25"/>
    <p:sldId id="14971" r:id="rId26"/>
    <p:sldId id="14972" r:id="rId27"/>
    <p:sldId id="14973" r:id="rId28"/>
    <p:sldId id="14974" r:id="rId29"/>
    <p:sldId id="14975" r:id="rId30"/>
    <p:sldId id="14976" r:id="rId31"/>
    <p:sldId id="14977" r:id="rId32"/>
    <p:sldId id="14978" r:id="rId33"/>
    <p:sldId id="14979" r:id="rId34"/>
    <p:sldId id="14980" r:id="rId35"/>
    <p:sldId id="14981" r:id="rId36"/>
    <p:sldId id="14982" r:id="rId37"/>
    <p:sldId id="14983" r:id="rId38"/>
    <p:sldId id="14984" r:id="rId39"/>
    <p:sldId id="14985" r:id="rId40"/>
    <p:sldId id="14986" r:id="rId41"/>
    <p:sldId id="14987" r:id="rId42"/>
    <p:sldId id="14988" r:id="rId43"/>
    <p:sldId id="14989" r:id="rId44"/>
    <p:sldId id="14990" r:id="rId45"/>
    <p:sldId id="14991" r:id="rId46"/>
    <p:sldId id="14992" r:id="rId47"/>
    <p:sldId id="14993" r:id="rId48"/>
    <p:sldId id="14994" r:id="rId49"/>
    <p:sldId id="14995" r:id="rId50"/>
    <p:sldId id="14996" r:id="rId51"/>
    <p:sldId id="14957" r:id="rId52"/>
    <p:sldId id="263" r:id="rId53"/>
    <p:sldId id="264" r:id="rId54"/>
    <p:sldId id="265" r:id="rId55"/>
    <p:sldId id="266" r:id="rId56"/>
    <p:sldId id="267" r:id="rId57"/>
    <p:sldId id="268" r:id="rId58"/>
    <p:sldId id="269" r:id="rId59"/>
    <p:sldId id="14951" r:id="rId60"/>
    <p:sldId id="271" r:id="rId61"/>
    <p:sldId id="272" r:id="rId62"/>
    <p:sldId id="273" r:id="rId63"/>
    <p:sldId id="278" r:id="rId64"/>
    <p:sldId id="279" r:id="rId65"/>
    <p:sldId id="280" r:id="rId66"/>
    <p:sldId id="274" r:id="rId67"/>
    <p:sldId id="275" r:id="rId68"/>
    <p:sldId id="276" r:id="rId69"/>
    <p:sldId id="281" r:id="rId70"/>
    <p:sldId id="282" r:id="rId71"/>
    <p:sldId id="283" r:id="rId72"/>
    <p:sldId id="284" r:id="rId73"/>
    <p:sldId id="285" r:id="rId74"/>
    <p:sldId id="286" r:id="rId75"/>
    <p:sldId id="14944" r:id="rId76"/>
    <p:sldId id="14945" r:id="rId77"/>
    <p:sldId id="14946" r:id="rId7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7ED1"/>
    <a:srgbClr val="147BD1"/>
    <a:srgbClr val="EBEBE9"/>
    <a:srgbClr val="1DCAD3"/>
    <a:srgbClr val="93DA49"/>
    <a:srgbClr val="FFB71B"/>
    <a:srgbClr val="EA0029"/>
    <a:srgbClr val="00A376"/>
    <a:srgbClr val="D50057"/>
    <a:srgbClr val="FF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49" autoAdjust="0"/>
    <p:restoredTop sz="82762" autoAdjust="0"/>
  </p:normalViewPr>
  <p:slideViewPr>
    <p:cSldViewPr snapToGrid="0" showGuides="1">
      <p:cViewPr varScale="1">
        <p:scale>
          <a:sx n="109" d="100"/>
          <a:sy n="109" d="100"/>
        </p:scale>
        <p:origin x="114" y="552"/>
      </p:cViewPr>
      <p:guideLst>
        <p:guide orient="horz" pos="164"/>
        <p:guide pos="257"/>
        <p:guide pos="7401"/>
        <p:guide orient="horz" pos="411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78" d="100"/>
          <a:sy n="78" d="100"/>
        </p:scale>
        <p:origin x="39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FEEA83-0C50-440E-8BD8-F93EFB7793CF}" type="doc">
      <dgm:prSet loTypeId="urn:microsoft.com/office/officeart/2005/8/layout/chevron2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430368DB-617C-4705-9A09-5774876C29CE}">
      <dgm:prSet phldrT="[Text]"/>
      <dgm:spPr/>
      <dgm:t>
        <a:bodyPr/>
        <a:lstStyle/>
        <a:p>
          <a:r>
            <a:rPr lang="en-US" dirty="0"/>
            <a:t>STEP1</a:t>
          </a:r>
        </a:p>
      </dgm:t>
    </dgm:pt>
    <dgm:pt modelId="{9C83EB14-5220-40A0-9C10-6DC61AE39D9F}" type="parTrans" cxnId="{E6F7DFC7-2FB2-4DCF-ADD9-2864C60015B7}">
      <dgm:prSet/>
      <dgm:spPr/>
      <dgm:t>
        <a:bodyPr/>
        <a:lstStyle/>
        <a:p>
          <a:endParaRPr lang="en-US"/>
        </a:p>
      </dgm:t>
    </dgm:pt>
    <dgm:pt modelId="{B6A22CEC-E207-4172-AA9F-4D7130913E38}" type="sibTrans" cxnId="{E6F7DFC7-2FB2-4DCF-ADD9-2864C60015B7}">
      <dgm:prSet/>
      <dgm:spPr/>
      <dgm:t>
        <a:bodyPr/>
        <a:lstStyle/>
        <a:p>
          <a:endParaRPr lang="en-US"/>
        </a:p>
      </dgm:t>
    </dgm:pt>
    <dgm:pt modelId="{D0BD1B99-02B5-4C67-9F0A-910335A8492A}">
      <dgm:prSet phldrT="[Text]"/>
      <dgm:spPr/>
      <dgm:t>
        <a:bodyPr/>
        <a:lstStyle/>
        <a:p>
          <a:r>
            <a:rPr lang="en-US" dirty="0"/>
            <a:t>Preset global variables and attributes</a:t>
          </a:r>
        </a:p>
      </dgm:t>
    </dgm:pt>
    <dgm:pt modelId="{385D5405-8B7B-41A7-985C-2B0B86C19F11}" type="parTrans" cxnId="{799804ED-F208-428B-A301-4F487847FC9D}">
      <dgm:prSet/>
      <dgm:spPr/>
      <dgm:t>
        <a:bodyPr/>
        <a:lstStyle/>
        <a:p>
          <a:endParaRPr lang="en-US"/>
        </a:p>
      </dgm:t>
    </dgm:pt>
    <dgm:pt modelId="{E6CDB634-82AC-44FB-AEE6-F00677D524BB}" type="sibTrans" cxnId="{799804ED-F208-428B-A301-4F487847FC9D}">
      <dgm:prSet/>
      <dgm:spPr/>
      <dgm:t>
        <a:bodyPr/>
        <a:lstStyle/>
        <a:p>
          <a:endParaRPr lang="en-US"/>
        </a:p>
      </dgm:t>
    </dgm:pt>
    <dgm:pt modelId="{8E9E4D98-2BDC-4B75-8ECD-86063BBB78AF}">
      <dgm:prSet phldrT="[Text]"/>
      <dgm:spPr/>
      <dgm:t>
        <a:bodyPr/>
        <a:lstStyle/>
        <a:p>
          <a:r>
            <a:rPr lang="en-US" dirty="0"/>
            <a:t>STEP2</a:t>
          </a:r>
        </a:p>
      </dgm:t>
    </dgm:pt>
    <dgm:pt modelId="{581B2599-6D17-4C6E-8416-D4D9FA47EB67}" type="parTrans" cxnId="{2133060D-3AEF-46BF-84D5-D95758BF3AB2}">
      <dgm:prSet/>
      <dgm:spPr/>
      <dgm:t>
        <a:bodyPr/>
        <a:lstStyle/>
        <a:p>
          <a:endParaRPr lang="en-US"/>
        </a:p>
      </dgm:t>
    </dgm:pt>
    <dgm:pt modelId="{282E5177-0041-457B-98B7-CCCD646A146D}" type="sibTrans" cxnId="{2133060D-3AEF-46BF-84D5-D95758BF3AB2}">
      <dgm:prSet/>
      <dgm:spPr/>
      <dgm:t>
        <a:bodyPr/>
        <a:lstStyle/>
        <a:p>
          <a:endParaRPr lang="en-US"/>
        </a:p>
      </dgm:t>
    </dgm:pt>
    <dgm:pt modelId="{549C785E-E1B2-474F-B221-815F4313B9EF}">
      <dgm:prSet phldrT="[Text]"/>
      <dgm:spPr/>
      <dgm:t>
        <a:bodyPr/>
        <a:lstStyle/>
        <a:p>
          <a:r>
            <a:rPr lang="en-US" dirty="0"/>
            <a:t>Library Setup</a:t>
          </a:r>
        </a:p>
      </dgm:t>
    </dgm:pt>
    <dgm:pt modelId="{A00E203D-E79E-47F0-BA05-70CBBE9BBCD8}" type="parTrans" cxnId="{BD8E74AA-A939-45D0-8A39-870BB0592C0A}">
      <dgm:prSet/>
      <dgm:spPr/>
      <dgm:t>
        <a:bodyPr/>
        <a:lstStyle/>
        <a:p>
          <a:endParaRPr lang="en-US"/>
        </a:p>
      </dgm:t>
    </dgm:pt>
    <dgm:pt modelId="{2B6759A3-519A-4A58-9233-D6D62781F7AB}" type="sibTrans" cxnId="{BD8E74AA-A939-45D0-8A39-870BB0592C0A}">
      <dgm:prSet/>
      <dgm:spPr/>
      <dgm:t>
        <a:bodyPr/>
        <a:lstStyle/>
        <a:p>
          <a:endParaRPr lang="en-US"/>
        </a:p>
      </dgm:t>
    </dgm:pt>
    <dgm:pt modelId="{ECDA375C-4247-4309-8D62-8F5F73893CE6}">
      <dgm:prSet phldrT="[Text]"/>
      <dgm:spPr/>
      <dgm:t>
        <a:bodyPr/>
        <a:lstStyle/>
        <a:p>
          <a:r>
            <a:rPr lang="en-US" dirty="0"/>
            <a:t>STEP3</a:t>
          </a:r>
        </a:p>
      </dgm:t>
    </dgm:pt>
    <dgm:pt modelId="{AF56C609-7790-44D0-A454-070FE777D567}" type="parTrans" cxnId="{53D33113-690C-4FEB-A819-DA7791783A8C}">
      <dgm:prSet/>
      <dgm:spPr/>
      <dgm:t>
        <a:bodyPr/>
        <a:lstStyle/>
        <a:p>
          <a:endParaRPr lang="en-US"/>
        </a:p>
      </dgm:t>
    </dgm:pt>
    <dgm:pt modelId="{55359937-8D07-4C65-BA28-8A452FBE275A}" type="sibTrans" cxnId="{53D33113-690C-4FEB-A819-DA7791783A8C}">
      <dgm:prSet/>
      <dgm:spPr/>
      <dgm:t>
        <a:bodyPr/>
        <a:lstStyle/>
        <a:p>
          <a:endParaRPr lang="en-US"/>
        </a:p>
      </dgm:t>
    </dgm:pt>
    <dgm:pt modelId="{450728BF-BB30-4976-8CF6-D4EFF01E4821}">
      <dgm:prSet phldrT="[Text]"/>
      <dgm:spPr/>
      <dgm:t>
        <a:bodyPr/>
        <a:lstStyle/>
        <a:p>
          <a:r>
            <a:rPr lang="en-US" dirty="0"/>
            <a:t>Load Design</a:t>
          </a:r>
        </a:p>
      </dgm:t>
    </dgm:pt>
    <dgm:pt modelId="{19C88CBD-A3BE-46B0-A9E2-1D795190DC06}" type="parTrans" cxnId="{2649522F-B750-43D7-B723-2F807FD157DE}">
      <dgm:prSet/>
      <dgm:spPr/>
      <dgm:t>
        <a:bodyPr/>
        <a:lstStyle/>
        <a:p>
          <a:endParaRPr lang="en-US"/>
        </a:p>
      </dgm:t>
    </dgm:pt>
    <dgm:pt modelId="{D736AB8B-B6BE-4256-92C3-5CAD42442E10}" type="sibTrans" cxnId="{2649522F-B750-43D7-B723-2F807FD157DE}">
      <dgm:prSet/>
      <dgm:spPr/>
      <dgm:t>
        <a:bodyPr/>
        <a:lstStyle/>
        <a:p>
          <a:endParaRPr lang="en-US"/>
        </a:p>
      </dgm:t>
    </dgm:pt>
    <dgm:pt modelId="{89621435-530A-4521-84D6-56BBE6219094}">
      <dgm:prSet phldrT="[Text]"/>
      <dgm:spPr/>
      <dgm:t>
        <a:bodyPr/>
        <a:lstStyle/>
        <a:p>
          <a:r>
            <a:rPr lang="en-US" dirty="0"/>
            <a:t>Elaboration</a:t>
          </a:r>
        </a:p>
      </dgm:t>
    </dgm:pt>
    <dgm:pt modelId="{A76F2512-8F93-4DFC-ADB8-68076D80BAE3}" type="parTrans" cxnId="{AD4C6D9C-1960-4CA5-83C3-FA1B2583F604}">
      <dgm:prSet/>
      <dgm:spPr/>
      <dgm:t>
        <a:bodyPr/>
        <a:lstStyle/>
        <a:p>
          <a:endParaRPr lang="en-US"/>
        </a:p>
      </dgm:t>
    </dgm:pt>
    <dgm:pt modelId="{F2AE1047-4859-41C4-8298-C04832B343A4}" type="sibTrans" cxnId="{AD4C6D9C-1960-4CA5-83C3-FA1B2583F604}">
      <dgm:prSet/>
      <dgm:spPr/>
      <dgm:t>
        <a:bodyPr/>
        <a:lstStyle/>
        <a:p>
          <a:endParaRPr lang="en-US"/>
        </a:p>
      </dgm:t>
    </dgm:pt>
    <dgm:pt modelId="{E020F013-6D37-4FB8-A04B-9BCE5206875C}">
      <dgm:prSet phldrT="[Text]"/>
      <dgm:spPr/>
      <dgm:t>
        <a:bodyPr/>
        <a:lstStyle/>
        <a:p>
          <a:r>
            <a:rPr lang="en-US" dirty="0"/>
            <a:t>STEP4</a:t>
          </a:r>
        </a:p>
      </dgm:t>
    </dgm:pt>
    <dgm:pt modelId="{B3D286DE-652B-4339-A828-F615C652D67B}" type="parTrans" cxnId="{17A69564-FD8E-4588-808F-0F10E551E2DD}">
      <dgm:prSet/>
      <dgm:spPr/>
      <dgm:t>
        <a:bodyPr/>
        <a:lstStyle/>
        <a:p>
          <a:endParaRPr lang="en-US"/>
        </a:p>
      </dgm:t>
    </dgm:pt>
    <dgm:pt modelId="{E3DC71FA-DF01-4EDA-AC59-34DB18C830D1}" type="sibTrans" cxnId="{17A69564-FD8E-4588-808F-0F10E551E2DD}">
      <dgm:prSet/>
      <dgm:spPr/>
      <dgm:t>
        <a:bodyPr/>
        <a:lstStyle/>
        <a:p>
          <a:endParaRPr lang="en-US"/>
        </a:p>
      </dgm:t>
    </dgm:pt>
    <dgm:pt modelId="{AEDCC9DD-8E67-4243-9627-B3F2C287F9D1}">
      <dgm:prSet phldrT="[Text]"/>
      <dgm:spPr/>
      <dgm:t>
        <a:bodyPr/>
        <a:lstStyle/>
        <a:p>
          <a:r>
            <a:rPr lang="en-US" dirty="0"/>
            <a:t>Constraints Setup</a:t>
          </a:r>
        </a:p>
      </dgm:t>
    </dgm:pt>
    <dgm:pt modelId="{FB6962E7-A2A0-4A9B-BB07-BF187D604E84}" type="parTrans" cxnId="{498DBD06-6E6D-4F17-9089-44BC8590993F}">
      <dgm:prSet/>
      <dgm:spPr/>
      <dgm:t>
        <a:bodyPr/>
        <a:lstStyle/>
        <a:p>
          <a:endParaRPr lang="en-US"/>
        </a:p>
      </dgm:t>
    </dgm:pt>
    <dgm:pt modelId="{E71FE99E-9A15-40F1-9206-DAC81A196DF4}" type="sibTrans" cxnId="{498DBD06-6E6D-4F17-9089-44BC8590993F}">
      <dgm:prSet/>
      <dgm:spPr/>
      <dgm:t>
        <a:bodyPr/>
        <a:lstStyle/>
        <a:p>
          <a:endParaRPr lang="en-US"/>
        </a:p>
      </dgm:t>
    </dgm:pt>
    <dgm:pt modelId="{67805BDC-1A21-4A90-91F1-41F040B60203}">
      <dgm:prSet phldrT="[Text]"/>
      <dgm:spPr/>
      <dgm:t>
        <a:bodyPr/>
        <a:lstStyle/>
        <a:p>
          <a:r>
            <a:rPr lang="en-US" dirty="0"/>
            <a:t>STEP5</a:t>
          </a:r>
        </a:p>
      </dgm:t>
    </dgm:pt>
    <dgm:pt modelId="{FA6A286A-E6C3-44B8-A047-1C92B84BC4AE}" type="parTrans" cxnId="{F439FCB9-CD8E-434B-94CB-1DB45E0001CD}">
      <dgm:prSet/>
      <dgm:spPr/>
      <dgm:t>
        <a:bodyPr/>
        <a:lstStyle/>
        <a:p>
          <a:endParaRPr lang="en-US"/>
        </a:p>
      </dgm:t>
    </dgm:pt>
    <dgm:pt modelId="{A496677B-E2EE-4B0C-A9E5-E754B825B631}" type="sibTrans" cxnId="{F439FCB9-CD8E-434B-94CB-1DB45E0001CD}">
      <dgm:prSet/>
      <dgm:spPr/>
      <dgm:t>
        <a:bodyPr/>
        <a:lstStyle/>
        <a:p>
          <a:endParaRPr lang="en-US"/>
        </a:p>
      </dgm:t>
    </dgm:pt>
    <dgm:pt modelId="{70FEC1D2-4149-4255-AC09-36892F7FB093}">
      <dgm:prSet phldrT="[Text]"/>
      <dgm:spPr/>
      <dgm:t>
        <a:bodyPr/>
        <a:lstStyle/>
        <a:p>
          <a:r>
            <a:rPr lang="en-US" dirty="0"/>
            <a:t>Synthesize to Generic</a:t>
          </a:r>
        </a:p>
      </dgm:t>
    </dgm:pt>
    <dgm:pt modelId="{D9F38603-3F07-4827-81F5-6263B2345746}" type="parTrans" cxnId="{D88C55B7-9F70-4303-91FC-F2AB5AF071D9}">
      <dgm:prSet/>
      <dgm:spPr/>
      <dgm:t>
        <a:bodyPr/>
        <a:lstStyle/>
        <a:p>
          <a:endParaRPr lang="en-US"/>
        </a:p>
      </dgm:t>
    </dgm:pt>
    <dgm:pt modelId="{40B972B7-0836-493A-BB76-01BE3C0B164E}" type="sibTrans" cxnId="{D88C55B7-9F70-4303-91FC-F2AB5AF071D9}">
      <dgm:prSet/>
      <dgm:spPr/>
      <dgm:t>
        <a:bodyPr/>
        <a:lstStyle/>
        <a:p>
          <a:endParaRPr lang="en-US"/>
        </a:p>
      </dgm:t>
    </dgm:pt>
    <dgm:pt modelId="{6D5C03B9-6845-4391-AE3A-0F1A24EE2820}">
      <dgm:prSet phldrT="[Text]"/>
      <dgm:spPr/>
      <dgm:t>
        <a:bodyPr/>
        <a:lstStyle/>
        <a:p>
          <a:r>
            <a:rPr lang="en-US" dirty="0"/>
            <a:t>STEP6</a:t>
          </a:r>
        </a:p>
      </dgm:t>
    </dgm:pt>
    <dgm:pt modelId="{A0FCB982-E8A2-4E3B-852A-E907EAC0B694}" type="parTrans" cxnId="{15310FAF-39BA-4DAE-93DC-355A63DBC3DF}">
      <dgm:prSet/>
      <dgm:spPr/>
      <dgm:t>
        <a:bodyPr/>
        <a:lstStyle/>
        <a:p>
          <a:endParaRPr lang="en-US"/>
        </a:p>
      </dgm:t>
    </dgm:pt>
    <dgm:pt modelId="{599122C8-441C-4724-8FAE-AA42992A09EF}" type="sibTrans" cxnId="{15310FAF-39BA-4DAE-93DC-355A63DBC3DF}">
      <dgm:prSet/>
      <dgm:spPr/>
      <dgm:t>
        <a:bodyPr/>
        <a:lstStyle/>
        <a:p>
          <a:endParaRPr lang="en-US"/>
        </a:p>
      </dgm:t>
    </dgm:pt>
    <dgm:pt modelId="{19909D95-C385-4310-94ED-7C6180084501}">
      <dgm:prSet phldrT="[Text]"/>
      <dgm:spPr/>
      <dgm:t>
        <a:bodyPr/>
        <a:lstStyle/>
        <a:p>
          <a:r>
            <a:rPr lang="en-US" dirty="0"/>
            <a:t>Synthesizing to Gates</a:t>
          </a:r>
        </a:p>
      </dgm:t>
    </dgm:pt>
    <dgm:pt modelId="{EDD169B2-44D8-4825-AF87-2A77618807B0}" type="parTrans" cxnId="{14FFF68F-3F2E-4E5B-8B94-0BA8C4BFAC54}">
      <dgm:prSet/>
      <dgm:spPr/>
      <dgm:t>
        <a:bodyPr/>
        <a:lstStyle/>
        <a:p>
          <a:endParaRPr lang="en-US"/>
        </a:p>
      </dgm:t>
    </dgm:pt>
    <dgm:pt modelId="{A5240651-F417-4A52-91C8-73C5F0A29AF6}" type="sibTrans" cxnId="{14FFF68F-3F2E-4E5B-8B94-0BA8C4BFAC54}">
      <dgm:prSet/>
      <dgm:spPr/>
      <dgm:t>
        <a:bodyPr/>
        <a:lstStyle/>
        <a:p>
          <a:endParaRPr lang="en-US"/>
        </a:p>
      </dgm:t>
    </dgm:pt>
    <dgm:pt modelId="{E039B2D4-9534-4D37-BD49-AD4B75D9FDDC}">
      <dgm:prSet phldrT="[Text]"/>
      <dgm:spPr/>
      <dgm:t>
        <a:bodyPr/>
        <a:lstStyle/>
        <a:p>
          <a:r>
            <a:rPr lang="en-US" dirty="0"/>
            <a:t>STEP7</a:t>
          </a:r>
        </a:p>
      </dgm:t>
    </dgm:pt>
    <dgm:pt modelId="{440E84DC-3D37-4CFF-B537-5A04BBC28F2B}" type="parTrans" cxnId="{6288C315-FE41-4E4F-AA52-033D8C1D013F}">
      <dgm:prSet/>
      <dgm:spPr/>
      <dgm:t>
        <a:bodyPr/>
        <a:lstStyle/>
        <a:p>
          <a:endParaRPr lang="en-US"/>
        </a:p>
      </dgm:t>
    </dgm:pt>
    <dgm:pt modelId="{560C1499-DF1B-47F8-9E02-8F84F9FDE0F1}" type="sibTrans" cxnId="{6288C315-FE41-4E4F-AA52-033D8C1D013F}">
      <dgm:prSet/>
      <dgm:spPr/>
      <dgm:t>
        <a:bodyPr/>
        <a:lstStyle/>
        <a:p>
          <a:endParaRPr lang="en-US"/>
        </a:p>
      </dgm:t>
    </dgm:pt>
    <dgm:pt modelId="{F649647A-427E-469F-96BD-D2A9B481CEE0}">
      <dgm:prSet phldrT="[Text]"/>
      <dgm:spPr/>
      <dgm:t>
        <a:bodyPr/>
        <a:lstStyle/>
        <a:p>
          <a:r>
            <a:rPr lang="en-US" dirty="0"/>
            <a:t>Optimize Netlist</a:t>
          </a:r>
        </a:p>
      </dgm:t>
    </dgm:pt>
    <dgm:pt modelId="{EB5AF6DA-FD18-4E85-8C35-E96FDD907858}" type="parTrans" cxnId="{7CED5748-2627-4478-B92B-134B59252F7C}">
      <dgm:prSet/>
      <dgm:spPr/>
      <dgm:t>
        <a:bodyPr/>
        <a:lstStyle/>
        <a:p>
          <a:endParaRPr lang="en-US"/>
        </a:p>
      </dgm:t>
    </dgm:pt>
    <dgm:pt modelId="{11FD2F4F-FC96-4FF2-94A3-00E4282512C4}" type="sibTrans" cxnId="{7CED5748-2627-4478-B92B-134B59252F7C}">
      <dgm:prSet/>
      <dgm:spPr/>
      <dgm:t>
        <a:bodyPr/>
        <a:lstStyle/>
        <a:p>
          <a:endParaRPr lang="en-US"/>
        </a:p>
      </dgm:t>
    </dgm:pt>
    <dgm:pt modelId="{458C1B8E-67D8-4699-BBE5-32271C03314D}">
      <dgm:prSet phldrT="[Text]"/>
      <dgm:spPr/>
      <dgm:t>
        <a:bodyPr/>
        <a:lstStyle/>
        <a:p>
          <a:r>
            <a:rPr lang="en-US" dirty="0"/>
            <a:t>STEP8</a:t>
          </a:r>
        </a:p>
      </dgm:t>
    </dgm:pt>
    <dgm:pt modelId="{DD1D8BC2-C77D-4A98-8F97-67EFC2810253}" type="parTrans" cxnId="{FE20F5A7-444A-4269-8016-BF3A9AF75A4C}">
      <dgm:prSet/>
      <dgm:spPr/>
      <dgm:t>
        <a:bodyPr/>
        <a:lstStyle/>
        <a:p>
          <a:endParaRPr lang="en-US"/>
        </a:p>
      </dgm:t>
    </dgm:pt>
    <dgm:pt modelId="{C1BC884B-0541-4CF6-8550-A2BD31AD2A49}" type="sibTrans" cxnId="{FE20F5A7-444A-4269-8016-BF3A9AF75A4C}">
      <dgm:prSet/>
      <dgm:spPr/>
      <dgm:t>
        <a:bodyPr/>
        <a:lstStyle/>
        <a:p>
          <a:endParaRPr lang="en-US"/>
        </a:p>
      </dgm:t>
    </dgm:pt>
    <dgm:pt modelId="{74AF1824-8006-43EF-8F6E-0B4116C1281E}">
      <dgm:prSet phldrT="[Text]"/>
      <dgm:spPr/>
      <dgm:t>
        <a:bodyPr/>
        <a:lstStyle/>
        <a:p>
          <a:r>
            <a:rPr lang="en-US" dirty="0"/>
            <a:t>Write “Do </a:t>
          </a:r>
          <a:r>
            <a:rPr lang="en-US" dirty="0" err="1"/>
            <a:t>Lec</a:t>
          </a:r>
          <a:r>
            <a:rPr lang="en-US" dirty="0"/>
            <a:t>”</a:t>
          </a:r>
        </a:p>
      </dgm:t>
    </dgm:pt>
    <dgm:pt modelId="{A24A91AC-BCAC-4E90-8EBA-C2E00F13E32C}" type="parTrans" cxnId="{9DAAB0EB-A929-4972-A263-1D7A0E8FFE5A}">
      <dgm:prSet/>
      <dgm:spPr/>
      <dgm:t>
        <a:bodyPr/>
        <a:lstStyle/>
        <a:p>
          <a:endParaRPr lang="en-US"/>
        </a:p>
      </dgm:t>
    </dgm:pt>
    <dgm:pt modelId="{D643FA15-6CEF-4F37-A30E-F007E4A55B67}" type="sibTrans" cxnId="{9DAAB0EB-A929-4972-A263-1D7A0E8FFE5A}">
      <dgm:prSet/>
      <dgm:spPr/>
      <dgm:t>
        <a:bodyPr/>
        <a:lstStyle/>
        <a:p>
          <a:endParaRPr lang="en-US"/>
        </a:p>
      </dgm:t>
    </dgm:pt>
    <dgm:pt modelId="{D7FFD173-2D02-46CF-BA36-66E174C10543}" type="pres">
      <dgm:prSet presAssocID="{A8FEEA83-0C50-440E-8BD8-F93EFB7793CF}" presName="linearFlow" presStyleCnt="0">
        <dgm:presLayoutVars>
          <dgm:dir/>
          <dgm:animLvl val="lvl"/>
          <dgm:resizeHandles val="exact"/>
        </dgm:presLayoutVars>
      </dgm:prSet>
      <dgm:spPr/>
    </dgm:pt>
    <dgm:pt modelId="{9506027A-53AE-470B-9255-FC09EA4F8544}" type="pres">
      <dgm:prSet presAssocID="{430368DB-617C-4705-9A09-5774876C29CE}" presName="composite" presStyleCnt="0"/>
      <dgm:spPr/>
    </dgm:pt>
    <dgm:pt modelId="{514D930E-DD16-4E4F-AC85-D048FD4742D6}" type="pres">
      <dgm:prSet presAssocID="{430368DB-617C-4705-9A09-5774876C29CE}" presName="parentText" presStyleLbl="alignNode1" presStyleIdx="0" presStyleCnt="8">
        <dgm:presLayoutVars>
          <dgm:chMax val="1"/>
          <dgm:bulletEnabled val="1"/>
        </dgm:presLayoutVars>
      </dgm:prSet>
      <dgm:spPr/>
    </dgm:pt>
    <dgm:pt modelId="{DF6C8969-5E45-435A-A625-15C433826DCE}" type="pres">
      <dgm:prSet presAssocID="{430368DB-617C-4705-9A09-5774876C29CE}" presName="descendantText" presStyleLbl="alignAcc1" presStyleIdx="0" presStyleCnt="8">
        <dgm:presLayoutVars>
          <dgm:bulletEnabled val="1"/>
        </dgm:presLayoutVars>
      </dgm:prSet>
      <dgm:spPr/>
    </dgm:pt>
    <dgm:pt modelId="{1129A842-CCB2-4F37-A76C-08F5EDFAE0E0}" type="pres">
      <dgm:prSet presAssocID="{B6A22CEC-E207-4172-AA9F-4D7130913E38}" presName="sp" presStyleCnt="0"/>
      <dgm:spPr/>
    </dgm:pt>
    <dgm:pt modelId="{5454A830-B151-40EF-B7A7-A75A021B7C0F}" type="pres">
      <dgm:prSet presAssocID="{8E9E4D98-2BDC-4B75-8ECD-86063BBB78AF}" presName="composite" presStyleCnt="0"/>
      <dgm:spPr/>
    </dgm:pt>
    <dgm:pt modelId="{E979A9D3-C73A-40EF-890A-90A0914C48F2}" type="pres">
      <dgm:prSet presAssocID="{8E9E4D98-2BDC-4B75-8ECD-86063BBB78AF}" presName="parentText" presStyleLbl="alignNode1" presStyleIdx="1" presStyleCnt="8">
        <dgm:presLayoutVars>
          <dgm:chMax val="1"/>
          <dgm:bulletEnabled val="1"/>
        </dgm:presLayoutVars>
      </dgm:prSet>
      <dgm:spPr/>
    </dgm:pt>
    <dgm:pt modelId="{F7782A57-AB44-404E-87AC-C341533ED564}" type="pres">
      <dgm:prSet presAssocID="{8E9E4D98-2BDC-4B75-8ECD-86063BBB78AF}" presName="descendantText" presStyleLbl="alignAcc1" presStyleIdx="1" presStyleCnt="8">
        <dgm:presLayoutVars>
          <dgm:bulletEnabled val="1"/>
        </dgm:presLayoutVars>
      </dgm:prSet>
      <dgm:spPr/>
    </dgm:pt>
    <dgm:pt modelId="{013EA022-8975-4DC4-BD30-33289A5D1539}" type="pres">
      <dgm:prSet presAssocID="{282E5177-0041-457B-98B7-CCCD646A146D}" presName="sp" presStyleCnt="0"/>
      <dgm:spPr/>
    </dgm:pt>
    <dgm:pt modelId="{0FD77374-EFDE-43D2-A928-06FA5CF3B47A}" type="pres">
      <dgm:prSet presAssocID="{ECDA375C-4247-4309-8D62-8F5F73893CE6}" presName="composite" presStyleCnt="0"/>
      <dgm:spPr/>
    </dgm:pt>
    <dgm:pt modelId="{B28DD0F5-BF54-4344-BBFC-2BD0FD9F8477}" type="pres">
      <dgm:prSet presAssocID="{ECDA375C-4247-4309-8D62-8F5F73893CE6}" presName="parentText" presStyleLbl="alignNode1" presStyleIdx="2" presStyleCnt="8">
        <dgm:presLayoutVars>
          <dgm:chMax val="1"/>
          <dgm:bulletEnabled val="1"/>
        </dgm:presLayoutVars>
      </dgm:prSet>
      <dgm:spPr/>
    </dgm:pt>
    <dgm:pt modelId="{F817200F-0630-4701-8408-13EF843A5F3B}" type="pres">
      <dgm:prSet presAssocID="{ECDA375C-4247-4309-8D62-8F5F73893CE6}" presName="descendantText" presStyleLbl="alignAcc1" presStyleIdx="2" presStyleCnt="8">
        <dgm:presLayoutVars>
          <dgm:bulletEnabled val="1"/>
        </dgm:presLayoutVars>
      </dgm:prSet>
      <dgm:spPr/>
    </dgm:pt>
    <dgm:pt modelId="{E40A6F3F-6601-46BC-9CA1-1DEBECA23870}" type="pres">
      <dgm:prSet presAssocID="{55359937-8D07-4C65-BA28-8A452FBE275A}" presName="sp" presStyleCnt="0"/>
      <dgm:spPr/>
    </dgm:pt>
    <dgm:pt modelId="{AEAC8299-6C1D-460E-A778-72FE18CDD03B}" type="pres">
      <dgm:prSet presAssocID="{E020F013-6D37-4FB8-A04B-9BCE5206875C}" presName="composite" presStyleCnt="0"/>
      <dgm:spPr/>
    </dgm:pt>
    <dgm:pt modelId="{F61A2899-2578-4258-B922-36DCACD19763}" type="pres">
      <dgm:prSet presAssocID="{E020F013-6D37-4FB8-A04B-9BCE5206875C}" presName="parentText" presStyleLbl="alignNode1" presStyleIdx="3" presStyleCnt="8">
        <dgm:presLayoutVars>
          <dgm:chMax val="1"/>
          <dgm:bulletEnabled val="1"/>
        </dgm:presLayoutVars>
      </dgm:prSet>
      <dgm:spPr/>
    </dgm:pt>
    <dgm:pt modelId="{63F3AD72-3344-44FA-A343-C196F622C689}" type="pres">
      <dgm:prSet presAssocID="{E020F013-6D37-4FB8-A04B-9BCE5206875C}" presName="descendantText" presStyleLbl="alignAcc1" presStyleIdx="3" presStyleCnt="8">
        <dgm:presLayoutVars>
          <dgm:bulletEnabled val="1"/>
        </dgm:presLayoutVars>
      </dgm:prSet>
      <dgm:spPr/>
    </dgm:pt>
    <dgm:pt modelId="{7D7EA2E3-A0AA-4999-9959-F715D255F504}" type="pres">
      <dgm:prSet presAssocID="{E3DC71FA-DF01-4EDA-AC59-34DB18C830D1}" presName="sp" presStyleCnt="0"/>
      <dgm:spPr/>
    </dgm:pt>
    <dgm:pt modelId="{28763A82-5765-4D70-93C1-6B7A829CC484}" type="pres">
      <dgm:prSet presAssocID="{67805BDC-1A21-4A90-91F1-41F040B60203}" presName="composite" presStyleCnt="0"/>
      <dgm:spPr/>
    </dgm:pt>
    <dgm:pt modelId="{DBB89E1F-4999-4C93-82C8-E5974B91CBE4}" type="pres">
      <dgm:prSet presAssocID="{67805BDC-1A21-4A90-91F1-41F040B60203}" presName="parentText" presStyleLbl="alignNode1" presStyleIdx="4" presStyleCnt="8">
        <dgm:presLayoutVars>
          <dgm:chMax val="1"/>
          <dgm:bulletEnabled val="1"/>
        </dgm:presLayoutVars>
      </dgm:prSet>
      <dgm:spPr/>
    </dgm:pt>
    <dgm:pt modelId="{D1EDE4C4-9B45-4ED2-B9A5-C3E054B66A8A}" type="pres">
      <dgm:prSet presAssocID="{67805BDC-1A21-4A90-91F1-41F040B60203}" presName="descendantText" presStyleLbl="alignAcc1" presStyleIdx="4" presStyleCnt="8">
        <dgm:presLayoutVars>
          <dgm:bulletEnabled val="1"/>
        </dgm:presLayoutVars>
      </dgm:prSet>
      <dgm:spPr/>
    </dgm:pt>
    <dgm:pt modelId="{9ECAD7DF-56DB-497D-9C35-A870880AEAB5}" type="pres">
      <dgm:prSet presAssocID="{A496677B-E2EE-4B0C-A9E5-E754B825B631}" presName="sp" presStyleCnt="0"/>
      <dgm:spPr/>
    </dgm:pt>
    <dgm:pt modelId="{191506FA-B0CD-4380-BEEE-8DF04C8CCF30}" type="pres">
      <dgm:prSet presAssocID="{6D5C03B9-6845-4391-AE3A-0F1A24EE2820}" presName="composite" presStyleCnt="0"/>
      <dgm:spPr/>
    </dgm:pt>
    <dgm:pt modelId="{FC4EE736-6B92-4C73-9A91-320BCFA869A6}" type="pres">
      <dgm:prSet presAssocID="{6D5C03B9-6845-4391-AE3A-0F1A24EE2820}" presName="parentText" presStyleLbl="alignNode1" presStyleIdx="5" presStyleCnt="8">
        <dgm:presLayoutVars>
          <dgm:chMax val="1"/>
          <dgm:bulletEnabled val="1"/>
        </dgm:presLayoutVars>
      </dgm:prSet>
      <dgm:spPr/>
    </dgm:pt>
    <dgm:pt modelId="{938E483B-CCBE-46A5-B066-A753C6113B66}" type="pres">
      <dgm:prSet presAssocID="{6D5C03B9-6845-4391-AE3A-0F1A24EE2820}" presName="descendantText" presStyleLbl="alignAcc1" presStyleIdx="5" presStyleCnt="8">
        <dgm:presLayoutVars>
          <dgm:bulletEnabled val="1"/>
        </dgm:presLayoutVars>
      </dgm:prSet>
      <dgm:spPr/>
    </dgm:pt>
    <dgm:pt modelId="{988B2E77-0AF5-4D2B-A402-7611B39BA1AB}" type="pres">
      <dgm:prSet presAssocID="{599122C8-441C-4724-8FAE-AA42992A09EF}" presName="sp" presStyleCnt="0"/>
      <dgm:spPr/>
    </dgm:pt>
    <dgm:pt modelId="{0F48DE56-A8B2-4A01-B89A-A8E6C806273B}" type="pres">
      <dgm:prSet presAssocID="{E039B2D4-9534-4D37-BD49-AD4B75D9FDDC}" presName="composite" presStyleCnt="0"/>
      <dgm:spPr/>
    </dgm:pt>
    <dgm:pt modelId="{F44153BE-DA8E-4BDE-BA1F-5B4898546611}" type="pres">
      <dgm:prSet presAssocID="{E039B2D4-9534-4D37-BD49-AD4B75D9FDDC}" presName="parentText" presStyleLbl="alignNode1" presStyleIdx="6" presStyleCnt="8">
        <dgm:presLayoutVars>
          <dgm:chMax val="1"/>
          <dgm:bulletEnabled val="1"/>
        </dgm:presLayoutVars>
      </dgm:prSet>
      <dgm:spPr/>
    </dgm:pt>
    <dgm:pt modelId="{C7CC71AC-11A4-4169-827A-589267A98DA0}" type="pres">
      <dgm:prSet presAssocID="{E039B2D4-9534-4D37-BD49-AD4B75D9FDDC}" presName="descendantText" presStyleLbl="alignAcc1" presStyleIdx="6" presStyleCnt="8">
        <dgm:presLayoutVars>
          <dgm:bulletEnabled val="1"/>
        </dgm:presLayoutVars>
      </dgm:prSet>
      <dgm:spPr/>
    </dgm:pt>
    <dgm:pt modelId="{E77C962B-67BC-44D9-BB6B-492E8AC15769}" type="pres">
      <dgm:prSet presAssocID="{560C1499-DF1B-47F8-9E02-8F84F9FDE0F1}" presName="sp" presStyleCnt="0"/>
      <dgm:spPr/>
    </dgm:pt>
    <dgm:pt modelId="{ED6C4DBC-5CA6-41A6-BFD7-75AC556DC013}" type="pres">
      <dgm:prSet presAssocID="{458C1B8E-67D8-4699-BBE5-32271C03314D}" presName="composite" presStyleCnt="0"/>
      <dgm:spPr/>
    </dgm:pt>
    <dgm:pt modelId="{0747D2C5-194E-43BD-A525-BDAAD643D2C0}" type="pres">
      <dgm:prSet presAssocID="{458C1B8E-67D8-4699-BBE5-32271C03314D}" presName="parentText" presStyleLbl="alignNode1" presStyleIdx="7" presStyleCnt="8">
        <dgm:presLayoutVars>
          <dgm:chMax val="1"/>
          <dgm:bulletEnabled val="1"/>
        </dgm:presLayoutVars>
      </dgm:prSet>
      <dgm:spPr/>
    </dgm:pt>
    <dgm:pt modelId="{AE2349A2-EA31-4A76-A6D7-EC53D821EB4D}" type="pres">
      <dgm:prSet presAssocID="{458C1B8E-67D8-4699-BBE5-32271C03314D}" presName="descendantText" presStyleLbl="alignAcc1" presStyleIdx="7" presStyleCnt="8">
        <dgm:presLayoutVars>
          <dgm:bulletEnabled val="1"/>
        </dgm:presLayoutVars>
      </dgm:prSet>
      <dgm:spPr/>
    </dgm:pt>
  </dgm:ptLst>
  <dgm:cxnLst>
    <dgm:cxn modelId="{498DBD06-6E6D-4F17-9089-44BC8590993F}" srcId="{E020F013-6D37-4FB8-A04B-9BCE5206875C}" destId="{AEDCC9DD-8E67-4243-9627-B3F2C287F9D1}" srcOrd="0" destOrd="0" parTransId="{FB6962E7-A2A0-4A9B-BB07-BF187D604E84}" sibTransId="{E71FE99E-9A15-40F1-9206-DAC81A196DF4}"/>
    <dgm:cxn modelId="{B7411D07-5CF9-4217-9F8E-FDFB1E1CEF15}" type="presOf" srcId="{D0BD1B99-02B5-4C67-9F0A-910335A8492A}" destId="{DF6C8969-5E45-435A-A625-15C433826DCE}" srcOrd="0" destOrd="0" presId="urn:microsoft.com/office/officeart/2005/8/layout/chevron2"/>
    <dgm:cxn modelId="{2133060D-3AEF-46BF-84D5-D95758BF3AB2}" srcId="{A8FEEA83-0C50-440E-8BD8-F93EFB7793CF}" destId="{8E9E4D98-2BDC-4B75-8ECD-86063BBB78AF}" srcOrd="1" destOrd="0" parTransId="{581B2599-6D17-4C6E-8416-D4D9FA47EB67}" sibTransId="{282E5177-0041-457B-98B7-CCCD646A146D}"/>
    <dgm:cxn modelId="{6072EE0D-7A7C-4C08-B5CC-548A26396B73}" type="presOf" srcId="{450728BF-BB30-4976-8CF6-D4EFF01E4821}" destId="{F817200F-0630-4701-8408-13EF843A5F3B}" srcOrd="0" destOrd="0" presId="urn:microsoft.com/office/officeart/2005/8/layout/chevron2"/>
    <dgm:cxn modelId="{53D33113-690C-4FEB-A819-DA7791783A8C}" srcId="{A8FEEA83-0C50-440E-8BD8-F93EFB7793CF}" destId="{ECDA375C-4247-4309-8D62-8F5F73893CE6}" srcOrd="2" destOrd="0" parTransId="{AF56C609-7790-44D0-A454-070FE777D567}" sibTransId="{55359937-8D07-4C65-BA28-8A452FBE275A}"/>
    <dgm:cxn modelId="{6288C315-FE41-4E4F-AA52-033D8C1D013F}" srcId="{A8FEEA83-0C50-440E-8BD8-F93EFB7793CF}" destId="{E039B2D4-9534-4D37-BD49-AD4B75D9FDDC}" srcOrd="6" destOrd="0" parTransId="{440E84DC-3D37-4CFF-B537-5A04BBC28F2B}" sibTransId="{560C1499-DF1B-47F8-9E02-8F84F9FDE0F1}"/>
    <dgm:cxn modelId="{0F26D116-D83F-4936-8294-211EEBB7FE24}" type="presOf" srcId="{430368DB-617C-4705-9A09-5774876C29CE}" destId="{514D930E-DD16-4E4F-AC85-D048FD4742D6}" srcOrd="0" destOrd="0" presId="urn:microsoft.com/office/officeart/2005/8/layout/chevron2"/>
    <dgm:cxn modelId="{2649522F-B750-43D7-B723-2F807FD157DE}" srcId="{ECDA375C-4247-4309-8D62-8F5F73893CE6}" destId="{450728BF-BB30-4976-8CF6-D4EFF01E4821}" srcOrd="0" destOrd="0" parTransId="{19C88CBD-A3BE-46B0-A9E2-1D795190DC06}" sibTransId="{D736AB8B-B6BE-4256-92C3-5CAD42442E10}"/>
    <dgm:cxn modelId="{B5CDCE33-B5CC-4B96-B7F2-7C21CAC837D0}" type="presOf" srcId="{67805BDC-1A21-4A90-91F1-41F040B60203}" destId="{DBB89E1F-4999-4C93-82C8-E5974B91CBE4}" srcOrd="0" destOrd="0" presId="urn:microsoft.com/office/officeart/2005/8/layout/chevron2"/>
    <dgm:cxn modelId="{531C5D36-D337-403E-92CD-C9B9D474CDF4}" type="presOf" srcId="{458C1B8E-67D8-4699-BBE5-32271C03314D}" destId="{0747D2C5-194E-43BD-A525-BDAAD643D2C0}" srcOrd="0" destOrd="0" presId="urn:microsoft.com/office/officeart/2005/8/layout/chevron2"/>
    <dgm:cxn modelId="{9B89E442-B87D-4870-BAF0-AEAAFFF43C23}" type="presOf" srcId="{A8FEEA83-0C50-440E-8BD8-F93EFB7793CF}" destId="{D7FFD173-2D02-46CF-BA36-66E174C10543}" srcOrd="0" destOrd="0" presId="urn:microsoft.com/office/officeart/2005/8/layout/chevron2"/>
    <dgm:cxn modelId="{17A69564-FD8E-4588-808F-0F10E551E2DD}" srcId="{A8FEEA83-0C50-440E-8BD8-F93EFB7793CF}" destId="{E020F013-6D37-4FB8-A04B-9BCE5206875C}" srcOrd="3" destOrd="0" parTransId="{B3D286DE-652B-4339-A828-F615C652D67B}" sibTransId="{E3DC71FA-DF01-4EDA-AC59-34DB18C830D1}"/>
    <dgm:cxn modelId="{7CED5748-2627-4478-B92B-134B59252F7C}" srcId="{E039B2D4-9534-4D37-BD49-AD4B75D9FDDC}" destId="{F649647A-427E-469F-96BD-D2A9B481CEE0}" srcOrd="0" destOrd="0" parTransId="{EB5AF6DA-FD18-4E85-8C35-E96FDD907858}" sibTransId="{11FD2F4F-FC96-4FF2-94A3-00E4282512C4}"/>
    <dgm:cxn modelId="{8490D751-BC83-4B9A-84D5-A1AC5E0F1C8C}" type="presOf" srcId="{AEDCC9DD-8E67-4243-9627-B3F2C287F9D1}" destId="{63F3AD72-3344-44FA-A343-C196F622C689}" srcOrd="0" destOrd="0" presId="urn:microsoft.com/office/officeart/2005/8/layout/chevron2"/>
    <dgm:cxn modelId="{31782852-DB72-4094-9447-43A21B370C78}" type="presOf" srcId="{74AF1824-8006-43EF-8F6E-0B4116C1281E}" destId="{AE2349A2-EA31-4A76-A6D7-EC53D821EB4D}" srcOrd="0" destOrd="0" presId="urn:microsoft.com/office/officeart/2005/8/layout/chevron2"/>
    <dgm:cxn modelId="{4E1FDB57-D42F-4165-8246-68CB77CC5E26}" type="presOf" srcId="{549C785E-E1B2-474F-B221-815F4313B9EF}" destId="{F7782A57-AB44-404E-87AC-C341533ED564}" srcOrd="0" destOrd="0" presId="urn:microsoft.com/office/officeart/2005/8/layout/chevron2"/>
    <dgm:cxn modelId="{500AED81-F779-4854-AAFB-82EFAAE9B0AE}" type="presOf" srcId="{70FEC1D2-4149-4255-AC09-36892F7FB093}" destId="{D1EDE4C4-9B45-4ED2-B9A5-C3E054B66A8A}" srcOrd="0" destOrd="0" presId="urn:microsoft.com/office/officeart/2005/8/layout/chevron2"/>
    <dgm:cxn modelId="{14FFF68F-3F2E-4E5B-8B94-0BA8C4BFAC54}" srcId="{6D5C03B9-6845-4391-AE3A-0F1A24EE2820}" destId="{19909D95-C385-4310-94ED-7C6180084501}" srcOrd="0" destOrd="0" parTransId="{EDD169B2-44D8-4825-AF87-2A77618807B0}" sibTransId="{A5240651-F417-4A52-91C8-73C5F0A29AF6}"/>
    <dgm:cxn modelId="{B296A097-70EA-4697-BF2E-5A7449FC65F7}" type="presOf" srcId="{ECDA375C-4247-4309-8D62-8F5F73893CE6}" destId="{B28DD0F5-BF54-4344-BBFC-2BD0FD9F8477}" srcOrd="0" destOrd="0" presId="urn:microsoft.com/office/officeart/2005/8/layout/chevron2"/>
    <dgm:cxn modelId="{AD4C6D9C-1960-4CA5-83C3-FA1B2583F604}" srcId="{ECDA375C-4247-4309-8D62-8F5F73893CE6}" destId="{89621435-530A-4521-84D6-56BBE6219094}" srcOrd="1" destOrd="0" parTransId="{A76F2512-8F93-4DFC-ADB8-68076D80BAE3}" sibTransId="{F2AE1047-4859-41C4-8298-C04832B343A4}"/>
    <dgm:cxn modelId="{FE20F5A7-444A-4269-8016-BF3A9AF75A4C}" srcId="{A8FEEA83-0C50-440E-8BD8-F93EFB7793CF}" destId="{458C1B8E-67D8-4699-BBE5-32271C03314D}" srcOrd="7" destOrd="0" parTransId="{DD1D8BC2-C77D-4A98-8F97-67EFC2810253}" sibTransId="{C1BC884B-0541-4CF6-8550-A2BD31AD2A49}"/>
    <dgm:cxn modelId="{BD8E74AA-A939-45D0-8A39-870BB0592C0A}" srcId="{8E9E4D98-2BDC-4B75-8ECD-86063BBB78AF}" destId="{549C785E-E1B2-474F-B221-815F4313B9EF}" srcOrd="0" destOrd="0" parTransId="{A00E203D-E79E-47F0-BA05-70CBBE9BBCD8}" sibTransId="{2B6759A3-519A-4A58-9233-D6D62781F7AB}"/>
    <dgm:cxn modelId="{89363DAB-77CE-401F-BFD3-B3411A982BEB}" type="presOf" srcId="{89621435-530A-4521-84D6-56BBE6219094}" destId="{F817200F-0630-4701-8408-13EF843A5F3B}" srcOrd="0" destOrd="1" presId="urn:microsoft.com/office/officeart/2005/8/layout/chevron2"/>
    <dgm:cxn modelId="{6FB90BAF-FF07-49C1-B030-D1C1827D677A}" type="presOf" srcId="{E020F013-6D37-4FB8-A04B-9BCE5206875C}" destId="{F61A2899-2578-4258-B922-36DCACD19763}" srcOrd="0" destOrd="0" presId="urn:microsoft.com/office/officeart/2005/8/layout/chevron2"/>
    <dgm:cxn modelId="{15310FAF-39BA-4DAE-93DC-355A63DBC3DF}" srcId="{A8FEEA83-0C50-440E-8BD8-F93EFB7793CF}" destId="{6D5C03B9-6845-4391-AE3A-0F1A24EE2820}" srcOrd="5" destOrd="0" parTransId="{A0FCB982-E8A2-4E3B-852A-E907EAC0B694}" sibTransId="{599122C8-441C-4724-8FAE-AA42992A09EF}"/>
    <dgm:cxn modelId="{DF6392AF-EDEE-4616-85D8-A64488C3B4FA}" type="presOf" srcId="{19909D95-C385-4310-94ED-7C6180084501}" destId="{938E483B-CCBE-46A5-B066-A753C6113B66}" srcOrd="0" destOrd="0" presId="urn:microsoft.com/office/officeart/2005/8/layout/chevron2"/>
    <dgm:cxn modelId="{BF2A69B2-078C-434C-9C21-E629A260693E}" type="presOf" srcId="{E039B2D4-9534-4D37-BD49-AD4B75D9FDDC}" destId="{F44153BE-DA8E-4BDE-BA1F-5B4898546611}" srcOrd="0" destOrd="0" presId="urn:microsoft.com/office/officeart/2005/8/layout/chevron2"/>
    <dgm:cxn modelId="{D88C55B7-9F70-4303-91FC-F2AB5AF071D9}" srcId="{67805BDC-1A21-4A90-91F1-41F040B60203}" destId="{70FEC1D2-4149-4255-AC09-36892F7FB093}" srcOrd="0" destOrd="0" parTransId="{D9F38603-3F07-4827-81F5-6263B2345746}" sibTransId="{40B972B7-0836-493A-BB76-01BE3C0B164E}"/>
    <dgm:cxn modelId="{F439FCB9-CD8E-434B-94CB-1DB45E0001CD}" srcId="{A8FEEA83-0C50-440E-8BD8-F93EFB7793CF}" destId="{67805BDC-1A21-4A90-91F1-41F040B60203}" srcOrd="4" destOrd="0" parTransId="{FA6A286A-E6C3-44B8-A047-1C92B84BC4AE}" sibTransId="{A496677B-E2EE-4B0C-A9E5-E754B825B631}"/>
    <dgm:cxn modelId="{4CE624BA-DA96-4D76-8F20-C124B95D6F1A}" type="presOf" srcId="{6D5C03B9-6845-4391-AE3A-0F1A24EE2820}" destId="{FC4EE736-6B92-4C73-9A91-320BCFA869A6}" srcOrd="0" destOrd="0" presId="urn:microsoft.com/office/officeart/2005/8/layout/chevron2"/>
    <dgm:cxn modelId="{CFE99ABC-5B17-4C17-96F5-7CA36E868ECF}" type="presOf" srcId="{8E9E4D98-2BDC-4B75-8ECD-86063BBB78AF}" destId="{E979A9D3-C73A-40EF-890A-90A0914C48F2}" srcOrd="0" destOrd="0" presId="urn:microsoft.com/office/officeart/2005/8/layout/chevron2"/>
    <dgm:cxn modelId="{E6F7DFC7-2FB2-4DCF-ADD9-2864C60015B7}" srcId="{A8FEEA83-0C50-440E-8BD8-F93EFB7793CF}" destId="{430368DB-617C-4705-9A09-5774876C29CE}" srcOrd="0" destOrd="0" parTransId="{9C83EB14-5220-40A0-9C10-6DC61AE39D9F}" sibTransId="{B6A22CEC-E207-4172-AA9F-4D7130913E38}"/>
    <dgm:cxn modelId="{2DEDFCE0-472C-4772-B3FD-B34673DCE82B}" type="presOf" srcId="{F649647A-427E-469F-96BD-D2A9B481CEE0}" destId="{C7CC71AC-11A4-4169-827A-589267A98DA0}" srcOrd="0" destOrd="0" presId="urn:microsoft.com/office/officeart/2005/8/layout/chevron2"/>
    <dgm:cxn modelId="{9DAAB0EB-A929-4972-A263-1D7A0E8FFE5A}" srcId="{458C1B8E-67D8-4699-BBE5-32271C03314D}" destId="{74AF1824-8006-43EF-8F6E-0B4116C1281E}" srcOrd="0" destOrd="0" parTransId="{A24A91AC-BCAC-4E90-8EBA-C2E00F13E32C}" sibTransId="{D643FA15-6CEF-4F37-A30E-F007E4A55B67}"/>
    <dgm:cxn modelId="{799804ED-F208-428B-A301-4F487847FC9D}" srcId="{430368DB-617C-4705-9A09-5774876C29CE}" destId="{D0BD1B99-02B5-4C67-9F0A-910335A8492A}" srcOrd="0" destOrd="0" parTransId="{385D5405-8B7B-41A7-985C-2B0B86C19F11}" sibTransId="{E6CDB634-82AC-44FB-AEE6-F00677D524BB}"/>
    <dgm:cxn modelId="{C93E1821-2951-4115-8DC6-BCE583DC019B}" type="presParOf" srcId="{D7FFD173-2D02-46CF-BA36-66E174C10543}" destId="{9506027A-53AE-470B-9255-FC09EA4F8544}" srcOrd="0" destOrd="0" presId="urn:microsoft.com/office/officeart/2005/8/layout/chevron2"/>
    <dgm:cxn modelId="{91A77EAC-6560-4261-96C7-FD421740E427}" type="presParOf" srcId="{9506027A-53AE-470B-9255-FC09EA4F8544}" destId="{514D930E-DD16-4E4F-AC85-D048FD4742D6}" srcOrd="0" destOrd="0" presId="urn:microsoft.com/office/officeart/2005/8/layout/chevron2"/>
    <dgm:cxn modelId="{E06EA0F8-4869-4384-9C21-BE1C2C6002EA}" type="presParOf" srcId="{9506027A-53AE-470B-9255-FC09EA4F8544}" destId="{DF6C8969-5E45-435A-A625-15C433826DCE}" srcOrd="1" destOrd="0" presId="urn:microsoft.com/office/officeart/2005/8/layout/chevron2"/>
    <dgm:cxn modelId="{92F9343C-7EE9-4C5A-B11D-9E21507A3704}" type="presParOf" srcId="{D7FFD173-2D02-46CF-BA36-66E174C10543}" destId="{1129A842-CCB2-4F37-A76C-08F5EDFAE0E0}" srcOrd="1" destOrd="0" presId="urn:microsoft.com/office/officeart/2005/8/layout/chevron2"/>
    <dgm:cxn modelId="{7842695D-469D-4F77-AD06-B817371F0113}" type="presParOf" srcId="{D7FFD173-2D02-46CF-BA36-66E174C10543}" destId="{5454A830-B151-40EF-B7A7-A75A021B7C0F}" srcOrd="2" destOrd="0" presId="urn:microsoft.com/office/officeart/2005/8/layout/chevron2"/>
    <dgm:cxn modelId="{1E395C50-8588-48DF-84E5-1EC1AF9EBDBC}" type="presParOf" srcId="{5454A830-B151-40EF-B7A7-A75A021B7C0F}" destId="{E979A9D3-C73A-40EF-890A-90A0914C48F2}" srcOrd="0" destOrd="0" presId="urn:microsoft.com/office/officeart/2005/8/layout/chevron2"/>
    <dgm:cxn modelId="{AE5CF6F5-FE34-468B-8292-8B92688AA969}" type="presParOf" srcId="{5454A830-B151-40EF-B7A7-A75A021B7C0F}" destId="{F7782A57-AB44-404E-87AC-C341533ED564}" srcOrd="1" destOrd="0" presId="urn:microsoft.com/office/officeart/2005/8/layout/chevron2"/>
    <dgm:cxn modelId="{DE3CC0C3-405E-47E1-9330-382D4288BD11}" type="presParOf" srcId="{D7FFD173-2D02-46CF-BA36-66E174C10543}" destId="{013EA022-8975-4DC4-BD30-33289A5D1539}" srcOrd="3" destOrd="0" presId="urn:microsoft.com/office/officeart/2005/8/layout/chevron2"/>
    <dgm:cxn modelId="{870F31C4-0AB8-4771-842E-98C79CC9D9DA}" type="presParOf" srcId="{D7FFD173-2D02-46CF-BA36-66E174C10543}" destId="{0FD77374-EFDE-43D2-A928-06FA5CF3B47A}" srcOrd="4" destOrd="0" presId="urn:microsoft.com/office/officeart/2005/8/layout/chevron2"/>
    <dgm:cxn modelId="{CF5A5F9C-21A7-4BD5-A596-4273DAB0FCE3}" type="presParOf" srcId="{0FD77374-EFDE-43D2-A928-06FA5CF3B47A}" destId="{B28DD0F5-BF54-4344-BBFC-2BD0FD9F8477}" srcOrd="0" destOrd="0" presId="urn:microsoft.com/office/officeart/2005/8/layout/chevron2"/>
    <dgm:cxn modelId="{40C2643C-F73B-40D8-B107-D1BA8BCB0576}" type="presParOf" srcId="{0FD77374-EFDE-43D2-A928-06FA5CF3B47A}" destId="{F817200F-0630-4701-8408-13EF843A5F3B}" srcOrd="1" destOrd="0" presId="urn:microsoft.com/office/officeart/2005/8/layout/chevron2"/>
    <dgm:cxn modelId="{9AF74507-C815-4131-BD74-E219DBD93ABF}" type="presParOf" srcId="{D7FFD173-2D02-46CF-BA36-66E174C10543}" destId="{E40A6F3F-6601-46BC-9CA1-1DEBECA23870}" srcOrd="5" destOrd="0" presId="urn:microsoft.com/office/officeart/2005/8/layout/chevron2"/>
    <dgm:cxn modelId="{80879FBF-C58D-47A6-9E27-B86C8ABF13EA}" type="presParOf" srcId="{D7FFD173-2D02-46CF-BA36-66E174C10543}" destId="{AEAC8299-6C1D-460E-A778-72FE18CDD03B}" srcOrd="6" destOrd="0" presId="urn:microsoft.com/office/officeart/2005/8/layout/chevron2"/>
    <dgm:cxn modelId="{8C013F17-8E02-4143-8048-0558E6C947AA}" type="presParOf" srcId="{AEAC8299-6C1D-460E-A778-72FE18CDD03B}" destId="{F61A2899-2578-4258-B922-36DCACD19763}" srcOrd="0" destOrd="0" presId="urn:microsoft.com/office/officeart/2005/8/layout/chevron2"/>
    <dgm:cxn modelId="{5C8D641A-67AC-4DF8-9F71-B25054E93C22}" type="presParOf" srcId="{AEAC8299-6C1D-460E-A778-72FE18CDD03B}" destId="{63F3AD72-3344-44FA-A343-C196F622C689}" srcOrd="1" destOrd="0" presId="urn:microsoft.com/office/officeart/2005/8/layout/chevron2"/>
    <dgm:cxn modelId="{4ECE430B-5489-42A6-B814-463B6DBE008E}" type="presParOf" srcId="{D7FFD173-2D02-46CF-BA36-66E174C10543}" destId="{7D7EA2E3-A0AA-4999-9959-F715D255F504}" srcOrd="7" destOrd="0" presId="urn:microsoft.com/office/officeart/2005/8/layout/chevron2"/>
    <dgm:cxn modelId="{2EBC86EB-4598-4E2C-8C5E-C47282BB668E}" type="presParOf" srcId="{D7FFD173-2D02-46CF-BA36-66E174C10543}" destId="{28763A82-5765-4D70-93C1-6B7A829CC484}" srcOrd="8" destOrd="0" presId="urn:microsoft.com/office/officeart/2005/8/layout/chevron2"/>
    <dgm:cxn modelId="{D8EC6B46-AC27-41DD-95DA-4C46EA5912C0}" type="presParOf" srcId="{28763A82-5765-4D70-93C1-6B7A829CC484}" destId="{DBB89E1F-4999-4C93-82C8-E5974B91CBE4}" srcOrd="0" destOrd="0" presId="urn:microsoft.com/office/officeart/2005/8/layout/chevron2"/>
    <dgm:cxn modelId="{A2693BEF-2327-4C95-8E3F-DEBC35E87615}" type="presParOf" srcId="{28763A82-5765-4D70-93C1-6B7A829CC484}" destId="{D1EDE4C4-9B45-4ED2-B9A5-C3E054B66A8A}" srcOrd="1" destOrd="0" presId="urn:microsoft.com/office/officeart/2005/8/layout/chevron2"/>
    <dgm:cxn modelId="{AA4F29D4-DBFF-4547-9FD2-8E170F1C314A}" type="presParOf" srcId="{D7FFD173-2D02-46CF-BA36-66E174C10543}" destId="{9ECAD7DF-56DB-497D-9C35-A870880AEAB5}" srcOrd="9" destOrd="0" presId="urn:microsoft.com/office/officeart/2005/8/layout/chevron2"/>
    <dgm:cxn modelId="{2A116AE0-5739-4A29-9878-115DBB8F6BFE}" type="presParOf" srcId="{D7FFD173-2D02-46CF-BA36-66E174C10543}" destId="{191506FA-B0CD-4380-BEEE-8DF04C8CCF30}" srcOrd="10" destOrd="0" presId="urn:microsoft.com/office/officeart/2005/8/layout/chevron2"/>
    <dgm:cxn modelId="{9ADCC196-1668-49B2-B33D-92939FBD20CF}" type="presParOf" srcId="{191506FA-B0CD-4380-BEEE-8DF04C8CCF30}" destId="{FC4EE736-6B92-4C73-9A91-320BCFA869A6}" srcOrd="0" destOrd="0" presId="urn:microsoft.com/office/officeart/2005/8/layout/chevron2"/>
    <dgm:cxn modelId="{47EBA3D6-5806-4051-A47F-E4BCE1D99A28}" type="presParOf" srcId="{191506FA-B0CD-4380-BEEE-8DF04C8CCF30}" destId="{938E483B-CCBE-46A5-B066-A753C6113B66}" srcOrd="1" destOrd="0" presId="urn:microsoft.com/office/officeart/2005/8/layout/chevron2"/>
    <dgm:cxn modelId="{377FEE6E-089C-42CC-BA20-4CECB4D0C272}" type="presParOf" srcId="{D7FFD173-2D02-46CF-BA36-66E174C10543}" destId="{988B2E77-0AF5-4D2B-A402-7611B39BA1AB}" srcOrd="11" destOrd="0" presId="urn:microsoft.com/office/officeart/2005/8/layout/chevron2"/>
    <dgm:cxn modelId="{07F8DF14-9EDF-41BA-9EC8-2741849082B0}" type="presParOf" srcId="{D7FFD173-2D02-46CF-BA36-66E174C10543}" destId="{0F48DE56-A8B2-4A01-B89A-A8E6C806273B}" srcOrd="12" destOrd="0" presId="urn:microsoft.com/office/officeart/2005/8/layout/chevron2"/>
    <dgm:cxn modelId="{FCEEDF58-72D4-47D5-9E35-CB5609AAFD82}" type="presParOf" srcId="{0F48DE56-A8B2-4A01-B89A-A8E6C806273B}" destId="{F44153BE-DA8E-4BDE-BA1F-5B4898546611}" srcOrd="0" destOrd="0" presId="urn:microsoft.com/office/officeart/2005/8/layout/chevron2"/>
    <dgm:cxn modelId="{450BA9DE-EBA3-4247-A177-C2EFBC0F073F}" type="presParOf" srcId="{0F48DE56-A8B2-4A01-B89A-A8E6C806273B}" destId="{C7CC71AC-11A4-4169-827A-589267A98DA0}" srcOrd="1" destOrd="0" presId="urn:microsoft.com/office/officeart/2005/8/layout/chevron2"/>
    <dgm:cxn modelId="{B6E24E7B-E3AA-4455-9EC3-D71C20FE9B1D}" type="presParOf" srcId="{D7FFD173-2D02-46CF-BA36-66E174C10543}" destId="{E77C962B-67BC-44D9-BB6B-492E8AC15769}" srcOrd="13" destOrd="0" presId="urn:microsoft.com/office/officeart/2005/8/layout/chevron2"/>
    <dgm:cxn modelId="{72CC229A-88F4-47D9-8510-8C20730D01E2}" type="presParOf" srcId="{D7FFD173-2D02-46CF-BA36-66E174C10543}" destId="{ED6C4DBC-5CA6-41A6-BFD7-75AC556DC013}" srcOrd="14" destOrd="0" presId="urn:microsoft.com/office/officeart/2005/8/layout/chevron2"/>
    <dgm:cxn modelId="{18FD6D1C-3097-4998-AA6C-7E1BF02D3A64}" type="presParOf" srcId="{ED6C4DBC-5CA6-41A6-BFD7-75AC556DC013}" destId="{0747D2C5-194E-43BD-A525-BDAAD643D2C0}" srcOrd="0" destOrd="0" presId="urn:microsoft.com/office/officeart/2005/8/layout/chevron2"/>
    <dgm:cxn modelId="{EF76F5D8-0E20-43E4-A3BC-955BA599B187}" type="presParOf" srcId="{ED6C4DBC-5CA6-41A6-BFD7-75AC556DC013}" destId="{AE2349A2-EA31-4A76-A6D7-EC53D821EB4D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4D930E-DD16-4E4F-AC85-D048FD4742D6}">
      <dsp:nvSpPr>
        <dsp:cNvPr id="0" name=""/>
        <dsp:cNvSpPr/>
      </dsp:nvSpPr>
      <dsp:spPr>
        <a:xfrm rot="5400000">
          <a:off x="-84543" y="85710"/>
          <a:ext cx="563620" cy="394534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STEP1</a:t>
          </a:r>
        </a:p>
      </dsp:txBody>
      <dsp:txXfrm rot="-5400000">
        <a:off x="0" y="198434"/>
        <a:ext cx="394534" cy="169086"/>
      </dsp:txXfrm>
    </dsp:sp>
    <dsp:sp modelId="{DF6C8969-5E45-435A-A625-15C433826DCE}">
      <dsp:nvSpPr>
        <dsp:cNvPr id="0" name=""/>
        <dsp:cNvSpPr/>
      </dsp:nvSpPr>
      <dsp:spPr>
        <a:xfrm rot="5400000">
          <a:off x="2744349" y="-2348647"/>
          <a:ext cx="366353" cy="506598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4445" rIns="4445" bIns="4445" numCol="1" spcCol="1270" anchor="ctr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Preset global variables and attributes</a:t>
          </a:r>
        </a:p>
      </dsp:txBody>
      <dsp:txXfrm rot="-5400000">
        <a:off x="394534" y="19052"/>
        <a:ext cx="5048099" cy="330585"/>
      </dsp:txXfrm>
    </dsp:sp>
    <dsp:sp modelId="{E979A9D3-C73A-40EF-890A-90A0914C48F2}">
      <dsp:nvSpPr>
        <dsp:cNvPr id="0" name=""/>
        <dsp:cNvSpPr/>
      </dsp:nvSpPr>
      <dsp:spPr>
        <a:xfrm rot="5400000">
          <a:off x="-84543" y="573478"/>
          <a:ext cx="563620" cy="394534"/>
        </a:xfrm>
        <a:prstGeom prst="chevron">
          <a:avLst/>
        </a:prstGeom>
        <a:solidFill>
          <a:schemeClr val="accent4">
            <a:hueOff val="1400127"/>
            <a:satOff val="-5825"/>
            <a:lumOff val="1373"/>
            <a:alphaOff val="0"/>
          </a:schemeClr>
        </a:solidFill>
        <a:ln w="12700" cap="flat" cmpd="sng" algn="ctr">
          <a:solidFill>
            <a:schemeClr val="accent4">
              <a:hueOff val="1400127"/>
              <a:satOff val="-5825"/>
              <a:lumOff val="137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STEP2</a:t>
          </a:r>
        </a:p>
      </dsp:txBody>
      <dsp:txXfrm rot="-5400000">
        <a:off x="0" y="686202"/>
        <a:ext cx="394534" cy="169086"/>
      </dsp:txXfrm>
    </dsp:sp>
    <dsp:sp modelId="{F7782A57-AB44-404E-87AC-C341533ED564}">
      <dsp:nvSpPr>
        <dsp:cNvPr id="0" name=""/>
        <dsp:cNvSpPr/>
      </dsp:nvSpPr>
      <dsp:spPr>
        <a:xfrm rot="5400000">
          <a:off x="2744349" y="-1860879"/>
          <a:ext cx="366353" cy="506598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400127"/>
              <a:satOff val="-5825"/>
              <a:lumOff val="137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4445" rIns="4445" bIns="4445" numCol="1" spcCol="1270" anchor="ctr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Library Setup</a:t>
          </a:r>
        </a:p>
      </dsp:txBody>
      <dsp:txXfrm rot="-5400000">
        <a:off x="394534" y="506820"/>
        <a:ext cx="5048099" cy="330585"/>
      </dsp:txXfrm>
    </dsp:sp>
    <dsp:sp modelId="{B28DD0F5-BF54-4344-BBFC-2BD0FD9F8477}">
      <dsp:nvSpPr>
        <dsp:cNvPr id="0" name=""/>
        <dsp:cNvSpPr/>
      </dsp:nvSpPr>
      <dsp:spPr>
        <a:xfrm rot="5400000">
          <a:off x="-84543" y="1061245"/>
          <a:ext cx="563620" cy="394534"/>
        </a:xfrm>
        <a:prstGeom prst="chevron">
          <a:avLst/>
        </a:prstGeom>
        <a:solidFill>
          <a:schemeClr val="accent4">
            <a:hueOff val="2800255"/>
            <a:satOff val="-11651"/>
            <a:lumOff val="2745"/>
            <a:alphaOff val="0"/>
          </a:schemeClr>
        </a:solidFill>
        <a:ln w="12700" cap="flat" cmpd="sng" algn="ctr">
          <a:solidFill>
            <a:schemeClr val="accent4">
              <a:hueOff val="2800255"/>
              <a:satOff val="-11651"/>
              <a:lumOff val="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STEP3</a:t>
          </a:r>
        </a:p>
      </dsp:txBody>
      <dsp:txXfrm rot="-5400000">
        <a:off x="0" y="1173969"/>
        <a:ext cx="394534" cy="169086"/>
      </dsp:txXfrm>
    </dsp:sp>
    <dsp:sp modelId="{F817200F-0630-4701-8408-13EF843A5F3B}">
      <dsp:nvSpPr>
        <dsp:cNvPr id="0" name=""/>
        <dsp:cNvSpPr/>
      </dsp:nvSpPr>
      <dsp:spPr>
        <a:xfrm rot="5400000">
          <a:off x="2744349" y="-1373112"/>
          <a:ext cx="366353" cy="506598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2800255"/>
              <a:satOff val="-11651"/>
              <a:lumOff val="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4445" rIns="4445" bIns="4445" numCol="1" spcCol="1270" anchor="ctr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Load Design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Elaboration</a:t>
          </a:r>
        </a:p>
      </dsp:txBody>
      <dsp:txXfrm rot="-5400000">
        <a:off x="394534" y="994587"/>
        <a:ext cx="5048099" cy="330585"/>
      </dsp:txXfrm>
    </dsp:sp>
    <dsp:sp modelId="{F61A2899-2578-4258-B922-36DCACD19763}">
      <dsp:nvSpPr>
        <dsp:cNvPr id="0" name=""/>
        <dsp:cNvSpPr/>
      </dsp:nvSpPr>
      <dsp:spPr>
        <a:xfrm rot="5400000">
          <a:off x="-84543" y="1549013"/>
          <a:ext cx="563620" cy="394534"/>
        </a:xfrm>
        <a:prstGeom prst="chevron">
          <a:avLst/>
        </a:prstGeom>
        <a:solidFill>
          <a:schemeClr val="accent4">
            <a:hueOff val="4200382"/>
            <a:satOff val="-17476"/>
            <a:lumOff val="4118"/>
            <a:alphaOff val="0"/>
          </a:schemeClr>
        </a:solidFill>
        <a:ln w="12700" cap="flat" cmpd="sng" algn="ctr">
          <a:solidFill>
            <a:schemeClr val="accent4">
              <a:hueOff val="4200382"/>
              <a:satOff val="-17476"/>
              <a:lumOff val="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STEP4</a:t>
          </a:r>
        </a:p>
      </dsp:txBody>
      <dsp:txXfrm rot="-5400000">
        <a:off x="0" y="1661737"/>
        <a:ext cx="394534" cy="169086"/>
      </dsp:txXfrm>
    </dsp:sp>
    <dsp:sp modelId="{63F3AD72-3344-44FA-A343-C196F622C689}">
      <dsp:nvSpPr>
        <dsp:cNvPr id="0" name=""/>
        <dsp:cNvSpPr/>
      </dsp:nvSpPr>
      <dsp:spPr>
        <a:xfrm rot="5400000">
          <a:off x="2744349" y="-885344"/>
          <a:ext cx="366353" cy="506598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4200382"/>
              <a:satOff val="-17476"/>
              <a:lumOff val="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4445" rIns="4445" bIns="4445" numCol="1" spcCol="1270" anchor="ctr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Constraints Setup</a:t>
          </a:r>
        </a:p>
      </dsp:txBody>
      <dsp:txXfrm rot="-5400000">
        <a:off x="394534" y="1482355"/>
        <a:ext cx="5048099" cy="330585"/>
      </dsp:txXfrm>
    </dsp:sp>
    <dsp:sp modelId="{DBB89E1F-4999-4C93-82C8-E5974B91CBE4}">
      <dsp:nvSpPr>
        <dsp:cNvPr id="0" name=""/>
        <dsp:cNvSpPr/>
      </dsp:nvSpPr>
      <dsp:spPr>
        <a:xfrm rot="5400000">
          <a:off x="-84543" y="2036781"/>
          <a:ext cx="563620" cy="394534"/>
        </a:xfrm>
        <a:prstGeom prst="chevron">
          <a:avLst/>
        </a:prstGeom>
        <a:solidFill>
          <a:schemeClr val="accent4">
            <a:hueOff val="5600509"/>
            <a:satOff val="-23301"/>
            <a:lumOff val="5490"/>
            <a:alphaOff val="0"/>
          </a:schemeClr>
        </a:solidFill>
        <a:ln w="12700" cap="flat" cmpd="sng" algn="ctr">
          <a:solidFill>
            <a:schemeClr val="accent4">
              <a:hueOff val="5600509"/>
              <a:satOff val="-23301"/>
              <a:lumOff val="54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STEP5</a:t>
          </a:r>
        </a:p>
      </dsp:txBody>
      <dsp:txXfrm rot="-5400000">
        <a:off x="0" y="2149505"/>
        <a:ext cx="394534" cy="169086"/>
      </dsp:txXfrm>
    </dsp:sp>
    <dsp:sp modelId="{D1EDE4C4-9B45-4ED2-B9A5-C3E054B66A8A}">
      <dsp:nvSpPr>
        <dsp:cNvPr id="0" name=""/>
        <dsp:cNvSpPr/>
      </dsp:nvSpPr>
      <dsp:spPr>
        <a:xfrm rot="5400000">
          <a:off x="2744349" y="-397576"/>
          <a:ext cx="366353" cy="506598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5600509"/>
              <a:satOff val="-23301"/>
              <a:lumOff val="54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4445" rIns="4445" bIns="4445" numCol="1" spcCol="1270" anchor="ctr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Synthesize to Generic</a:t>
          </a:r>
        </a:p>
      </dsp:txBody>
      <dsp:txXfrm rot="-5400000">
        <a:off x="394534" y="1970123"/>
        <a:ext cx="5048099" cy="330585"/>
      </dsp:txXfrm>
    </dsp:sp>
    <dsp:sp modelId="{FC4EE736-6B92-4C73-9A91-320BCFA869A6}">
      <dsp:nvSpPr>
        <dsp:cNvPr id="0" name=""/>
        <dsp:cNvSpPr/>
      </dsp:nvSpPr>
      <dsp:spPr>
        <a:xfrm rot="5400000">
          <a:off x="-84543" y="2524549"/>
          <a:ext cx="563620" cy="394534"/>
        </a:xfrm>
        <a:prstGeom prst="chevron">
          <a:avLst/>
        </a:prstGeom>
        <a:solidFill>
          <a:schemeClr val="accent4">
            <a:hueOff val="7000636"/>
            <a:satOff val="-29126"/>
            <a:lumOff val="6863"/>
            <a:alphaOff val="0"/>
          </a:schemeClr>
        </a:solidFill>
        <a:ln w="12700" cap="flat" cmpd="sng" algn="ctr">
          <a:solidFill>
            <a:schemeClr val="accent4">
              <a:hueOff val="7000636"/>
              <a:satOff val="-29126"/>
              <a:lumOff val="686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STEP6</a:t>
          </a:r>
        </a:p>
      </dsp:txBody>
      <dsp:txXfrm rot="-5400000">
        <a:off x="0" y="2637273"/>
        <a:ext cx="394534" cy="169086"/>
      </dsp:txXfrm>
    </dsp:sp>
    <dsp:sp modelId="{938E483B-CCBE-46A5-B066-A753C6113B66}">
      <dsp:nvSpPr>
        <dsp:cNvPr id="0" name=""/>
        <dsp:cNvSpPr/>
      </dsp:nvSpPr>
      <dsp:spPr>
        <a:xfrm rot="5400000">
          <a:off x="2744349" y="90191"/>
          <a:ext cx="366353" cy="506598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7000636"/>
              <a:satOff val="-29126"/>
              <a:lumOff val="686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4445" rIns="4445" bIns="4445" numCol="1" spcCol="1270" anchor="ctr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Synthesizing to Gates</a:t>
          </a:r>
        </a:p>
      </dsp:txBody>
      <dsp:txXfrm rot="-5400000">
        <a:off x="394534" y="2457890"/>
        <a:ext cx="5048099" cy="330585"/>
      </dsp:txXfrm>
    </dsp:sp>
    <dsp:sp modelId="{F44153BE-DA8E-4BDE-BA1F-5B4898546611}">
      <dsp:nvSpPr>
        <dsp:cNvPr id="0" name=""/>
        <dsp:cNvSpPr/>
      </dsp:nvSpPr>
      <dsp:spPr>
        <a:xfrm rot="5400000">
          <a:off x="-84543" y="3012317"/>
          <a:ext cx="563620" cy="394534"/>
        </a:xfrm>
        <a:prstGeom prst="chevron">
          <a:avLst/>
        </a:prstGeom>
        <a:solidFill>
          <a:schemeClr val="accent4">
            <a:hueOff val="8400764"/>
            <a:satOff val="-34952"/>
            <a:lumOff val="8235"/>
            <a:alphaOff val="0"/>
          </a:schemeClr>
        </a:solidFill>
        <a:ln w="12700" cap="flat" cmpd="sng" algn="ctr">
          <a:solidFill>
            <a:schemeClr val="accent4">
              <a:hueOff val="8400764"/>
              <a:satOff val="-34952"/>
              <a:lumOff val="82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STEP7</a:t>
          </a:r>
        </a:p>
      </dsp:txBody>
      <dsp:txXfrm rot="-5400000">
        <a:off x="0" y="3125041"/>
        <a:ext cx="394534" cy="169086"/>
      </dsp:txXfrm>
    </dsp:sp>
    <dsp:sp modelId="{C7CC71AC-11A4-4169-827A-589267A98DA0}">
      <dsp:nvSpPr>
        <dsp:cNvPr id="0" name=""/>
        <dsp:cNvSpPr/>
      </dsp:nvSpPr>
      <dsp:spPr>
        <a:xfrm rot="5400000">
          <a:off x="2744349" y="577959"/>
          <a:ext cx="366353" cy="506598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8400764"/>
              <a:satOff val="-34952"/>
              <a:lumOff val="82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4445" rIns="4445" bIns="4445" numCol="1" spcCol="1270" anchor="ctr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Optimize Netlist</a:t>
          </a:r>
        </a:p>
      </dsp:txBody>
      <dsp:txXfrm rot="-5400000">
        <a:off x="394534" y="2945658"/>
        <a:ext cx="5048099" cy="330585"/>
      </dsp:txXfrm>
    </dsp:sp>
    <dsp:sp modelId="{0747D2C5-194E-43BD-A525-BDAAD643D2C0}">
      <dsp:nvSpPr>
        <dsp:cNvPr id="0" name=""/>
        <dsp:cNvSpPr/>
      </dsp:nvSpPr>
      <dsp:spPr>
        <a:xfrm rot="5400000">
          <a:off x="-84543" y="3500085"/>
          <a:ext cx="563620" cy="394534"/>
        </a:xfrm>
        <a:prstGeom prst="chevron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STEP8</a:t>
          </a:r>
        </a:p>
      </dsp:txBody>
      <dsp:txXfrm rot="-5400000">
        <a:off x="0" y="3612809"/>
        <a:ext cx="394534" cy="169086"/>
      </dsp:txXfrm>
    </dsp:sp>
    <dsp:sp modelId="{AE2349A2-EA31-4A76-A6D7-EC53D821EB4D}">
      <dsp:nvSpPr>
        <dsp:cNvPr id="0" name=""/>
        <dsp:cNvSpPr/>
      </dsp:nvSpPr>
      <dsp:spPr>
        <a:xfrm rot="5400000">
          <a:off x="2744349" y="1065727"/>
          <a:ext cx="366353" cy="506598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4445" rIns="4445" bIns="4445" numCol="1" spcCol="1270" anchor="ctr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Write “Do </a:t>
          </a:r>
          <a:r>
            <a:rPr lang="en-US" sz="700" kern="1200" dirty="0" err="1"/>
            <a:t>Lec</a:t>
          </a:r>
          <a:r>
            <a:rPr lang="en-US" sz="700" kern="1200" dirty="0"/>
            <a:t>”</a:t>
          </a:r>
        </a:p>
      </dsp:txBody>
      <dsp:txXfrm rot="-5400000">
        <a:off x="394534" y="3433426"/>
        <a:ext cx="5048099" cy="3305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13">
            <a:extLst>
              <a:ext uri="{FF2B5EF4-FFF2-40B4-BE49-F238E27FC236}">
                <a16:creationId xmlns:a16="http://schemas.microsoft.com/office/drawing/2014/main" id="{9D79CC19-00AF-C47A-B5DC-A4C39937A145}"/>
              </a:ext>
            </a:extLst>
          </p:cNvPr>
          <p:cNvSpPr txBox="1">
            <a:spLocks/>
          </p:cNvSpPr>
          <p:nvPr userDrawn="1"/>
        </p:nvSpPr>
        <p:spPr>
          <a:xfrm>
            <a:off x="645645" y="387656"/>
            <a:ext cx="2643655" cy="438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rgbClr val="D4D4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  I  N  E  P  L  U  S  I  T</a:t>
            </a:r>
            <a:endParaRPr lang="ko-KR" altLang="en-US" sz="1200" dirty="0">
              <a:solidFill>
                <a:srgbClr val="D4D4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C620FB5-B821-DD9F-5C14-6B031E016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1" b="68742"/>
          <a:stretch/>
        </p:blipFill>
        <p:spPr>
          <a:xfrm rot="5400000">
            <a:off x="-347201" y="272317"/>
            <a:ext cx="1831557" cy="1185564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4F2F3662-5803-F093-0DD0-028CD7271654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84D7C-145C-4AF9-76D0-7B1431CD2603}"/>
              </a:ext>
            </a:extLst>
          </p:cNvPr>
          <p:cNvSpPr txBox="1"/>
          <p:nvPr userDrawn="1"/>
        </p:nvSpPr>
        <p:spPr>
          <a:xfrm>
            <a:off x="5275256" y="6511765"/>
            <a:ext cx="40401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2">
                    <a:lumMod val="90000"/>
                  </a:schemeClr>
                </a:solidFill>
              </a:rPr>
              <a:t>www.npit.co.kr | www.cadence.com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EF28D-8886-7A1A-E40A-67F610580BDE}"/>
              </a:ext>
            </a:extLst>
          </p:cNvPr>
          <p:cNvSpPr txBox="1"/>
          <p:nvPr userDrawn="1"/>
        </p:nvSpPr>
        <p:spPr>
          <a:xfrm>
            <a:off x="779685" y="2899820"/>
            <a:ext cx="1614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Thank you.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ABF6BE7C-7BEB-9089-D842-E1FB93808AF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9618" y="2663329"/>
            <a:ext cx="282262" cy="752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062AFAA-FF6C-78BB-9FC5-DFD9466E0D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83" y="1514526"/>
            <a:ext cx="2965031" cy="32796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4D2F14-B0D6-8A92-0A8F-64B1949F8C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9" t="12615"/>
          <a:stretch/>
        </p:blipFill>
        <p:spPr>
          <a:xfrm rot="10800000">
            <a:off x="10342616" y="3480709"/>
            <a:ext cx="1802600" cy="3333749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5C4E2205-6958-43AE-E6B8-60D61D53E91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840066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-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17237-B3FB-4132-840C-A7CA79881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3" y="1097281"/>
            <a:ext cx="5649687" cy="5395594"/>
          </a:xfrm>
        </p:spPr>
        <p:txBody>
          <a:bodyPr/>
          <a:lstStyle>
            <a:lvl1pPr>
              <a:spcBef>
                <a:spcPts val="1600"/>
              </a:spcBef>
              <a:spcAft>
                <a:spcPts val="300"/>
              </a:spcAft>
              <a:defRPr sz="20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spcAft>
                <a:spcPts val="300"/>
              </a:spcAft>
              <a:defRPr sz="1600">
                <a:solidFill>
                  <a:schemeClr val="tx1"/>
                </a:solidFill>
              </a:defRPr>
            </a:lvl2pPr>
            <a:lvl3pPr marL="1200150" indent="-285750">
              <a:spcBef>
                <a:spcPts val="400"/>
              </a:spcBef>
              <a:spcAft>
                <a:spcPts val="300"/>
              </a:spcAft>
              <a:buFont typeface="Rubik Light" panose="00000400000000000000" pitchFamily="2" charset="-79"/>
              <a:buChar char="–"/>
              <a:defRPr sz="1400">
                <a:solidFill>
                  <a:schemeClr val="tx1"/>
                </a:solidFill>
              </a:defRPr>
            </a:lvl3pPr>
            <a:lvl4pPr marL="1652588" indent="-280988">
              <a:spcBef>
                <a:spcPts val="400"/>
              </a:spcBef>
              <a:spcAft>
                <a:spcPts val="30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3374ED-F4A9-4BE8-BA9B-8F72F3B9C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8854C1E-BAF8-4D9C-8A7D-79B69E538C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41165" y="1222513"/>
            <a:ext cx="5404747" cy="5157650"/>
          </a:xfrm>
          <a:ln w="25400">
            <a:gradFill flip="none" rotWithShape="1">
              <a:gsLst>
                <a:gs pos="50000">
                  <a:srgbClr val="84DB0F"/>
                </a:gs>
                <a:gs pos="0">
                  <a:schemeClr val="accent3"/>
                </a:gs>
                <a:gs pos="100000">
                  <a:srgbClr val="2DCCD3"/>
                </a:gs>
              </a:gsLst>
              <a:lin ang="2700000" scaled="1"/>
              <a:tileRect/>
            </a:gradFill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30905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643118-ABF9-4BD2-9A31-197F242B8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3" y="365126"/>
            <a:ext cx="11310257" cy="639810"/>
          </a:xfrm>
        </p:spPr>
        <p:txBody>
          <a:bodyPr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185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8BB276-0CD1-F32D-026F-7D009A02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419F2-6C39-6582-0368-B3CAC9D20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3" y="806336"/>
            <a:ext cx="11310257" cy="5370628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>
              <a:buClr>
                <a:schemeClr val="tx1">
                  <a:lumMod val="75000"/>
                  <a:lumOff val="25000"/>
                </a:schemeClr>
              </a:buClr>
              <a:defRPr/>
            </a:lvl1pPr>
            <a:lvl2pPr>
              <a:buClr>
                <a:schemeClr val="tx1">
                  <a:lumMod val="75000"/>
                  <a:lumOff val="25000"/>
                </a:schemeClr>
              </a:buClr>
              <a:defRPr/>
            </a:lvl2pPr>
            <a:lvl3pPr>
              <a:buClr>
                <a:schemeClr val="tx1">
                  <a:lumMod val="75000"/>
                  <a:lumOff val="25000"/>
                </a:schemeClr>
              </a:buClr>
              <a:defRPr/>
            </a:lvl3pPr>
            <a:lvl4pPr>
              <a:buClr>
                <a:schemeClr val="tx1">
                  <a:lumMod val="75000"/>
                  <a:lumOff val="25000"/>
                </a:schemeClr>
              </a:buClr>
              <a:defRPr/>
            </a:lvl4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487603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본문 (내용+사진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C01E5A-B7D4-D4AA-4A47-19BED822F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3" y="198272"/>
            <a:ext cx="11310257" cy="51984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FD236C4-606D-6FF3-C077-173A57077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3" y="806336"/>
            <a:ext cx="5649687" cy="5370628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33404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1" r:id="rId2"/>
    <p:sldLayoutId id="2147483661" r:id="rId3"/>
    <p:sldLayoutId id="2147483670" r:id="rId4"/>
    <p:sldLayoutId id="2147483650" r:id="rId5"/>
    <p:sldLayoutId id="2147483669" r:id="rId6"/>
    <p:sldLayoutId id="2147483668" r:id="rId7"/>
    <p:sldLayoutId id="2147483666" r:id="rId8"/>
    <p:sldLayoutId id="2147483663" r:id="rId9"/>
    <p:sldLayoutId id="2147483662" r:id="rId10"/>
    <p:sldLayoutId id="2147483671" r:id="rId11"/>
    <p:sldLayoutId id="2147483659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hyperlink" Target="https://teamvlsi.com/2020/05/lib-and-lef-file-in-asic-design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5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8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7"/>
            <a:ext cx="9733566" cy="747774"/>
          </a:xfrm>
        </p:spPr>
        <p:txBody>
          <a:bodyPr/>
          <a:lstStyle/>
          <a:p>
            <a:r>
              <a:rPr lang="en-US" altLang="ko-KR" sz="3600" b="1" dirty="0">
                <a:latin typeface="Arial" panose="020B0604020202020204" pitchFamily="34" charset="0"/>
                <a:cs typeface="Arial" panose="020B0604020202020204" pitchFamily="34" charset="0"/>
              </a:rPr>
              <a:t>Digital </a:t>
            </a:r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  <a:r>
              <a:rPr lang="en-US" altLang="ko-KR" sz="3600" b="1" dirty="0">
                <a:latin typeface="Arial" panose="020B0604020202020204" pitchFamily="34" charset="0"/>
                <a:cs typeface="Arial" panose="020B0604020202020204" pitchFamily="34" charset="0"/>
              </a:rPr>
              <a:t> 101</a:t>
            </a:r>
            <a:endParaRPr lang="ko-KR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Session1 : Synthesis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48BAA-9ADC-45C7-B6D0-CBF70C034E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BD4A0B-A2EA-4823-857A-3B47982FEFD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9396F-2DC7-9F2F-8212-5AC8FDA579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4639" y="4935172"/>
            <a:ext cx="11195050" cy="71278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1. RTL-to-GDSII Implementation Flow</a:t>
            </a:r>
          </a:p>
        </p:txBody>
      </p:sp>
    </p:spTree>
    <p:extLst>
      <p:ext uri="{BB962C8B-B14F-4D97-AF65-F5344CB8AC3E}">
        <p14:creationId xmlns:p14="http://schemas.microsoft.com/office/powerpoint/2010/main" val="365783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301993-A84F-4E4E-9F1B-7733BC91D10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8064" y="439615"/>
            <a:ext cx="10005646" cy="45256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Overview: Digital Realization of the RTL-to-GDSII Flow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027ADB3-38F9-9E5B-4A98-1F67D427164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700" y="1167606"/>
            <a:ext cx="8308975" cy="4522788"/>
          </a:xfr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EC4105-30BC-710C-54B3-AAF9A615D1BF}"/>
              </a:ext>
            </a:extLst>
          </p:cNvPr>
          <p:cNvSpPr/>
          <p:nvPr/>
        </p:nvSpPr>
        <p:spPr>
          <a:xfrm>
            <a:off x="348769" y="4092513"/>
            <a:ext cx="4537710" cy="159788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AEDAA5-9929-03FE-E947-522D871AA5A0}"/>
              </a:ext>
            </a:extLst>
          </p:cNvPr>
          <p:cNvSpPr txBox="1"/>
          <p:nvPr/>
        </p:nvSpPr>
        <p:spPr>
          <a:xfrm>
            <a:off x="3734630" y="5363925"/>
            <a:ext cx="1668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Front End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375238C-4BB8-DD01-39E4-DE72B1E1A916}"/>
              </a:ext>
            </a:extLst>
          </p:cNvPr>
          <p:cNvSpPr/>
          <p:nvPr/>
        </p:nvSpPr>
        <p:spPr>
          <a:xfrm>
            <a:off x="5403410" y="2051685"/>
            <a:ext cx="4537710" cy="322326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E5B18D-9ED5-5B71-FA9E-E18EF2E37736}"/>
              </a:ext>
            </a:extLst>
          </p:cNvPr>
          <p:cNvSpPr txBox="1"/>
          <p:nvPr/>
        </p:nvSpPr>
        <p:spPr>
          <a:xfrm>
            <a:off x="8910319" y="4165256"/>
            <a:ext cx="1668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Back End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D2FEFD5-14C1-4BD8-9AB1-CD97573E258D}"/>
              </a:ext>
            </a:extLst>
          </p:cNvPr>
          <p:cNvSpPr/>
          <p:nvPr/>
        </p:nvSpPr>
        <p:spPr>
          <a:xfrm>
            <a:off x="348769" y="2051685"/>
            <a:ext cx="4537710" cy="1866486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B7B74E-06A6-5DD2-6270-16B7E5935E7C}"/>
              </a:ext>
            </a:extLst>
          </p:cNvPr>
          <p:cNvSpPr txBox="1"/>
          <p:nvPr/>
        </p:nvSpPr>
        <p:spPr>
          <a:xfrm>
            <a:off x="628064" y="1974717"/>
            <a:ext cx="3265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Design Spec &amp; Logic Design</a:t>
            </a:r>
          </a:p>
        </p:txBody>
      </p:sp>
    </p:spTree>
    <p:extLst>
      <p:ext uri="{BB962C8B-B14F-4D97-AF65-F5344CB8AC3E}">
        <p14:creationId xmlns:p14="http://schemas.microsoft.com/office/powerpoint/2010/main" val="1663410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48BAA-9ADC-45C7-B6D0-CBF70C034E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BD4A0B-A2EA-4823-857A-3B47982FEFD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9396F-2DC7-9F2F-8212-5AC8FDA579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4639" y="4935172"/>
            <a:ext cx="11195050" cy="71278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2. Overview</a:t>
            </a:r>
          </a:p>
        </p:txBody>
      </p:sp>
    </p:spTree>
    <p:extLst>
      <p:ext uri="{BB962C8B-B14F-4D97-AF65-F5344CB8AC3E}">
        <p14:creationId xmlns:p14="http://schemas.microsoft.com/office/powerpoint/2010/main" val="1884673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C22B3-0EB9-49C0-505E-9F7263C056B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22801" y="479792"/>
            <a:ext cx="11310937" cy="519112"/>
          </a:xfrm>
        </p:spPr>
        <p:txBody>
          <a:bodyPr>
            <a:normAutofit fontScale="90000"/>
          </a:bodyPr>
          <a:lstStyle/>
          <a:p>
            <a:r>
              <a:rPr lang="en-US" dirty="0"/>
              <a:t>Notion of Synthesis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1647F-66CD-C893-9123-5A2096935A5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62707" y="1184519"/>
            <a:ext cx="5585332" cy="4759081"/>
          </a:xfrm>
        </p:spPr>
        <p:txBody>
          <a:bodyPr/>
          <a:lstStyle/>
          <a:p>
            <a:r>
              <a:rPr lang="en-US" sz="2000" b="1" dirty="0"/>
              <a:t>Logic Design</a:t>
            </a:r>
          </a:p>
          <a:p>
            <a:pPr lvl="1"/>
            <a:r>
              <a:rPr lang="ko-KR" altLang="en-US" sz="1800" dirty="0"/>
              <a:t>회로의 기능적 디자인을 묘사함</a:t>
            </a:r>
            <a:endParaRPr lang="en-US" altLang="ko-KR" sz="1800" dirty="0"/>
          </a:p>
          <a:p>
            <a:pPr lvl="1"/>
            <a:r>
              <a:rPr lang="en-US" sz="1800" dirty="0"/>
              <a:t>RT Level: logic/arithmetic</a:t>
            </a:r>
            <a:r>
              <a:rPr lang="ko-KR" altLang="en-US" sz="1800" dirty="0"/>
              <a:t> </a:t>
            </a:r>
            <a:r>
              <a:rPr lang="en-US" altLang="ko-KR" sz="1800" dirty="0"/>
              <a:t>operation,</a:t>
            </a:r>
            <a:r>
              <a:rPr lang="ko-KR" altLang="en-US" sz="1800" dirty="0"/>
              <a:t> </a:t>
            </a:r>
            <a:r>
              <a:rPr lang="en-US" altLang="ko-KR" sz="1800" dirty="0"/>
              <a:t>control</a:t>
            </a:r>
            <a:r>
              <a:rPr lang="ko-KR" altLang="en-US" sz="1800" dirty="0"/>
              <a:t> </a:t>
            </a:r>
            <a:r>
              <a:rPr lang="en-US" altLang="ko-KR" sz="1800" dirty="0"/>
              <a:t>flow…</a:t>
            </a:r>
          </a:p>
          <a:p>
            <a:pPr lvl="1"/>
            <a:endParaRPr lang="en-US" altLang="ko-KR" dirty="0"/>
          </a:p>
          <a:p>
            <a:r>
              <a:rPr lang="en-US" sz="2000" b="1" dirty="0"/>
              <a:t>Synthesis</a:t>
            </a:r>
          </a:p>
          <a:p>
            <a:pPr lvl="1"/>
            <a:r>
              <a:rPr lang="en-US" sz="1800" dirty="0"/>
              <a:t>RT</a:t>
            </a:r>
            <a:r>
              <a:rPr lang="ko-KR" altLang="en-US" sz="1800" dirty="0"/>
              <a:t> </a:t>
            </a:r>
            <a:r>
              <a:rPr lang="en-US" altLang="ko-KR" sz="1800" dirty="0"/>
              <a:t>Level</a:t>
            </a:r>
            <a:r>
              <a:rPr lang="ko-KR" altLang="en-US" sz="1800" dirty="0"/>
              <a:t>의 </a:t>
            </a:r>
            <a:r>
              <a:rPr lang="en-US" altLang="ko-KR" sz="1800" dirty="0"/>
              <a:t>HDL</a:t>
            </a:r>
            <a:r>
              <a:rPr lang="ko-KR" altLang="en-US" sz="1800" dirty="0"/>
              <a:t>의 코드를 </a:t>
            </a:r>
            <a:r>
              <a:rPr lang="en-US" altLang="ko-KR" sz="1800" dirty="0"/>
              <a:t>Gate Level</a:t>
            </a:r>
            <a:r>
              <a:rPr lang="ko-KR" altLang="en-US" sz="1800" dirty="0"/>
              <a:t>의 </a:t>
            </a:r>
            <a:r>
              <a:rPr lang="en-US" altLang="ko-KR" sz="1800" dirty="0"/>
              <a:t>Netlist</a:t>
            </a:r>
            <a:r>
              <a:rPr lang="ko-KR" altLang="en-US" sz="1800" dirty="0"/>
              <a:t>로 변환</a:t>
            </a:r>
            <a:endParaRPr lang="en-US" altLang="ko-KR" sz="1800" dirty="0"/>
          </a:p>
          <a:p>
            <a:pPr lvl="1"/>
            <a:r>
              <a:rPr lang="ko-KR" altLang="en-US" sz="1800" dirty="0"/>
              <a:t>변환시에 </a:t>
            </a:r>
            <a:r>
              <a:rPr lang="en-US" altLang="ko-KR" sz="1800" dirty="0"/>
              <a:t>technology library </a:t>
            </a:r>
            <a:r>
              <a:rPr lang="ko-KR" altLang="en-US" sz="1800" dirty="0"/>
              <a:t>및 </a:t>
            </a:r>
            <a:r>
              <a:rPr lang="en-US" altLang="ko-KR" sz="1800" dirty="0"/>
              <a:t>optimization constraints</a:t>
            </a:r>
            <a:r>
              <a:rPr lang="ko-KR" altLang="en-US" sz="1800" dirty="0"/>
              <a:t>를 고려</a:t>
            </a:r>
            <a:endParaRPr lang="en-US" sz="1800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0FF0BC-5BD5-D198-6645-A90AEAB2A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8269" y="2325964"/>
            <a:ext cx="5247619" cy="24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096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4897-17EF-406C-90B8-120D017842DB}"/>
              </a:ext>
            </a:extLst>
          </p:cNvPr>
          <p:cNvSpPr txBox="1">
            <a:spLocks/>
          </p:cNvSpPr>
          <p:nvPr/>
        </p:nvSpPr>
        <p:spPr>
          <a:xfrm>
            <a:off x="722801" y="479792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Necessity of Synthesis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43F135-FCB0-4F38-9467-EB4915320723}"/>
              </a:ext>
            </a:extLst>
          </p:cNvPr>
          <p:cNvSpPr txBox="1">
            <a:spLocks/>
          </p:cNvSpPr>
          <p:nvPr/>
        </p:nvSpPr>
        <p:spPr>
          <a:xfrm>
            <a:off x="391510" y="1244755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b="1" dirty="0"/>
              <a:t>합성이 필요한 이유</a:t>
            </a:r>
            <a:r>
              <a:rPr lang="en-US" altLang="ko-KR" b="1" dirty="0"/>
              <a:t>	</a:t>
            </a:r>
          </a:p>
          <a:p>
            <a:pPr lvl="1" fontAlgn="base"/>
            <a:r>
              <a:rPr lang="ko-KR" altLang="en-US" sz="1800" dirty="0"/>
              <a:t>구현 가능한 형태로 변환 </a:t>
            </a:r>
            <a:endParaRPr lang="en-US" altLang="ko-KR" sz="1800" dirty="0"/>
          </a:p>
          <a:p>
            <a:pPr lvl="2" fontAlgn="base"/>
            <a:r>
              <a:rPr lang="ko-KR" altLang="en-US" sz="1800" dirty="0"/>
              <a:t>동작을 기술하는 </a:t>
            </a:r>
            <a:r>
              <a:rPr lang="en-US" altLang="ko-KR" sz="1800" dirty="0"/>
              <a:t>RTL </a:t>
            </a:r>
            <a:r>
              <a:rPr lang="ko-KR" altLang="en-US" sz="1800" dirty="0"/>
              <a:t>코드를 실제 하드웨어인 물리적 게이트로 변환</a:t>
            </a:r>
            <a:r>
              <a:rPr lang="en-US" altLang="ko-KR" sz="1800" dirty="0"/>
              <a:t> </a:t>
            </a:r>
          </a:p>
          <a:p>
            <a:pPr lvl="1" fontAlgn="base"/>
            <a:r>
              <a:rPr lang="ko-KR" altLang="en-US" sz="1800" dirty="0"/>
              <a:t>최적화</a:t>
            </a:r>
            <a:endParaRPr lang="en-US" altLang="ko-KR" sz="1800" dirty="0"/>
          </a:p>
          <a:p>
            <a:pPr lvl="2" fontAlgn="base"/>
            <a:r>
              <a:rPr lang="ko-KR" altLang="en-US" sz="1800" dirty="0"/>
              <a:t>면적</a:t>
            </a:r>
            <a:r>
              <a:rPr lang="en-US" altLang="ko-KR" sz="1800" dirty="0"/>
              <a:t>, </a:t>
            </a:r>
            <a:r>
              <a:rPr lang="ko-KR" altLang="en-US" sz="1800" dirty="0"/>
              <a:t>타이밍</a:t>
            </a:r>
            <a:r>
              <a:rPr lang="en-US" altLang="ko-KR" sz="1800" dirty="0"/>
              <a:t>, </a:t>
            </a:r>
            <a:r>
              <a:rPr lang="ko-KR" altLang="en-US" sz="1800" dirty="0"/>
              <a:t>전력을 줄이기 위한 최적화 수행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제약 조건 만족</a:t>
            </a:r>
            <a:endParaRPr lang="en-US" altLang="ko-KR" sz="1800" dirty="0"/>
          </a:p>
          <a:p>
            <a:pPr lvl="2" fontAlgn="base"/>
            <a:r>
              <a:rPr lang="ko-KR" altLang="en-US" sz="1800" dirty="0" err="1"/>
              <a:t>클록</a:t>
            </a:r>
            <a:r>
              <a:rPr lang="ko-KR" altLang="en-US" sz="1800" dirty="0"/>
              <a:t> 주기</a:t>
            </a:r>
            <a:r>
              <a:rPr lang="en-US" altLang="ko-KR" sz="1800" dirty="0"/>
              <a:t>, </a:t>
            </a:r>
            <a:r>
              <a:rPr lang="ko-KR" altLang="en-US" sz="1800" dirty="0"/>
              <a:t>면적 제한 등 설계 요구사항을 만족하는</a:t>
            </a:r>
            <a:endParaRPr lang="en-US" altLang="ko-KR" sz="1800" dirty="0"/>
          </a:p>
          <a:p>
            <a:pPr marL="914400" lvl="2" indent="0" fontAlgn="base">
              <a:buFont typeface="Arial" panose="020B0604020202020204" pitchFamily="34" charset="0"/>
              <a:buNone/>
            </a:pPr>
            <a:r>
              <a:rPr lang="en-US" altLang="ko-KR" sz="1800" dirty="0"/>
              <a:t>   </a:t>
            </a:r>
            <a:r>
              <a:rPr lang="ko-KR" altLang="en-US" sz="1800" dirty="0"/>
              <a:t>회로 생성</a:t>
            </a:r>
            <a:endParaRPr lang="ko-KR" altLang="en-US" sz="1800" b="1" dirty="0"/>
          </a:p>
        </p:txBody>
      </p:sp>
      <p:pic>
        <p:nvPicPr>
          <p:cNvPr id="4" name="그림 7">
            <a:extLst>
              <a:ext uri="{FF2B5EF4-FFF2-40B4-BE49-F238E27FC236}">
                <a16:creationId xmlns:a16="http://schemas.microsoft.com/office/drawing/2014/main" id="{1C26384F-F33C-4FEA-AE14-62FAC32D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1963" y="2503709"/>
            <a:ext cx="4448908" cy="29969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36129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0799CF-28C2-467A-A2BB-0F3D21A5AF6F}"/>
              </a:ext>
            </a:extLst>
          </p:cNvPr>
          <p:cNvSpPr txBox="1">
            <a:spLocks/>
          </p:cNvSpPr>
          <p:nvPr/>
        </p:nvSpPr>
        <p:spPr>
          <a:xfrm>
            <a:off x="881063" y="321530"/>
            <a:ext cx="10900629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Specific Steps of Synthesize(1)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B333F4-73EE-4CB6-901B-207418D168E4}"/>
              </a:ext>
            </a:extLst>
          </p:cNvPr>
          <p:cNvSpPr txBox="1">
            <a:spLocks/>
          </p:cNvSpPr>
          <p:nvPr/>
        </p:nvSpPr>
        <p:spPr>
          <a:xfrm>
            <a:off x="769579" y="1464563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1</a:t>
            </a:r>
            <a:r>
              <a:rPr lang="ko-KR" altLang="en-US" sz="2000" b="1" dirty="0"/>
              <a:t>단계 </a:t>
            </a:r>
            <a:r>
              <a:rPr lang="en-US" altLang="ko-KR" sz="2000" b="1" dirty="0"/>
              <a:t>: Translation(</a:t>
            </a:r>
            <a:r>
              <a:rPr lang="ko-KR" altLang="en-US" sz="2000" b="1" dirty="0"/>
              <a:t>번역</a:t>
            </a:r>
            <a:r>
              <a:rPr lang="en-US" altLang="ko-KR" sz="2000" b="1" dirty="0"/>
              <a:t>)</a:t>
            </a:r>
          </a:p>
          <a:p>
            <a:pPr lvl="1" fontAlgn="base"/>
            <a:r>
              <a:rPr lang="en-US" altLang="ko-KR" sz="1800" dirty="0"/>
              <a:t>RTL </a:t>
            </a:r>
            <a:r>
              <a:rPr lang="ko-KR" altLang="en-US" sz="1800" dirty="0"/>
              <a:t>코드를 툴이 인식할 수 있도록 변환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계층적 구조</a:t>
            </a:r>
            <a:r>
              <a:rPr lang="en-US" altLang="ko-KR" sz="1800" dirty="0"/>
              <a:t>(Hierarchical Structure)</a:t>
            </a:r>
            <a:r>
              <a:rPr lang="ko-KR" altLang="en-US" sz="1800" dirty="0"/>
              <a:t>를 파악 및 인식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Generic Boolean Gates </a:t>
            </a:r>
            <a:r>
              <a:rPr lang="ko-KR" altLang="en-US" sz="1800" dirty="0"/>
              <a:t>형태로 초기 변환</a:t>
            </a:r>
            <a:endParaRPr lang="en-US" altLang="ko-KR" sz="1800" dirty="0"/>
          </a:p>
          <a:p>
            <a:pPr lvl="1" fontAlgn="base"/>
            <a:endParaRPr lang="en-US" altLang="ko-KR" b="1" dirty="0"/>
          </a:p>
          <a:p>
            <a:pPr fontAlgn="base"/>
            <a:r>
              <a:rPr lang="en-US" altLang="ko-KR" sz="2000" b="1" dirty="0"/>
              <a:t>2</a:t>
            </a:r>
            <a:r>
              <a:rPr lang="ko-KR" altLang="en-US" sz="2000" b="1" dirty="0"/>
              <a:t>단계 </a:t>
            </a:r>
            <a:r>
              <a:rPr lang="en-US" altLang="ko-KR" sz="2000" b="1" dirty="0"/>
              <a:t>: Constraint </a:t>
            </a:r>
            <a:r>
              <a:rPr lang="ko-KR" altLang="en-US" sz="2000" b="1" dirty="0"/>
              <a:t>적용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제약 조건 설정</a:t>
            </a:r>
            <a:r>
              <a:rPr lang="en-US" altLang="ko-KR" sz="2000" b="1" dirty="0"/>
              <a:t>) </a:t>
            </a:r>
          </a:p>
          <a:p>
            <a:pPr lvl="1" fontAlgn="base"/>
            <a:r>
              <a:rPr lang="ko-KR" altLang="en-US" sz="1800" dirty="0"/>
              <a:t>설계 목표인 면적</a:t>
            </a:r>
            <a:r>
              <a:rPr lang="en-US" altLang="ko-KR" sz="1800" dirty="0"/>
              <a:t>, </a:t>
            </a:r>
            <a:r>
              <a:rPr lang="ko-KR" altLang="en-US" sz="1800" dirty="0"/>
              <a:t>타이밍</a:t>
            </a:r>
            <a:r>
              <a:rPr lang="en-US" altLang="ko-KR" sz="1800" dirty="0"/>
              <a:t>, </a:t>
            </a:r>
            <a:r>
              <a:rPr lang="ko-KR" altLang="en-US" sz="1800" dirty="0"/>
              <a:t>환경 조건 등을 구체적으로 정의 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합성 툴이 이 제약 조건을 기준으로 최적화 수행 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합성의 방향성을 명확히 설정하는 핵심 단계</a:t>
            </a:r>
            <a:endParaRPr lang="en-US" altLang="ko-KR" sz="1800" dirty="0"/>
          </a:p>
          <a:p>
            <a:pPr lvl="1" fontAlgn="base"/>
            <a:endParaRPr lang="en-US" altLang="ko-KR" b="1" dirty="0"/>
          </a:p>
          <a:p>
            <a:pPr fontAlgn="base"/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001035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0799CF-28C2-467A-A2BB-0F3D21A5AF6F}"/>
              </a:ext>
            </a:extLst>
          </p:cNvPr>
          <p:cNvSpPr txBox="1">
            <a:spLocks/>
          </p:cNvSpPr>
          <p:nvPr/>
        </p:nvSpPr>
        <p:spPr>
          <a:xfrm>
            <a:off x="881063" y="321530"/>
            <a:ext cx="10900629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Specific Steps of Synthesize(2)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A3B585E-07D3-4D5C-AA8C-7B061137B1C4}"/>
              </a:ext>
            </a:extLst>
          </p:cNvPr>
          <p:cNvSpPr txBox="1">
            <a:spLocks/>
          </p:cNvSpPr>
          <p:nvPr/>
        </p:nvSpPr>
        <p:spPr>
          <a:xfrm>
            <a:off x="620110" y="1587655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3</a:t>
            </a:r>
            <a:r>
              <a:rPr lang="ko-KR" altLang="en-US" sz="2000" b="1" dirty="0"/>
              <a:t>단계 </a:t>
            </a:r>
            <a:r>
              <a:rPr lang="en-US" altLang="ko-KR" sz="2000" b="1" dirty="0"/>
              <a:t>: Optimization &amp; Mapping(</a:t>
            </a:r>
            <a:r>
              <a:rPr lang="ko-KR" altLang="en-US" sz="2000" b="1" dirty="0"/>
              <a:t>최적화 및 매핑</a:t>
            </a:r>
            <a:r>
              <a:rPr lang="en-US" altLang="ko-KR" sz="2000" b="1" dirty="0"/>
              <a:t>)</a:t>
            </a:r>
          </a:p>
          <a:p>
            <a:pPr lvl="1" fontAlgn="base"/>
            <a:r>
              <a:rPr lang="ko-KR" altLang="en-US" sz="1800" dirty="0"/>
              <a:t>기존 디지털 로직을 효율적인 구조로 재구성 </a:t>
            </a:r>
            <a:endParaRPr lang="en-US" altLang="ko-KR" sz="1800" dirty="0"/>
          </a:p>
          <a:p>
            <a:pPr lvl="1" fontAlgn="base"/>
            <a:r>
              <a:rPr lang="ko-KR" altLang="en-US" sz="1800" dirty="0" err="1"/>
              <a:t>공정사</a:t>
            </a:r>
            <a:r>
              <a:rPr lang="ko-KR" altLang="en-US" sz="1800" dirty="0"/>
              <a:t> 제공 </a:t>
            </a:r>
            <a:r>
              <a:rPr lang="en-US" altLang="ko-KR" sz="1800" dirty="0"/>
              <a:t>Standard Cell </a:t>
            </a:r>
            <a:r>
              <a:rPr lang="ko-KR" altLang="en-US" sz="1800" dirty="0"/>
              <a:t>라이브러리와 매핑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출력 강도 조정 </a:t>
            </a:r>
            <a:r>
              <a:rPr lang="en-US" altLang="ko-KR" sz="1800" dirty="0"/>
              <a:t>(4x, 3x, 2x, 8x </a:t>
            </a:r>
            <a:r>
              <a:rPr lang="ko-KR" altLang="en-US" sz="1800" dirty="0"/>
              <a:t>등</a:t>
            </a:r>
            <a:r>
              <a:rPr lang="en-US" altLang="ko-KR" sz="1800" dirty="0"/>
              <a:t>) </a:t>
            </a:r>
            <a:r>
              <a:rPr lang="ko-KR" altLang="en-US" sz="1800" dirty="0"/>
              <a:t>및 셀 간 연결 최적화</a:t>
            </a:r>
            <a:endParaRPr lang="en-US" altLang="ko-KR" sz="1800" dirty="0"/>
          </a:p>
          <a:p>
            <a:pPr lvl="1" fontAlgn="base"/>
            <a:endParaRPr lang="en-US" altLang="ko-KR" b="1" dirty="0"/>
          </a:p>
          <a:p>
            <a:pPr fontAlgn="base"/>
            <a:r>
              <a:rPr lang="en-US" altLang="ko-KR" sz="2000" b="1" dirty="0"/>
              <a:t>4</a:t>
            </a:r>
            <a:r>
              <a:rPr lang="ko-KR" altLang="en-US" sz="2000" b="1" dirty="0"/>
              <a:t>단계 </a:t>
            </a:r>
            <a:r>
              <a:rPr lang="en-US" altLang="ko-KR" sz="2000" b="1" dirty="0"/>
              <a:t>: Save(</a:t>
            </a:r>
            <a:r>
              <a:rPr lang="ko-KR" altLang="en-US" sz="2000" b="1" dirty="0"/>
              <a:t>저장</a:t>
            </a:r>
            <a:r>
              <a:rPr lang="en-US" altLang="ko-KR" sz="2000" b="1" dirty="0"/>
              <a:t>) </a:t>
            </a:r>
            <a:endParaRPr lang="ko-KR" altLang="en-US" sz="2000" b="1" dirty="0"/>
          </a:p>
          <a:p>
            <a:pPr lvl="1" fontAlgn="base"/>
            <a:r>
              <a:rPr lang="ko-KR" altLang="en-US" sz="1800" dirty="0"/>
              <a:t>최적화된 설계를 게이트 레벨 넷리스트</a:t>
            </a:r>
            <a:r>
              <a:rPr lang="en-US" altLang="ko-KR" sz="1800" dirty="0"/>
              <a:t>(Gate-Level Netlist)</a:t>
            </a:r>
            <a:r>
              <a:rPr lang="ko-KR" altLang="en-US" sz="1800" dirty="0"/>
              <a:t>로 저장 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다음 단계 툴에서 사용할 수 있는 형태로 결과물 생성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427780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7C219A-80E2-1C82-577F-F981A0CD2DD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21530"/>
            <a:ext cx="11310937" cy="519112"/>
          </a:xfrm>
        </p:spPr>
        <p:txBody>
          <a:bodyPr>
            <a:normAutofit fontScale="90000"/>
          </a:bodyPr>
          <a:lstStyle/>
          <a:p>
            <a:r>
              <a:rPr lang="en-US" dirty="0"/>
              <a:t>Transformation of RTL Code : 3 Steps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C80C5E80-C966-9E5B-4072-568F6938DD0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9488"/>
            <a:ext cx="10758488" cy="5170487"/>
          </a:xfrm>
        </p:spPr>
      </p:pic>
    </p:spTree>
    <p:extLst>
      <p:ext uri="{BB962C8B-B14F-4D97-AF65-F5344CB8AC3E}">
        <p14:creationId xmlns:p14="http://schemas.microsoft.com/office/powerpoint/2010/main" val="1349046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A6A728-EBC0-4660-BB5C-367B6DC41786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Transformation of RTL Code : 3 Steps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348B29-92AF-422A-80A8-64C9CFF31A78}"/>
              </a:ext>
            </a:extLst>
          </p:cNvPr>
          <p:cNvSpPr txBox="1">
            <a:spLocks/>
          </p:cNvSpPr>
          <p:nvPr/>
        </p:nvSpPr>
        <p:spPr>
          <a:xfrm>
            <a:off x="462455" y="1165625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b="1" dirty="0"/>
              <a:t>합성과정에서 </a:t>
            </a:r>
            <a:r>
              <a:rPr lang="en-US" altLang="ko-KR" sz="2000" b="1" dirty="0"/>
              <a:t>RTL </a:t>
            </a:r>
            <a:r>
              <a:rPr lang="ko-KR" altLang="en-US" sz="2000" b="1" dirty="0"/>
              <a:t>코드는 세 번의 주요 변환을 거친다</a:t>
            </a:r>
            <a:r>
              <a:rPr lang="en-US" altLang="ko-KR" sz="2000" b="1" dirty="0"/>
              <a:t>. </a:t>
            </a:r>
          </a:p>
          <a:p>
            <a:pPr fontAlgn="base"/>
            <a:endParaRPr lang="en-US" altLang="ko-KR" b="1" dirty="0"/>
          </a:p>
          <a:p>
            <a:pPr fontAlgn="base"/>
            <a:r>
              <a:rPr lang="en-US" altLang="ko-KR" sz="2000" b="1" dirty="0" err="1"/>
              <a:t>syn_generic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제너릭</a:t>
            </a:r>
            <a:r>
              <a:rPr lang="ko-KR" altLang="en-US" sz="2000" b="1" dirty="0"/>
              <a:t> 합성</a:t>
            </a:r>
            <a:r>
              <a:rPr lang="en-US" altLang="ko-KR" sz="2000" b="1" dirty="0"/>
              <a:t>)</a:t>
            </a:r>
          </a:p>
          <a:p>
            <a:pPr lvl="1" fontAlgn="base"/>
            <a:r>
              <a:rPr lang="ko-KR" altLang="en-US" sz="1800" dirty="0" err="1"/>
              <a:t>공정사</a:t>
            </a:r>
            <a:r>
              <a:rPr lang="ko-KR" altLang="en-US" sz="1800" dirty="0"/>
              <a:t> 라이브러리를 사용하지 않는 기본 논리 최적화 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RTL </a:t>
            </a:r>
            <a:r>
              <a:rPr lang="ko-KR" altLang="en-US" sz="1800" dirty="0"/>
              <a:t>의 인스턴스 이름을 그대로 유지 </a:t>
            </a:r>
            <a:r>
              <a:rPr lang="en-US" altLang="ko-KR" sz="1800" dirty="0"/>
              <a:t>(</a:t>
            </a:r>
            <a:r>
              <a:rPr lang="ko-KR" altLang="en-US" sz="1800" dirty="0"/>
              <a:t>예</a:t>
            </a:r>
            <a:r>
              <a:rPr lang="en-US" altLang="ko-KR" sz="1800" dirty="0"/>
              <a:t>: </a:t>
            </a:r>
            <a:r>
              <a:rPr lang="en-US" altLang="ko-KR" sz="1800" dirty="0" err="1"/>
              <a:t>Count_reg</a:t>
            </a:r>
            <a:r>
              <a:rPr lang="en-US" altLang="ko-KR" sz="1800" dirty="0"/>
              <a:t>[0]) </a:t>
            </a:r>
          </a:p>
          <a:p>
            <a:pPr lvl="1" fontAlgn="base"/>
            <a:r>
              <a:rPr lang="ko-KR" altLang="en-US" sz="1800" dirty="0"/>
              <a:t>논리적 구조 최적화에 집중</a:t>
            </a:r>
            <a:endParaRPr lang="en-US" altLang="ko-KR" sz="1800" dirty="0"/>
          </a:p>
          <a:p>
            <a:pPr fontAlgn="base"/>
            <a:r>
              <a:rPr lang="en-US" altLang="ko-KR" sz="2000" b="1" dirty="0" err="1"/>
              <a:t>syn_map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매핑 합성</a:t>
            </a:r>
            <a:r>
              <a:rPr lang="en-US" altLang="ko-KR" sz="2000" b="1" dirty="0"/>
              <a:t>) </a:t>
            </a:r>
          </a:p>
          <a:p>
            <a:pPr lvl="1" fontAlgn="base"/>
            <a:r>
              <a:rPr lang="ko-KR" altLang="en-US" sz="1800" dirty="0" err="1"/>
              <a:t>공정사</a:t>
            </a:r>
            <a:r>
              <a:rPr lang="ko-KR" altLang="en-US" sz="1800" dirty="0"/>
              <a:t> </a:t>
            </a:r>
            <a:r>
              <a:rPr lang="en-US" altLang="ko-KR" sz="1800" dirty="0"/>
              <a:t>Standard Cell </a:t>
            </a:r>
            <a:r>
              <a:rPr lang="ko-KR" altLang="en-US" sz="1800" dirty="0"/>
              <a:t>라이브러리와 매핑 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인스턴스 이름이 셀 이름으로 변경 </a:t>
            </a:r>
            <a:r>
              <a:rPr lang="en-US" altLang="ko-KR" sz="1800" dirty="0"/>
              <a:t>(</a:t>
            </a:r>
            <a:r>
              <a:rPr lang="ko-KR" altLang="en-US" sz="1800" dirty="0"/>
              <a:t>예</a:t>
            </a:r>
            <a:r>
              <a:rPr lang="en-US" altLang="ko-KR" sz="1800" dirty="0"/>
              <a:t>: </a:t>
            </a:r>
            <a:r>
              <a:rPr lang="en-US" altLang="ko-KR" sz="1800" dirty="0" err="1"/>
              <a:t>Count_reg</a:t>
            </a:r>
            <a:r>
              <a:rPr lang="en-US" altLang="ko-KR" sz="1800" dirty="0"/>
              <a:t>[0] → DFFRHQX1)</a:t>
            </a:r>
          </a:p>
          <a:p>
            <a:pPr lvl="1" fontAlgn="base"/>
            <a:r>
              <a:rPr lang="ko-KR" altLang="en-US" sz="1800" dirty="0"/>
              <a:t>실제 제조 가능한 게이트로 변환</a:t>
            </a:r>
            <a:endParaRPr lang="en-US" altLang="ko-KR" sz="1800" b="1" dirty="0"/>
          </a:p>
          <a:p>
            <a:pPr fontAlgn="base"/>
            <a:r>
              <a:rPr lang="en-US" altLang="ko-KR" sz="2000" b="1" dirty="0" err="1"/>
              <a:t>syn_opt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최적화 합성</a:t>
            </a:r>
            <a:r>
              <a:rPr lang="en-US" altLang="ko-KR" sz="2000" b="1" dirty="0"/>
              <a:t>)</a:t>
            </a:r>
            <a:endParaRPr lang="ko-KR" altLang="en-US" sz="2000" b="1" dirty="0"/>
          </a:p>
          <a:p>
            <a:pPr lvl="1" fontAlgn="base"/>
            <a:r>
              <a:rPr lang="ko-KR" altLang="en-US" sz="1800" dirty="0" err="1"/>
              <a:t>매핑된</a:t>
            </a:r>
            <a:r>
              <a:rPr lang="ko-KR" altLang="en-US" sz="1800" dirty="0"/>
              <a:t> 디자인의 추가 최적화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타이밍</a:t>
            </a:r>
            <a:r>
              <a:rPr lang="en-US" altLang="ko-KR" sz="1800" dirty="0"/>
              <a:t>, </a:t>
            </a:r>
            <a:r>
              <a:rPr lang="ko-KR" altLang="en-US" sz="1800" dirty="0"/>
              <a:t>면적</a:t>
            </a:r>
            <a:r>
              <a:rPr lang="en-US" altLang="ko-KR" sz="1800" dirty="0"/>
              <a:t>, </a:t>
            </a:r>
            <a:r>
              <a:rPr lang="ko-KR" altLang="en-US" sz="1800" dirty="0"/>
              <a:t>전력 관점에서 최종 조정 </a:t>
            </a:r>
            <a:r>
              <a:rPr lang="en-US" altLang="ko-KR" sz="1800" dirty="0"/>
              <a:t>(</a:t>
            </a:r>
            <a:r>
              <a:rPr lang="ko-KR" altLang="en-US" sz="1800" dirty="0"/>
              <a:t>예</a:t>
            </a:r>
            <a:r>
              <a:rPr lang="en-US" altLang="ko-KR" sz="1800" dirty="0"/>
              <a:t>: DFFRHQX1 → DFFRX1) </a:t>
            </a:r>
          </a:p>
          <a:p>
            <a:pPr lvl="1" fontAlgn="base"/>
            <a:r>
              <a:rPr lang="ko-KR" altLang="en-US" sz="1800" dirty="0"/>
              <a:t>제약 조건을 만족하는 최적 솔루션 도출</a:t>
            </a:r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1701733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48BAA-9ADC-45C7-B6D0-CBF70C034E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BD4A0B-A2EA-4823-857A-3B47982FEFD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9396F-2DC7-9F2F-8212-5AC8FDA579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4639" y="4935172"/>
            <a:ext cx="11195050" cy="71278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3. Timing</a:t>
            </a:r>
          </a:p>
        </p:txBody>
      </p:sp>
    </p:spTree>
    <p:extLst>
      <p:ext uri="{BB962C8B-B14F-4D97-AF65-F5344CB8AC3E}">
        <p14:creationId xmlns:p14="http://schemas.microsoft.com/office/powerpoint/2010/main" val="2206940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06A09B-A373-487B-987A-DCDDA3618CD1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Setup/Hold Time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64076D-4EAC-442F-A8A5-820CEA5D5C74}"/>
              </a:ext>
            </a:extLst>
          </p:cNvPr>
          <p:cNvSpPr txBox="1">
            <a:spLocks/>
          </p:cNvSpPr>
          <p:nvPr/>
        </p:nvSpPr>
        <p:spPr>
          <a:xfrm>
            <a:off x="617294" y="999018"/>
            <a:ext cx="11267090" cy="54583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Setup Time</a:t>
            </a:r>
            <a:r>
              <a:rPr lang="ko-KR" altLang="en-US" sz="2000" b="1" dirty="0"/>
              <a:t>과 </a:t>
            </a:r>
            <a:r>
              <a:rPr lang="en-US" altLang="ko-KR" sz="2000" b="1" dirty="0"/>
              <a:t>Hold Time</a:t>
            </a:r>
          </a:p>
          <a:p>
            <a:pPr lvl="1" fontAlgn="base"/>
            <a:r>
              <a:rPr lang="en-US" altLang="ko-KR" sz="1800" dirty="0"/>
              <a:t>Setup Time: </a:t>
            </a:r>
            <a:r>
              <a:rPr lang="ko-KR" altLang="en-US" sz="1800" dirty="0" err="1"/>
              <a:t>클록</a:t>
            </a:r>
            <a:r>
              <a:rPr lang="ko-KR" altLang="en-US" sz="1800" dirty="0"/>
              <a:t> 상승 에지 이전에 데이터가 안정적으로 도착해야 하는 시간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Hold Time: </a:t>
            </a:r>
            <a:r>
              <a:rPr lang="ko-KR" altLang="en-US" sz="1800" dirty="0" err="1"/>
              <a:t>클록</a:t>
            </a:r>
            <a:r>
              <a:rPr lang="ko-KR" altLang="en-US" sz="1800" dirty="0"/>
              <a:t> 상승 에지 이후에도 데이터가 유지되어야 하는 시간</a:t>
            </a:r>
            <a:endParaRPr lang="en-US" altLang="ko-KR" sz="1800" dirty="0"/>
          </a:p>
          <a:p>
            <a:pPr fontAlgn="base"/>
            <a:endParaRPr lang="ko-KR" altLang="en-US" b="1" dirty="0"/>
          </a:p>
        </p:txBody>
      </p:sp>
      <p:pic>
        <p:nvPicPr>
          <p:cNvPr id="4" name="그림 5">
            <a:extLst>
              <a:ext uri="{FF2B5EF4-FFF2-40B4-BE49-F238E27FC236}">
                <a16:creationId xmlns:a16="http://schemas.microsoft.com/office/drawing/2014/main" id="{4AD4E04F-CE00-41DD-85DC-177FD2E67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225" y="2160192"/>
            <a:ext cx="6600982" cy="40016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54839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59FCD8-91AA-404B-AF61-E05C68F9A85C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Path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9AFC27-366E-4EA6-967A-BFBF7D3A2376}"/>
              </a:ext>
            </a:extLst>
          </p:cNvPr>
          <p:cNvSpPr txBox="1">
            <a:spLocks/>
          </p:cNvSpPr>
          <p:nvPr/>
        </p:nvSpPr>
        <p:spPr>
          <a:xfrm>
            <a:off x="620110" y="1359055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b="1" dirty="0"/>
              <a:t>디지털 로직은 </a:t>
            </a:r>
            <a:r>
              <a:rPr lang="en-US" altLang="ko-KR" sz="2000" b="1" dirty="0"/>
              <a:t>Verilog </a:t>
            </a:r>
            <a:r>
              <a:rPr lang="ko-KR" altLang="en-US" sz="2000" b="1" dirty="0"/>
              <a:t>언어로 기술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가능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언어를 사용한다는 것은 계산 로직의 생성이 가능</a:t>
            </a:r>
            <a:endParaRPr lang="en-US" altLang="ko-KR" sz="2000" b="1" dirty="0"/>
          </a:p>
          <a:p>
            <a:pPr fontAlgn="base"/>
            <a:endParaRPr lang="en-US" altLang="ko-KR" b="1" dirty="0"/>
          </a:p>
          <a:p>
            <a:pPr fontAlgn="base"/>
            <a:r>
              <a:rPr lang="ko-KR" altLang="en-US" sz="2000" b="1" dirty="0"/>
              <a:t>계산 로직은 신호의 연결이 복잡하므로 많은 </a:t>
            </a:r>
            <a:r>
              <a:rPr lang="en-US" altLang="ko-KR" sz="2000" b="1" dirty="0"/>
              <a:t>EDA </a:t>
            </a:r>
            <a:r>
              <a:rPr lang="ko-KR" altLang="en-US" sz="2000" b="1" dirty="0"/>
              <a:t>툴에 공통적으로 적용할 기준이 필요</a:t>
            </a:r>
            <a:endParaRPr lang="en-US" altLang="ko-KR" sz="2000" b="1" dirty="0"/>
          </a:p>
          <a:p>
            <a:pPr fontAlgn="base"/>
            <a:endParaRPr lang="en-US" altLang="ko-KR" b="1" dirty="0"/>
          </a:p>
          <a:p>
            <a:pPr fontAlgn="base"/>
            <a:r>
              <a:rPr lang="en-US" altLang="ko-KR" sz="2000" b="1" dirty="0"/>
              <a:t>Path(</a:t>
            </a:r>
            <a:r>
              <a:rPr lang="ko-KR" altLang="en-US" sz="2000" b="1" dirty="0"/>
              <a:t>경로</a:t>
            </a:r>
            <a:r>
              <a:rPr lang="en-US" altLang="ko-KR" sz="2000" b="1" dirty="0"/>
              <a:t>)</a:t>
            </a:r>
            <a:r>
              <a:rPr lang="ko-KR" altLang="en-US" sz="2000" b="1" dirty="0"/>
              <a:t>의 개념</a:t>
            </a:r>
            <a:endParaRPr lang="en-US" altLang="ko-KR" sz="2000" b="1" dirty="0"/>
          </a:p>
          <a:p>
            <a:pPr lvl="1" fontAlgn="base"/>
            <a:r>
              <a:rPr lang="ko-KR" altLang="en-US" sz="1800" dirty="0"/>
              <a:t>시작점인 </a:t>
            </a:r>
            <a:r>
              <a:rPr lang="en-US" altLang="ko-KR" sz="1800" dirty="0"/>
              <a:t>Start Point</a:t>
            </a:r>
            <a:r>
              <a:rPr lang="ko-KR" altLang="en-US" sz="1800" dirty="0"/>
              <a:t>와 종착점인 </a:t>
            </a:r>
            <a:r>
              <a:rPr lang="en-US" altLang="ko-KR" sz="1800" dirty="0"/>
              <a:t>End Point</a:t>
            </a:r>
            <a:r>
              <a:rPr lang="ko-KR" altLang="en-US" sz="1800" dirty="0"/>
              <a:t>가 있음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Start Point : </a:t>
            </a:r>
            <a:r>
              <a:rPr lang="ko-KR" altLang="en-US" sz="1800" dirty="0"/>
              <a:t>입력 포트 또는 레지스터의 </a:t>
            </a:r>
            <a:r>
              <a:rPr lang="ko-KR" altLang="en-US" sz="1800" dirty="0" err="1"/>
              <a:t>클록</a:t>
            </a:r>
            <a:r>
              <a:rPr lang="ko-KR" altLang="en-US" sz="1800" dirty="0"/>
              <a:t> 핀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End Point : </a:t>
            </a:r>
            <a:r>
              <a:rPr lang="ko-KR" altLang="en-US" sz="1800" dirty="0"/>
              <a:t>출력 포트 또는 다음 레지스터의 데이터 입력 핀</a:t>
            </a:r>
            <a:r>
              <a:rPr lang="ko-KR" altLang="en-US" sz="1800" b="1" dirty="0"/>
              <a:t> </a:t>
            </a:r>
            <a:endParaRPr lang="en-US" altLang="ko-KR" sz="1800" b="1" dirty="0"/>
          </a:p>
          <a:p>
            <a:pPr lvl="1" fontAlgn="base"/>
            <a:r>
              <a:rPr lang="ko-KR" altLang="en-US" sz="1800" dirty="0"/>
              <a:t>사람의 손가락 마디처럼</a:t>
            </a:r>
            <a:r>
              <a:rPr lang="en-US" altLang="ko-KR" sz="1800" dirty="0"/>
              <a:t>, </a:t>
            </a:r>
            <a:r>
              <a:rPr lang="ko-KR" altLang="en-US" sz="1800" dirty="0"/>
              <a:t>길게 이어져 있는 신호의 길을 </a:t>
            </a:r>
            <a:r>
              <a:rPr lang="ko-KR" altLang="en-US" sz="1800" dirty="0" err="1"/>
              <a:t>플립플롭</a:t>
            </a:r>
            <a:r>
              <a:rPr lang="ko-KR" altLang="en-US" sz="1800" dirty="0"/>
              <a:t> 단위로 끊고 이해 및 분석할 수 있도록 하는 중요한 단위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943638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18AE1-4A7D-4F15-9F6E-1323DDE8850D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Path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1425D4-4D21-4D1F-89B0-FF438E166046}"/>
              </a:ext>
            </a:extLst>
          </p:cNvPr>
          <p:cNvSpPr txBox="1">
            <a:spLocks/>
          </p:cNvSpPr>
          <p:nvPr/>
        </p:nvSpPr>
        <p:spPr>
          <a:xfrm>
            <a:off x="617294" y="999018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Path</a:t>
            </a:r>
            <a:r>
              <a:rPr lang="ko-KR" altLang="en-US" sz="2000" b="1" dirty="0"/>
              <a:t>의 예시</a:t>
            </a:r>
            <a:endParaRPr lang="en-US" altLang="ko-KR" sz="2000" b="1" dirty="0"/>
          </a:p>
          <a:p>
            <a:pPr lvl="1" fontAlgn="base"/>
            <a:r>
              <a:rPr lang="ko-KR" altLang="en-US" sz="1800" dirty="0"/>
              <a:t>왼쪽 그림은 툴이 디자인을 읽어 들이면</a:t>
            </a:r>
            <a:r>
              <a:rPr lang="en-US" altLang="ko-KR" sz="1800" dirty="0"/>
              <a:t>, </a:t>
            </a:r>
            <a:r>
              <a:rPr lang="ko-KR" altLang="en-US" sz="1800" dirty="0"/>
              <a:t>모든 </a:t>
            </a:r>
            <a:r>
              <a:rPr lang="en-US" altLang="ko-KR" sz="1800" dirty="0"/>
              <a:t>Path</a:t>
            </a:r>
            <a:r>
              <a:rPr lang="ko-KR" altLang="en-US" sz="1800" dirty="0"/>
              <a:t>에 대해서 빠짐없이 분석할 수 있다는 것</a:t>
            </a:r>
            <a:endParaRPr lang="en-US" altLang="ko-KR" sz="1800" dirty="0"/>
          </a:p>
          <a:p>
            <a:pPr lvl="1" fontAlgn="base"/>
            <a:endParaRPr lang="en-US" altLang="ko-KR" dirty="0"/>
          </a:p>
          <a:p>
            <a:pPr lvl="1" fontAlgn="base"/>
            <a:r>
              <a:rPr lang="ko-KR" altLang="en-US" sz="2000" dirty="0"/>
              <a:t>오른쪽 그림은 툴이 </a:t>
            </a:r>
            <a:r>
              <a:rPr lang="en-US" altLang="ko-KR" sz="2000" dirty="0"/>
              <a:t>Register </a:t>
            </a:r>
            <a:r>
              <a:rPr lang="ko-KR" altLang="en-US" sz="2000" dirty="0"/>
              <a:t>간의 연결에서 </a:t>
            </a:r>
            <a:r>
              <a:rPr lang="en-US" altLang="ko-KR" sz="2000" dirty="0"/>
              <a:t>Path</a:t>
            </a:r>
            <a:r>
              <a:rPr lang="ko-KR" altLang="en-US" sz="2000" dirty="0"/>
              <a:t>를 인지하는 원리</a:t>
            </a:r>
            <a:endParaRPr lang="en-US" altLang="ko-KR" sz="2000" dirty="0"/>
          </a:p>
          <a:p>
            <a:pPr lvl="2" fontAlgn="base"/>
            <a:r>
              <a:rPr lang="en-US" altLang="ko-KR" sz="1800" dirty="0"/>
              <a:t>Start Point</a:t>
            </a:r>
            <a:r>
              <a:rPr lang="ko-KR" altLang="en-US" sz="1800" dirty="0"/>
              <a:t>는 앞선 </a:t>
            </a:r>
            <a:r>
              <a:rPr lang="ko-KR" altLang="en-US" sz="1800" dirty="0" err="1"/>
              <a:t>플립플롭의</a:t>
            </a:r>
            <a:r>
              <a:rPr lang="ko-KR" altLang="en-US" sz="1800" dirty="0"/>
              <a:t> </a:t>
            </a:r>
            <a:r>
              <a:rPr lang="ko-KR" altLang="en-US" sz="1800" dirty="0" err="1"/>
              <a:t>클록</a:t>
            </a:r>
            <a:r>
              <a:rPr lang="ko-KR" altLang="en-US" sz="1800" dirty="0"/>
              <a:t> 핀</a:t>
            </a:r>
            <a:endParaRPr lang="en-US" altLang="ko-KR" sz="1800" dirty="0"/>
          </a:p>
          <a:p>
            <a:pPr lvl="2" fontAlgn="base"/>
            <a:r>
              <a:rPr lang="en-US" altLang="ko-KR" sz="1800" dirty="0"/>
              <a:t>End Point</a:t>
            </a:r>
            <a:r>
              <a:rPr lang="ko-KR" altLang="en-US" sz="1800" dirty="0"/>
              <a:t>는 다음 </a:t>
            </a:r>
            <a:r>
              <a:rPr lang="ko-KR" altLang="en-US" sz="1800" dirty="0" err="1"/>
              <a:t>플립플롭의</a:t>
            </a:r>
            <a:r>
              <a:rPr lang="ko-KR" altLang="en-US" sz="1800" dirty="0"/>
              <a:t> </a:t>
            </a:r>
            <a:r>
              <a:rPr lang="en-US" altLang="ko-KR" sz="1800" dirty="0"/>
              <a:t>D</a:t>
            </a:r>
            <a:r>
              <a:rPr lang="ko-KR" altLang="en-US" sz="1800" dirty="0"/>
              <a:t> 핀</a:t>
            </a:r>
            <a:endParaRPr lang="en-US" altLang="ko-KR" sz="1800" dirty="0"/>
          </a:p>
          <a:p>
            <a:pPr lvl="1" fontAlgn="base"/>
            <a:endParaRPr lang="en-US" altLang="ko-KR" dirty="0"/>
          </a:p>
        </p:txBody>
      </p:sp>
      <p:pic>
        <p:nvPicPr>
          <p:cNvPr id="4" name="그림 6" descr="라인, 스케치, 화이트, 폰트이(가) 표시된 사진&#10;&#10;자동 생성된 설명">
            <a:extLst>
              <a:ext uri="{FF2B5EF4-FFF2-40B4-BE49-F238E27FC236}">
                <a16:creationId xmlns:a16="http://schemas.microsoft.com/office/drawing/2014/main" id="{95B8E5E2-FC4D-4894-836E-EAD5EB172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37" y="3568223"/>
            <a:ext cx="4769731" cy="21170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5" name="그림 7">
            <a:extLst>
              <a:ext uri="{FF2B5EF4-FFF2-40B4-BE49-F238E27FC236}">
                <a16:creationId xmlns:a16="http://schemas.microsoft.com/office/drawing/2014/main" id="{90D0F636-76D7-45E3-900B-F0BE4671D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711" y="3568224"/>
            <a:ext cx="5469153" cy="21170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70679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EAD7BA-7CA7-4B50-B8CD-DDF1499CE965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Path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0EFFD3-8847-4A75-895A-4D4F72194568}"/>
              </a:ext>
            </a:extLst>
          </p:cNvPr>
          <p:cNvSpPr txBox="1">
            <a:spLocks/>
          </p:cNvSpPr>
          <p:nvPr/>
        </p:nvSpPr>
        <p:spPr>
          <a:xfrm>
            <a:off x="462455" y="1086494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b="1" dirty="0"/>
              <a:t>디지털 디자인이 아래와 같은 세 종류의 </a:t>
            </a:r>
            <a:r>
              <a:rPr lang="en-US" altLang="ko-KR" sz="2000" b="1" dirty="0"/>
              <a:t>Path</a:t>
            </a:r>
            <a:r>
              <a:rPr lang="ko-KR" altLang="en-US" sz="2000" b="1" dirty="0"/>
              <a:t>로 구분됨 </a:t>
            </a:r>
            <a:endParaRPr lang="en-US" altLang="ko-KR" sz="2000" b="1" dirty="0"/>
          </a:p>
          <a:p>
            <a:pPr lvl="1" fontAlgn="base"/>
            <a:r>
              <a:rPr lang="en-US" altLang="ko-KR" sz="1800" dirty="0"/>
              <a:t>Input Path: </a:t>
            </a:r>
            <a:r>
              <a:rPr lang="ko-KR" altLang="en-US" sz="1800" dirty="0"/>
              <a:t>외부 입력에서 내부 레지스터로의 경로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Internal Path: </a:t>
            </a:r>
            <a:r>
              <a:rPr lang="ko-KR" altLang="en-US" sz="1800" dirty="0"/>
              <a:t>레지스터 간 경로 </a:t>
            </a:r>
            <a:r>
              <a:rPr lang="en-US" altLang="ko-KR" sz="1800" dirty="0"/>
              <a:t>(Reg-to-Reg) </a:t>
            </a:r>
          </a:p>
          <a:p>
            <a:pPr lvl="1" fontAlgn="base"/>
            <a:r>
              <a:rPr lang="en-US" altLang="ko-KR" sz="1800" dirty="0"/>
              <a:t>Output Path: </a:t>
            </a:r>
            <a:r>
              <a:rPr lang="ko-KR" altLang="en-US" sz="1800" dirty="0"/>
              <a:t>내부 레지스터에서 외부 출력으로의 경로</a:t>
            </a:r>
            <a:endParaRPr lang="en-US" altLang="ko-KR" sz="1800" dirty="0"/>
          </a:p>
          <a:p>
            <a:pPr lvl="1" fontAlgn="base"/>
            <a:endParaRPr lang="en-US" altLang="ko-KR" b="1" dirty="0"/>
          </a:p>
        </p:txBody>
      </p:sp>
      <p:pic>
        <p:nvPicPr>
          <p:cNvPr id="4" name="그림 5" descr="라인, 스케치, 화이트, 폰트이(가) 표시된 사진&#10;&#10;자동 생성된 설명">
            <a:extLst>
              <a:ext uri="{FF2B5EF4-FFF2-40B4-BE49-F238E27FC236}">
                <a16:creationId xmlns:a16="http://schemas.microsoft.com/office/drawing/2014/main" id="{D479564C-240F-4428-A612-73CF2A675B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05" y="2900008"/>
            <a:ext cx="4769731" cy="21170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4DCFDBF-8B9B-4F60-9B98-31D8FF1F9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011" y="2900007"/>
            <a:ext cx="5469153" cy="21170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11034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1DA221-EC35-40A6-92A2-71FBC5ED2B4C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Path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092F86-2FFE-44F9-8114-793C7AB576F0}"/>
              </a:ext>
            </a:extLst>
          </p:cNvPr>
          <p:cNvSpPr txBox="1">
            <a:spLocks/>
          </p:cNvSpPr>
          <p:nvPr/>
        </p:nvSpPr>
        <p:spPr>
          <a:xfrm>
            <a:off x="573229" y="999018"/>
            <a:ext cx="11399066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MY_DESIGN </a:t>
            </a:r>
            <a:r>
              <a:rPr lang="ko-KR" altLang="en-US" sz="2000" b="1" dirty="0"/>
              <a:t>의 예시</a:t>
            </a:r>
            <a:endParaRPr lang="en-US" altLang="ko-KR" sz="2000" b="1" dirty="0"/>
          </a:p>
          <a:p>
            <a:pPr lvl="1" fontAlgn="base"/>
            <a:r>
              <a:rPr lang="en-US" altLang="ko-KR" sz="1800" dirty="0"/>
              <a:t>Input Path : </a:t>
            </a:r>
            <a:r>
              <a:rPr lang="ko-KR" altLang="en-US" sz="1800" dirty="0"/>
              <a:t>입력포트부터 </a:t>
            </a:r>
            <a:r>
              <a:rPr lang="en-US" altLang="ko-KR" sz="1800" dirty="0"/>
              <a:t>N</a:t>
            </a:r>
            <a:r>
              <a:rPr lang="ko-KR" altLang="en-US" sz="1800" dirty="0"/>
              <a:t>으로 표시된 조합회로를 거쳐 </a:t>
            </a:r>
            <a:r>
              <a:rPr lang="ko-KR" altLang="en-US" sz="1800" dirty="0" err="1"/>
              <a:t>플립플롭의</a:t>
            </a:r>
            <a:r>
              <a:rPr lang="ko-KR" altLang="en-US" sz="1800" dirty="0"/>
              <a:t> </a:t>
            </a:r>
            <a:r>
              <a:rPr lang="en-US" altLang="ko-KR" sz="1800" dirty="0"/>
              <a:t>D</a:t>
            </a:r>
            <a:r>
              <a:rPr lang="ko-KR" altLang="en-US" sz="1800" dirty="0"/>
              <a:t>까지 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Internal Path : </a:t>
            </a:r>
            <a:r>
              <a:rPr lang="ko-KR" altLang="en-US" sz="1800" dirty="0"/>
              <a:t>빨간색 화살표처럼</a:t>
            </a:r>
            <a:r>
              <a:rPr lang="en-US" altLang="ko-KR" sz="1800" dirty="0"/>
              <a:t>, </a:t>
            </a:r>
            <a:r>
              <a:rPr lang="ko-KR" altLang="en-US" sz="1800" dirty="0"/>
              <a:t>첫째 </a:t>
            </a:r>
            <a:r>
              <a:rPr lang="ko-KR" altLang="en-US" sz="1800" dirty="0" err="1"/>
              <a:t>플립플롭의</a:t>
            </a:r>
            <a:r>
              <a:rPr lang="ko-KR" altLang="en-US" sz="1800" dirty="0"/>
              <a:t> </a:t>
            </a:r>
            <a:r>
              <a:rPr lang="ko-KR" altLang="en-US" sz="1800" dirty="0" err="1"/>
              <a:t>클록</a:t>
            </a:r>
            <a:r>
              <a:rPr lang="ko-KR" altLang="en-US" sz="1800" dirty="0"/>
              <a:t> 핀부터 두 번째 </a:t>
            </a:r>
            <a:r>
              <a:rPr lang="ko-KR" altLang="en-US" sz="1800" dirty="0" err="1"/>
              <a:t>플립플롭의</a:t>
            </a:r>
            <a:r>
              <a:rPr lang="ko-KR" altLang="en-US" sz="1800" dirty="0"/>
              <a:t> </a:t>
            </a:r>
            <a:r>
              <a:rPr lang="en-US" altLang="ko-KR" sz="1800" dirty="0"/>
              <a:t>D</a:t>
            </a:r>
            <a:r>
              <a:rPr lang="ko-KR" altLang="en-US" sz="1800" dirty="0"/>
              <a:t>까지 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Output Path : </a:t>
            </a:r>
            <a:r>
              <a:rPr lang="ko-KR" altLang="en-US" sz="1800" dirty="0"/>
              <a:t>두 번째 </a:t>
            </a:r>
            <a:r>
              <a:rPr lang="ko-KR" altLang="en-US" sz="1800" dirty="0" err="1"/>
              <a:t>플립플롭의</a:t>
            </a:r>
            <a:r>
              <a:rPr lang="ko-KR" altLang="en-US" sz="1800" dirty="0"/>
              <a:t> </a:t>
            </a:r>
            <a:r>
              <a:rPr lang="ko-KR" altLang="en-US" sz="1800" dirty="0" err="1"/>
              <a:t>클록</a:t>
            </a:r>
            <a:r>
              <a:rPr lang="ko-KR" altLang="en-US" sz="1800" dirty="0"/>
              <a:t> 핀부터 </a:t>
            </a:r>
            <a:r>
              <a:rPr lang="en-US" altLang="ko-KR" sz="1800" dirty="0"/>
              <a:t>S</a:t>
            </a:r>
            <a:r>
              <a:rPr lang="ko-KR" altLang="en-US" sz="1800" dirty="0"/>
              <a:t>로 표시된 조합회로를 거쳐 출력포트까지</a:t>
            </a:r>
            <a:endParaRPr lang="en-US" altLang="ko-KR" sz="1800" dirty="0"/>
          </a:p>
          <a:p>
            <a:pPr lvl="1" fontAlgn="base"/>
            <a:endParaRPr lang="en-US" altLang="ko-KR" b="1" dirty="0"/>
          </a:p>
          <a:p>
            <a:pPr lvl="1" fontAlgn="base"/>
            <a:endParaRPr lang="en-US" altLang="ko-KR" b="1" dirty="0"/>
          </a:p>
          <a:p>
            <a:pPr lvl="1" fontAlgn="base"/>
            <a:endParaRPr lang="en-US" altLang="ko-KR" b="1" dirty="0"/>
          </a:p>
          <a:p>
            <a:pPr lvl="1" fontAlgn="base"/>
            <a:endParaRPr lang="en-US" altLang="ko-KR" b="1" dirty="0"/>
          </a:p>
          <a:p>
            <a:pPr marL="0" indent="0" fontAlgn="base">
              <a:buNone/>
            </a:pPr>
            <a:endParaRPr lang="en-US" altLang="ko-KR" dirty="0"/>
          </a:p>
          <a:p>
            <a:pPr fontAlgn="base"/>
            <a:r>
              <a:rPr lang="ko-KR" altLang="en-US" sz="2000" b="1" dirty="0"/>
              <a:t>위 그림처럼 연결되면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서브모듈이었을</a:t>
            </a:r>
            <a:r>
              <a:rPr lang="ko-KR" altLang="en-US" sz="2000" b="1" dirty="0"/>
              <a:t> 때와 다르게 </a:t>
            </a:r>
            <a:r>
              <a:rPr lang="en-US" altLang="ko-KR" sz="2000" b="1" dirty="0"/>
              <a:t>MY_DESIGN</a:t>
            </a:r>
            <a:r>
              <a:rPr lang="ko-KR" altLang="en-US" sz="2000" b="1" dirty="0"/>
              <a:t>의 </a:t>
            </a:r>
            <a:r>
              <a:rPr lang="en-US" altLang="ko-KR" sz="2000" b="1" dirty="0"/>
              <a:t>Path</a:t>
            </a:r>
            <a:r>
              <a:rPr lang="ko-KR" altLang="en-US" sz="2000" b="1" dirty="0"/>
              <a:t>에 변화발생</a:t>
            </a:r>
            <a:endParaRPr lang="en-US" altLang="ko-KR" sz="2000" b="1" dirty="0"/>
          </a:p>
          <a:p>
            <a:pPr lvl="1" fontAlgn="base"/>
            <a:r>
              <a:rPr lang="en-US" altLang="ko-KR" sz="1800" dirty="0"/>
              <a:t>Input Path : KIM </a:t>
            </a:r>
            <a:r>
              <a:rPr lang="ko-KR" altLang="en-US" sz="1800" dirty="0"/>
              <a:t>디자인의 </a:t>
            </a:r>
            <a:r>
              <a:rPr lang="ko-KR" altLang="en-US" sz="1800" dirty="0" err="1"/>
              <a:t>플립플롭</a:t>
            </a:r>
            <a:r>
              <a:rPr lang="ko-KR" altLang="en-US" sz="1800" dirty="0"/>
              <a:t> </a:t>
            </a:r>
            <a:r>
              <a:rPr lang="ko-KR" altLang="en-US" sz="1800" dirty="0" err="1"/>
              <a:t>클록</a:t>
            </a:r>
            <a:r>
              <a:rPr lang="ko-KR" altLang="en-US" sz="1800" dirty="0"/>
              <a:t> 핀부터 </a:t>
            </a:r>
            <a:r>
              <a:rPr lang="en-US" altLang="ko-KR" sz="1800" dirty="0"/>
              <a:t>M, N </a:t>
            </a:r>
            <a:r>
              <a:rPr lang="ko-KR" altLang="en-US" sz="1800" dirty="0"/>
              <a:t>조합회로를 거쳐 첫 번째 </a:t>
            </a:r>
            <a:r>
              <a:rPr lang="ko-KR" altLang="en-US" sz="1800" dirty="0" err="1"/>
              <a:t>플립플롭의</a:t>
            </a:r>
            <a:r>
              <a:rPr lang="ko-KR" altLang="en-US" sz="1800" dirty="0"/>
              <a:t> </a:t>
            </a:r>
            <a:r>
              <a:rPr lang="en-US" altLang="ko-KR" sz="1800" dirty="0"/>
              <a:t>D</a:t>
            </a:r>
            <a:r>
              <a:rPr lang="ko-KR" altLang="en-US" sz="1800" dirty="0"/>
              <a:t>까지 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Output Path : </a:t>
            </a:r>
            <a:r>
              <a:rPr lang="ko-KR" altLang="en-US" sz="1800" dirty="0"/>
              <a:t>두 번째 </a:t>
            </a:r>
            <a:r>
              <a:rPr lang="ko-KR" altLang="en-US" sz="1800" dirty="0" err="1"/>
              <a:t>플립플롭의</a:t>
            </a:r>
            <a:r>
              <a:rPr lang="ko-KR" altLang="en-US" sz="1800" dirty="0"/>
              <a:t> </a:t>
            </a:r>
            <a:r>
              <a:rPr lang="ko-KR" altLang="en-US" sz="1800" dirty="0" err="1"/>
              <a:t>클록</a:t>
            </a:r>
            <a:r>
              <a:rPr lang="ko-KR" altLang="en-US" sz="1800" dirty="0"/>
              <a:t> 핀부터 </a:t>
            </a:r>
            <a:r>
              <a:rPr lang="en-US" altLang="ko-KR" sz="1800" dirty="0"/>
              <a:t>S, T </a:t>
            </a:r>
            <a:r>
              <a:rPr lang="ko-KR" altLang="en-US" sz="1800" dirty="0"/>
              <a:t>조합회로를 거쳐 </a:t>
            </a:r>
            <a:r>
              <a:rPr lang="en-US" altLang="ko-KR" sz="1800" dirty="0"/>
              <a:t>HONG </a:t>
            </a:r>
            <a:r>
              <a:rPr lang="ko-KR" altLang="en-US" sz="1800" dirty="0"/>
              <a:t>디자인 </a:t>
            </a:r>
            <a:r>
              <a:rPr lang="ko-KR" altLang="en-US" sz="1800" dirty="0" err="1"/>
              <a:t>플립플롭의</a:t>
            </a:r>
            <a:r>
              <a:rPr lang="ko-KR" altLang="en-US" sz="1800" dirty="0"/>
              <a:t> </a:t>
            </a:r>
            <a:r>
              <a:rPr lang="en-US" altLang="ko-KR" sz="1800" dirty="0"/>
              <a:t>D</a:t>
            </a:r>
            <a:r>
              <a:rPr lang="ko-KR" altLang="en-US" sz="1800" dirty="0"/>
              <a:t>까지</a:t>
            </a:r>
            <a:endParaRPr lang="en-US" altLang="ko-KR" sz="1800" b="1" dirty="0"/>
          </a:p>
          <a:p>
            <a:pPr fontAlgn="base"/>
            <a:endParaRPr lang="en-US" altLang="ko-KR" dirty="0"/>
          </a:p>
          <a:p>
            <a:pPr fontAlgn="base"/>
            <a:endParaRPr lang="ko-KR" altLang="en-US" b="1" dirty="0"/>
          </a:p>
        </p:txBody>
      </p:sp>
      <p:pic>
        <p:nvPicPr>
          <p:cNvPr id="5" name="그림 5">
            <a:extLst>
              <a:ext uri="{FF2B5EF4-FFF2-40B4-BE49-F238E27FC236}">
                <a16:creationId xmlns:a16="http://schemas.microsoft.com/office/drawing/2014/main" id="{B78D6B4C-1B44-4E4F-879E-A0909F5B8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436" y="2401052"/>
            <a:ext cx="7515678" cy="18037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15089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BEAB29-FDDE-4630-961B-4643885B60DF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Path</a:t>
            </a:r>
          </a:p>
        </p:txBody>
      </p:sp>
      <p:pic>
        <p:nvPicPr>
          <p:cNvPr id="3" name="그림 7" descr="스크린샷, 폰트, 텍스트, 도표이(가) 표시된 사진&#10;&#10;자동 생성된 설명">
            <a:extLst>
              <a:ext uri="{FF2B5EF4-FFF2-40B4-BE49-F238E27FC236}">
                <a16:creationId xmlns:a16="http://schemas.microsoft.com/office/drawing/2014/main" id="{58C6A6D8-C598-4274-97D3-E80F1866D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68"/>
          <a:stretch/>
        </p:blipFill>
        <p:spPr>
          <a:xfrm>
            <a:off x="617294" y="1291874"/>
            <a:ext cx="10222465" cy="2365097"/>
          </a:xfrm>
          <a:prstGeom prst="rect">
            <a:avLst/>
          </a:prstGeom>
        </p:spPr>
      </p:pic>
      <p:sp>
        <p:nvSpPr>
          <p:cNvPr id="4" name="원호 8">
            <a:extLst>
              <a:ext uri="{FF2B5EF4-FFF2-40B4-BE49-F238E27FC236}">
                <a16:creationId xmlns:a16="http://schemas.microsoft.com/office/drawing/2014/main" id="{379C50BC-19C6-4142-9BF7-F93E73806F7C}"/>
              </a:ext>
            </a:extLst>
          </p:cNvPr>
          <p:cNvSpPr/>
          <p:nvPr/>
        </p:nvSpPr>
        <p:spPr bwMode="auto">
          <a:xfrm rot="18680278">
            <a:off x="4373291" y="2436236"/>
            <a:ext cx="3021136" cy="1985525"/>
          </a:xfrm>
          <a:prstGeom prst="arc">
            <a:avLst>
              <a:gd name="adj1" fmla="val 16325121"/>
              <a:gd name="adj2" fmla="val 21272136"/>
            </a:avLst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488" tIns="44450" rIns="90488" bIns="4445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Tx/>
              <a:buFontTx/>
              <a:buChar char=" "/>
              <a:tabLst/>
            </a:pPr>
            <a:endParaRPr kumimoji="0" lang="ko-KR" altLang="en-US" sz="2000" b="0" i="1" u="none" strike="noStrike" cap="none" normalizeH="0" baseline="0">
              <a:ln>
                <a:noFill/>
              </a:ln>
              <a:solidFill>
                <a:srgbClr val="6600FF"/>
              </a:solidFill>
              <a:effectLst/>
              <a:latin typeface="Arial Black" pitchFamily="34" charset="0"/>
              <a:ea typeface="굴림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F02C31D-6948-4DE0-B7C4-38E56ABF2E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977371"/>
              </p:ext>
            </p:extLst>
          </p:nvPr>
        </p:nvGraphicFramePr>
        <p:xfrm>
          <a:off x="493986" y="4165028"/>
          <a:ext cx="11204028" cy="1506855"/>
        </p:xfrm>
        <a:graphic>
          <a:graphicData uri="http://schemas.openxmlformats.org/drawingml/2006/table">
            <a:tbl>
              <a:tblPr/>
              <a:tblGrid>
                <a:gridCol w="11204028">
                  <a:extLst>
                    <a:ext uri="{9D8B030D-6E8A-4147-A177-3AD203B41FA5}">
                      <a16:colId xmlns:a16="http://schemas.microsoft.com/office/drawing/2014/main" val="2381790224"/>
                    </a:ext>
                  </a:extLst>
                </a:gridCol>
              </a:tblGrid>
              <a:tr h="133938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시간적 의미 추가</a:t>
                      </a:r>
                      <a:endParaRPr lang="en-US" altLang="ko-KR" sz="1800" b="1" kern="0" spc="-50" dirty="0">
                        <a:solidFill>
                          <a:srgbClr val="000000"/>
                        </a:solidFill>
                        <a:effectLst/>
                        <a:latin typeface="휴먼명조"/>
                        <a:ea typeface="휴먼명조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위 그림에서 빨간색 화살표로 정의하고 있는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Internal Path(Reg-to-Reg)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는 시간적인 의미도 담고 있다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Start Point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부터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End Point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까지 얼마의 시간이 걸렸는지에 대한 것인데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기본적으로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Cell Delay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와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Net Delay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의 합으로 정의한다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200" b="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293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4081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4E78C5-E99A-4F38-856A-FD732CDE55D6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Timing</a:t>
            </a:r>
          </a:p>
        </p:txBody>
      </p:sp>
      <p:graphicFrame>
        <p:nvGraphicFramePr>
          <p:cNvPr id="3" name="표 4">
            <a:extLst>
              <a:ext uri="{FF2B5EF4-FFF2-40B4-BE49-F238E27FC236}">
                <a16:creationId xmlns:a16="http://schemas.microsoft.com/office/drawing/2014/main" id="{045F0DA8-0775-458D-A98F-B047D2DBF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498294"/>
              </p:ext>
            </p:extLst>
          </p:nvPr>
        </p:nvGraphicFramePr>
        <p:xfrm>
          <a:off x="493986" y="1682178"/>
          <a:ext cx="11204028" cy="3493643"/>
        </p:xfrm>
        <a:graphic>
          <a:graphicData uri="http://schemas.openxmlformats.org/drawingml/2006/table">
            <a:tbl>
              <a:tblPr/>
              <a:tblGrid>
                <a:gridCol w="11204028">
                  <a:extLst>
                    <a:ext uri="{9D8B030D-6E8A-4147-A177-3AD203B41FA5}">
                      <a16:colId xmlns:a16="http://schemas.microsoft.com/office/drawing/2014/main" val="2381790224"/>
                    </a:ext>
                  </a:extLst>
                </a:gridCol>
              </a:tblGrid>
              <a:tr h="344148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20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타이밍 </a:t>
                      </a:r>
                      <a:r>
                        <a:rPr lang="en-US" altLang="ko-KR" sz="20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= Cell Delay + Net Delay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en-US" altLang="ko-KR" sz="1600" b="0" kern="0" spc="-50" dirty="0">
                        <a:solidFill>
                          <a:srgbClr val="000000"/>
                        </a:solidFill>
                        <a:effectLst/>
                        <a:latin typeface="휴먼명조"/>
                        <a:ea typeface="휴먼명조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 </a:t>
                      </a:r>
                      <a:r>
                        <a:rPr lang="en-US" altLang="ko-KR" sz="16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Cell Delay : </a:t>
                      </a:r>
                      <a:r>
                        <a:rPr lang="ko-KR" altLang="en-US" sz="16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셀에서 걸린 시간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600" b="0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플립플롭이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 </a:t>
                      </a:r>
                      <a:r>
                        <a:rPr lang="ko-KR" altLang="en-US" sz="1600" b="0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클록의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Rising Edge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를 인지한 시점부터 출력이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Q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핀으로 나오는데 까지 걸리는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CLK-to-Q 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시간과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AND, OR 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게이트 같은 조합회로의 동작 시간을 포함한다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200" b="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6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 Net Delay : </a:t>
                      </a:r>
                      <a:r>
                        <a:rPr lang="ko-KR" altLang="en-US" sz="16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선</a:t>
                      </a:r>
                      <a:r>
                        <a:rPr lang="en-US" altLang="ko-KR" sz="16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(Wire)</a:t>
                      </a:r>
                      <a:r>
                        <a:rPr lang="ko-KR" altLang="en-US" sz="16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에서 걸린 시간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셀과 셀은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Net(Wire)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로 연결되는데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디지털 로직처럼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Verilog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로 회로를 기술하면 자연스럽게 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Net 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연결이 방대해질 것이므로 무시할 수 없는 값이 될 것이다</a:t>
                      </a: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</a:t>
                      </a:r>
                      <a:endParaRPr lang="ko-KR" altLang="en-US" sz="1200" b="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293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7440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4E78C5-E99A-4F38-856A-FD732CDE55D6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Timing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A61CE0-8A26-4B39-8D10-ADE76E5E4B10}"/>
              </a:ext>
            </a:extLst>
          </p:cNvPr>
          <p:cNvSpPr txBox="1">
            <a:spLocks/>
          </p:cNvSpPr>
          <p:nvPr/>
        </p:nvSpPr>
        <p:spPr>
          <a:xfrm>
            <a:off x="513997" y="1121662"/>
            <a:ext cx="11414234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Path</a:t>
            </a:r>
            <a:r>
              <a:rPr lang="ko-KR" altLang="en-US" sz="2000" b="1" dirty="0"/>
              <a:t>의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종합적 이해 </a:t>
            </a:r>
            <a:endParaRPr lang="en-US" altLang="ko-KR" sz="2000" b="1" dirty="0"/>
          </a:p>
          <a:p>
            <a:pPr lvl="1" fontAlgn="base"/>
            <a:r>
              <a:rPr lang="ko-KR" altLang="en-US" sz="1800" dirty="0"/>
              <a:t>모든 </a:t>
            </a:r>
            <a:r>
              <a:rPr lang="en-US" altLang="ko-KR" sz="1800" dirty="0"/>
              <a:t>Path</a:t>
            </a:r>
            <a:r>
              <a:rPr lang="ko-KR" altLang="en-US" sz="1800" dirty="0"/>
              <a:t>는 </a:t>
            </a:r>
            <a:r>
              <a:rPr lang="ko-KR" altLang="en-US" sz="1800" dirty="0" err="1"/>
              <a:t>플립플롭을</a:t>
            </a:r>
            <a:r>
              <a:rPr lang="ko-KR" altLang="en-US" sz="1800" dirty="0"/>
              <a:t> 기준으로 구분</a:t>
            </a:r>
            <a:r>
              <a:rPr lang="en-US" altLang="ko-KR" sz="1800" dirty="0"/>
              <a:t>, Path</a:t>
            </a:r>
            <a:r>
              <a:rPr lang="ko-KR" altLang="en-US" sz="1800" dirty="0"/>
              <a:t>의 시간적 거리는 </a:t>
            </a:r>
            <a:r>
              <a:rPr lang="ko-KR" altLang="en-US" sz="1800" dirty="0" err="1"/>
              <a:t>클록</a:t>
            </a:r>
            <a:r>
              <a:rPr lang="ko-KR" altLang="en-US" sz="1800" dirty="0"/>
              <a:t> 펄스 한 주기</a:t>
            </a:r>
            <a:endParaRPr lang="en-US" altLang="ko-KR" sz="1800" dirty="0"/>
          </a:p>
          <a:p>
            <a:pPr fontAlgn="base"/>
            <a:endParaRPr lang="en-US" altLang="ko-KR" b="1" dirty="0"/>
          </a:p>
          <a:p>
            <a:pPr fontAlgn="base"/>
            <a:r>
              <a:rPr lang="ko-KR" altLang="en-US" sz="2000" b="1" dirty="0"/>
              <a:t>아래 그림의 예 </a:t>
            </a:r>
            <a:endParaRPr lang="en-US" altLang="ko-KR" sz="2000" b="1" dirty="0"/>
          </a:p>
          <a:p>
            <a:pPr lvl="1" fontAlgn="base"/>
            <a:r>
              <a:rPr lang="ko-KR" altLang="en-US" sz="1800" dirty="0"/>
              <a:t>주기가 </a:t>
            </a:r>
            <a:r>
              <a:rPr lang="en-US" altLang="ko-KR" sz="1800" dirty="0"/>
              <a:t>4ns</a:t>
            </a:r>
            <a:r>
              <a:rPr lang="ko-KR" altLang="en-US" sz="1800" dirty="0"/>
              <a:t>라고 하면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앞선 </a:t>
            </a:r>
            <a:r>
              <a:rPr lang="ko-KR" altLang="en-US" sz="1800" dirty="0" err="1"/>
              <a:t>플립플롭</a:t>
            </a:r>
            <a:r>
              <a:rPr lang="ko-KR" altLang="en-US" sz="1800" dirty="0"/>
              <a:t> </a:t>
            </a:r>
            <a:r>
              <a:rPr lang="ko-KR" altLang="en-US" sz="1800" dirty="0" err="1"/>
              <a:t>클록</a:t>
            </a:r>
            <a:r>
              <a:rPr lang="ko-KR" altLang="en-US" sz="1800" dirty="0"/>
              <a:t> 핀부터 다음 </a:t>
            </a:r>
            <a:r>
              <a:rPr lang="ko-KR" altLang="en-US" sz="1800" dirty="0" err="1"/>
              <a:t>플립플롭의</a:t>
            </a:r>
            <a:r>
              <a:rPr lang="ko-KR" altLang="en-US" sz="1800" dirty="0"/>
              <a:t> </a:t>
            </a:r>
            <a:r>
              <a:rPr lang="en-US" altLang="ko-KR" sz="1800" dirty="0"/>
              <a:t>D</a:t>
            </a:r>
            <a:r>
              <a:rPr lang="ko-KR" altLang="en-US" sz="1800" dirty="0"/>
              <a:t>까지로 정의되는 </a:t>
            </a:r>
            <a:r>
              <a:rPr lang="en-US" altLang="ko-KR" sz="1800" dirty="0"/>
              <a:t>Path</a:t>
            </a:r>
            <a:r>
              <a:rPr lang="ko-KR" altLang="en-US" sz="1800" dirty="0"/>
              <a:t>는 </a:t>
            </a:r>
            <a:r>
              <a:rPr lang="en-US" altLang="ko-KR" sz="1800" dirty="0"/>
              <a:t>4ns </a:t>
            </a:r>
            <a:r>
              <a:rPr lang="ko-KR" altLang="en-US" sz="1800" dirty="0"/>
              <a:t>이내에 신호가 도착해야 함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Path </a:t>
            </a:r>
            <a:r>
              <a:rPr lang="ko-KR" altLang="en-US" sz="1800" dirty="0"/>
              <a:t>내의 모든 </a:t>
            </a:r>
            <a:r>
              <a:rPr lang="en-US" altLang="ko-KR" sz="1800" dirty="0"/>
              <a:t>Cell Delay</a:t>
            </a:r>
            <a:r>
              <a:rPr lang="ko-KR" altLang="en-US" sz="1800" dirty="0"/>
              <a:t>와 </a:t>
            </a:r>
            <a:r>
              <a:rPr lang="en-US" altLang="ko-KR" sz="1800" dirty="0"/>
              <a:t>Net Delay</a:t>
            </a:r>
            <a:r>
              <a:rPr lang="ko-KR" altLang="en-US" sz="1800" dirty="0"/>
              <a:t>를 모두 합한 시간이 </a:t>
            </a:r>
            <a:r>
              <a:rPr lang="en-US" altLang="ko-KR" sz="1800" dirty="0"/>
              <a:t>4ns</a:t>
            </a:r>
            <a:r>
              <a:rPr lang="ko-KR" altLang="en-US" sz="1800" dirty="0"/>
              <a:t>보다 적어야만 한다는 것이다</a:t>
            </a:r>
            <a:r>
              <a:rPr lang="en-US" altLang="ko-KR" sz="1800" dirty="0"/>
              <a:t>. </a:t>
            </a:r>
          </a:p>
          <a:p>
            <a:pPr lvl="1" fontAlgn="base"/>
            <a:r>
              <a:rPr lang="en-US" altLang="ko-KR" sz="1800" dirty="0"/>
              <a:t>Setup Time Requirement</a:t>
            </a:r>
            <a:r>
              <a:rPr lang="ko-KR" altLang="en-US" sz="1800" dirty="0"/>
              <a:t>가 </a:t>
            </a:r>
            <a:r>
              <a:rPr lang="en-US" altLang="ko-KR" sz="1800" dirty="0"/>
              <a:t>0.3ns</a:t>
            </a:r>
            <a:r>
              <a:rPr lang="ko-KR" altLang="en-US" sz="1800" dirty="0"/>
              <a:t>라면 </a:t>
            </a:r>
            <a:r>
              <a:rPr lang="en-US" altLang="ko-KR" sz="1800" dirty="0"/>
              <a:t>3.7ns</a:t>
            </a:r>
            <a:r>
              <a:rPr lang="ko-KR" altLang="en-US" sz="1800" dirty="0"/>
              <a:t>가 되기 전에 </a:t>
            </a:r>
            <a:r>
              <a:rPr lang="en-US" altLang="ko-KR" sz="1800" dirty="0"/>
              <a:t>0 </a:t>
            </a:r>
            <a:r>
              <a:rPr lang="ko-KR" altLang="en-US" sz="1800" dirty="0"/>
              <a:t>또는 </a:t>
            </a:r>
            <a:r>
              <a:rPr lang="en-US" altLang="ko-KR" sz="1800" dirty="0"/>
              <a:t>1</a:t>
            </a:r>
            <a:r>
              <a:rPr lang="ko-KR" altLang="en-US" sz="1800" dirty="0"/>
              <a:t>값이 다음 </a:t>
            </a:r>
            <a:r>
              <a:rPr lang="en-US" altLang="ko-KR" sz="1800" dirty="0"/>
              <a:t>FF</a:t>
            </a:r>
            <a:r>
              <a:rPr lang="ko-KR" altLang="en-US" sz="1800" dirty="0"/>
              <a:t>의 </a:t>
            </a:r>
            <a:r>
              <a:rPr lang="en-US" altLang="ko-KR" sz="1800" dirty="0"/>
              <a:t>D</a:t>
            </a:r>
            <a:r>
              <a:rPr lang="ko-KR" altLang="en-US" sz="1800" dirty="0"/>
              <a:t>에 도착해야 함</a:t>
            </a:r>
            <a:r>
              <a:rPr lang="en-US" altLang="ko-KR" sz="1800" dirty="0"/>
              <a:t> </a:t>
            </a:r>
            <a:endParaRPr lang="ko-KR" altLang="en-US" sz="1800" dirty="0"/>
          </a:p>
        </p:txBody>
      </p:sp>
      <p:pic>
        <p:nvPicPr>
          <p:cNvPr id="5" name="그림 7">
            <a:extLst>
              <a:ext uri="{FF2B5EF4-FFF2-40B4-BE49-F238E27FC236}">
                <a16:creationId xmlns:a16="http://schemas.microsoft.com/office/drawing/2014/main" id="{56C17715-491F-43BF-AF54-88F325745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206" y="4066565"/>
            <a:ext cx="6267450" cy="23907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34800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48BAA-9ADC-45C7-B6D0-CBF70C034E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BD4A0B-A2EA-4823-857A-3B47982FEFD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9396F-2DC7-9F2F-8212-5AC8FDA579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4639" y="4935172"/>
            <a:ext cx="11195050" cy="71278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4. Constraints</a:t>
            </a:r>
          </a:p>
        </p:txBody>
      </p:sp>
    </p:spTree>
    <p:extLst>
      <p:ext uri="{BB962C8B-B14F-4D97-AF65-F5344CB8AC3E}">
        <p14:creationId xmlns:p14="http://schemas.microsoft.com/office/powerpoint/2010/main" val="1302726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31276C-EEF3-437D-8887-B1A8C44BD2E5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Notion of Constraints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ED77A2-E89D-4D44-A169-680810FF8179}"/>
              </a:ext>
            </a:extLst>
          </p:cNvPr>
          <p:cNvSpPr txBox="1">
            <a:spLocks/>
          </p:cNvSpPr>
          <p:nvPr/>
        </p:nvSpPr>
        <p:spPr>
          <a:xfrm>
            <a:off x="617294" y="919772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>
                <a:solidFill>
                  <a:srgbClr val="FF0000"/>
                </a:solidFill>
              </a:rPr>
              <a:t>Constraint</a:t>
            </a:r>
            <a:r>
              <a:rPr lang="ko-KR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</a:rPr>
              <a:t>=</a:t>
            </a:r>
            <a:r>
              <a:rPr lang="ko-KR" altLang="en-US" sz="2000" b="1" dirty="0">
                <a:solidFill>
                  <a:srgbClr val="FF0000"/>
                </a:solidFill>
              </a:rPr>
              <a:t> 제약 조건 </a:t>
            </a:r>
            <a:r>
              <a:rPr lang="en-US" altLang="ko-KR" sz="2000" b="1" dirty="0">
                <a:solidFill>
                  <a:srgbClr val="FF0000"/>
                </a:solidFill>
              </a:rPr>
              <a:t>=</a:t>
            </a:r>
            <a:r>
              <a:rPr lang="ko-KR" altLang="en-US" sz="2000" b="1" dirty="0">
                <a:solidFill>
                  <a:srgbClr val="FF0000"/>
                </a:solidFill>
              </a:rPr>
              <a:t> 스펙</a:t>
            </a:r>
            <a:endParaRPr lang="en-US" altLang="ko-KR" sz="2000" b="1" dirty="0">
              <a:solidFill>
                <a:srgbClr val="FF0000"/>
              </a:solidFill>
            </a:endParaRPr>
          </a:p>
          <a:p>
            <a:pPr fontAlgn="base"/>
            <a:r>
              <a:rPr lang="ko-KR" altLang="en-US" sz="2000" b="1" dirty="0"/>
              <a:t>칩이 동작할 때 만족해야 하는 사항들을 모두 적어서 </a:t>
            </a:r>
            <a:r>
              <a:rPr lang="en-US" altLang="ko-KR" sz="2000" b="1" dirty="0"/>
              <a:t>EDA </a:t>
            </a:r>
            <a:r>
              <a:rPr lang="ko-KR" altLang="en-US" sz="2000" b="1" dirty="0"/>
              <a:t>툴에게 알려주면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툴은 해당 내용들을 모두 만족하는 칩이 될 수 있도록 구현해 줌</a:t>
            </a:r>
          </a:p>
        </p:txBody>
      </p:sp>
      <p:pic>
        <p:nvPicPr>
          <p:cNvPr id="4" name="그림 5">
            <a:extLst>
              <a:ext uri="{FF2B5EF4-FFF2-40B4-BE49-F238E27FC236}">
                <a16:creationId xmlns:a16="http://schemas.microsoft.com/office/drawing/2014/main" id="{4C50A199-CF65-4594-8610-748602338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416" y="2174392"/>
            <a:ext cx="9404145" cy="42176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75129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7DBB21-4AC6-498F-B1B7-DFC6E610C796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Basic Condition</a:t>
            </a:r>
          </a:p>
        </p:txBody>
      </p:sp>
      <p:graphicFrame>
        <p:nvGraphicFramePr>
          <p:cNvPr id="3" name="표 4">
            <a:extLst>
              <a:ext uri="{FF2B5EF4-FFF2-40B4-BE49-F238E27FC236}">
                <a16:creationId xmlns:a16="http://schemas.microsoft.com/office/drawing/2014/main" id="{8DFBC7BC-36FF-4CD0-BB68-DFA7DB013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806485"/>
              </p:ext>
            </p:extLst>
          </p:nvPr>
        </p:nvGraphicFramePr>
        <p:xfrm>
          <a:off x="617294" y="1280089"/>
          <a:ext cx="4083775" cy="963806"/>
        </p:xfrm>
        <a:graphic>
          <a:graphicData uri="http://schemas.openxmlformats.org/drawingml/2006/table">
            <a:tbl>
              <a:tblPr/>
              <a:tblGrid>
                <a:gridCol w="4083775">
                  <a:extLst>
                    <a:ext uri="{9D8B030D-6E8A-4147-A177-3AD203B41FA5}">
                      <a16:colId xmlns:a16="http://schemas.microsoft.com/office/drawing/2014/main" val="337250762"/>
                    </a:ext>
                  </a:extLst>
                </a:gridCol>
              </a:tblGrid>
              <a:tr h="96380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 </a:t>
                      </a:r>
                      <a:r>
                        <a:rPr lang="ko-KR" altLang="en-US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설계는 기본적으로 </a:t>
                      </a:r>
                      <a:r>
                        <a:rPr lang="en-US" altLang="ko-KR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Single </a:t>
                      </a:r>
                      <a:r>
                        <a:rPr lang="ko-KR" altLang="en-US" sz="1200" b="1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클록</a:t>
                      </a:r>
                      <a:r>
                        <a:rPr lang="en-US" altLang="ko-KR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</a:t>
                      </a:r>
                      <a:r>
                        <a:rPr lang="ko-KR" altLang="en-US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한 주기 </a:t>
                      </a:r>
                      <a:r>
                        <a:rPr lang="ko-KR" altLang="en-US" sz="1200" b="1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클록</a:t>
                      </a:r>
                      <a:r>
                        <a:rPr lang="en-US" altLang="ko-KR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) </a:t>
                      </a:r>
                      <a:r>
                        <a:rPr lang="ko-KR" altLang="en-US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단위로 동작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 </a:t>
                      </a:r>
                      <a:r>
                        <a:rPr lang="ko-KR" altLang="en-US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상승 에지</a:t>
                      </a:r>
                      <a:r>
                        <a:rPr lang="en-US" altLang="ko-KR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(Positive Edge)</a:t>
                      </a:r>
                      <a:r>
                        <a:rPr lang="ko-KR" altLang="en-US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를 기준으로 신호 처리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 </a:t>
                      </a:r>
                      <a:r>
                        <a:rPr lang="ko-KR" altLang="en-US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모든 디자인은 동기화된 같은 </a:t>
                      </a:r>
                      <a:r>
                        <a:rPr lang="ko-KR" altLang="en-US" sz="1200" b="1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클록</a:t>
                      </a:r>
                      <a:r>
                        <a:rPr lang="ko-KR" altLang="en-US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 사용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707633"/>
                  </a:ext>
                </a:extLst>
              </a:tr>
            </a:tbl>
          </a:graphicData>
        </a:graphic>
      </p:graphicFrame>
      <p:grpSp>
        <p:nvGrpSpPr>
          <p:cNvPr id="4" name="그룹 6">
            <a:extLst>
              <a:ext uri="{FF2B5EF4-FFF2-40B4-BE49-F238E27FC236}">
                <a16:creationId xmlns:a16="http://schemas.microsoft.com/office/drawing/2014/main" id="{5D73A11B-A7FE-4659-8D53-07C8D0CE81D4}"/>
              </a:ext>
            </a:extLst>
          </p:cNvPr>
          <p:cNvGrpSpPr/>
          <p:nvPr/>
        </p:nvGrpSpPr>
        <p:grpSpPr>
          <a:xfrm>
            <a:off x="1342442" y="2731766"/>
            <a:ext cx="8449790" cy="2724957"/>
            <a:chOff x="1667757" y="2531106"/>
            <a:chExt cx="8449790" cy="2724957"/>
          </a:xfrm>
          <a:solidFill>
            <a:schemeClr val="bg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546FB4-6DF8-4AFC-8C62-6FD0DE3D3A2F}"/>
                </a:ext>
              </a:extLst>
            </p:cNvPr>
            <p:cNvSpPr txBox="1"/>
            <p:nvPr/>
          </p:nvSpPr>
          <p:spPr>
            <a:xfrm>
              <a:off x="8020219" y="2531106"/>
              <a:ext cx="2097328" cy="58477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/>
                <a:t>Assumed external capturing circuitry</a:t>
              </a:r>
              <a:endParaRPr lang="ko-KR" altLang="en-US" sz="1600" b="1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AFF09AE-0968-490B-8F87-7939202B2AB5}"/>
                </a:ext>
              </a:extLst>
            </p:cNvPr>
            <p:cNvSpPr txBox="1"/>
            <p:nvPr/>
          </p:nvSpPr>
          <p:spPr>
            <a:xfrm>
              <a:off x="2844497" y="2531107"/>
              <a:ext cx="2499360" cy="58477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/>
                <a:t>Assumed external launching circuitry</a:t>
              </a:r>
              <a:endParaRPr lang="ko-KR" altLang="en-US" sz="1600" b="1"/>
            </a:p>
          </p:txBody>
        </p:sp>
        <p:sp>
          <p:nvSpPr>
            <p:cNvPr id="7" name="직사각형 9">
              <a:extLst>
                <a:ext uri="{FF2B5EF4-FFF2-40B4-BE49-F238E27FC236}">
                  <a16:creationId xmlns:a16="http://schemas.microsoft.com/office/drawing/2014/main" id="{7114D089-7863-459A-A49D-B32AD9275C96}"/>
                </a:ext>
              </a:extLst>
            </p:cNvPr>
            <p:cNvSpPr/>
            <p:nvPr/>
          </p:nvSpPr>
          <p:spPr bwMode="auto">
            <a:xfrm>
              <a:off x="2610402" y="2790744"/>
              <a:ext cx="216024" cy="2122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488" tIns="44450" rIns="90488" bIns="4445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342900" indent="-342900"/>
              <a:r>
                <a:rPr lang="en-US" altLang="ko-KR" sz="1600" i="1">
                  <a:solidFill>
                    <a:srgbClr val="FF0000"/>
                  </a:solidFill>
                  <a:latin typeface="Arial Black" pitchFamily="34" charset="0"/>
                  <a:ea typeface="굴림" pitchFamily="50" charset="-127"/>
                </a:rPr>
                <a:t>V</a:t>
              </a:r>
              <a:endParaRPr lang="ko-KR" altLang="en-US" sz="1600" i="1">
                <a:solidFill>
                  <a:srgbClr val="FF0000"/>
                </a:solidFill>
                <a:latin typeface="Arial Black" pitchFamily="34" charset="0"/>
                <a:ea typeface="굴림" pitchFamily="50" charset="-127"/>
              </a:endParaRPr>
            </a:p>
          </p:txBody>
        </p:sp>
        <p:sp>
          <p:nvSpPr>
            <p:cNvPr id="8" name="직사각형 10">
              <a:extLst>
                <a:ext uri="{FF2B5EF4-FFF2-40B4-BE49-F238E27FC236}">
                  <a16:creationId xmlns:a16="http://schemas.microsoft.com/office/drawing/2014/main" id="{B9532C7A-60CD-4BFF-AE79-F66E762B6977}"/>
                </a:ext>
              </a:extLst>
            </p:cNvPr>
            <p:cNvSpPr/>
            <p:nvPr/>
          </p:nvSpPr>
          <p:spPr bwMode="auto">
            <a:xfrm>
              <a:off x="7804195" y="2790743"/>
              <a:ext cx="216024" cy="2122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488" tIns="44450" rIns="90488" bIns="4445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342900" indent="-342900"/>
              <a:r>
                <a:rPr lang="en-US" altLang="ko-KR" sz="1600" i="1">
                  <a:solidFill>
                    <a:srgbClr val="FF0000"/>
                  </a:solidFill>
                  <a:latin typeface="Arial Black" pitchFamily="34" charset="0"/>
                  <a:ea typeface="굴림" pitchFamily="50" charset="-127"/>
                </a:rPr>
                <a:t>V</a:t>
              </a:r>
              <a:endParaRPr lang="ko-KR" altLang="en-US" sz="1600" i="1">
                <a:solidFill>
                  <a:srgbClr val="FF0000"/>
                </a:solidFill>
                <a:latin typeface="Arial Black" pitchFamily="34" charset="0"/>
                <a:ea typeface="굴림" pitchFamily="50" charset="-127"/>
              </a:endParaRPr>
            </a:p>
          </p:txBody>
        </p:sp>
        <p:cxnSp>
          <p:nvCxnSpPr>
            <p:cNvPr id="9" name="직선 연결선 11">
              <a:extLst>
                <a:ext uri="{FF2B5EF4-FFF2-40B4-BE49-F238E27FC236}">
                  <a16:creationId xmlns:a16="http://schemas.microsoft.com/office/drawing/2014/main" id="{B455C406-DD8D-4FE7-BDC1-80A7705D4C05}"/>
                </a:ext>
              </a:extLst>
            </p:cNvPr>
            <p:cNvCxnSpPr/>
            <p:nvPr/>
          </p:nvCxnSpPr>
          <p:spPr bwMode="auto">
            <a:xfrm>
              <a:off x="2889180" y="3098736"/>
              <a:ext cx="1008112" cy="0"/>
            </a:xfrm>
            <a:prstGeom prst="line">
              <a:avLst/>
            </a:prstGeom>
            <a:grpFill/>
            <a:ln w="444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직선 연결선 12">
              <a:extLst>
                <a:ext uri="{FF2B5EF4-FFF2-40B4-BE49-F238E27FC236}">
                  <a16:creationId xmlns:a16="http://schemas.microsoft.com/office/drawing/2014/main" id="{EBFA3578-3D5C-4BE6-9CCE-1AE3C0C48B06}"/>
                </a:ext>
              </a:extLst>
            </p:cNvPr>
            <p:cNvCxnSpPr/>
            <p:nvPr/>
          </p:nvCxnSpPr>
          <p:spPr bwMode="auto">
            <a:xfrm>
              <a:off x="8060771" y="3098736"/>
              <a:ext cx="1008112" cy="0"/>
            </a:xfrm>
            <a:prstGeom prst="line">
              <a:avLst/>
            </a:prstGeom>
            <a:grpFill/>
            <a:ln w="444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11" name="그림 13" descr="스크린샷, 폰트, 텍스트, 도표이(가) 표시된 사진&#10;&#10;자동 생성된 설명">
              <a:extLst>
                <a:ext uri="{FF2B5EF4-FFF2-40B4-BE49-F238E27FC236}">
                  <a16:creationId xmlns:a16="http://schemas.microsoft.com/office/drawing/2014/main" id="{599F271A-AD34-4B16-9876-9B573B69C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7757" y="3103698"/>
              <a:ext cx="8264019" cy="2152365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26759451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EE7A9-AF36-4457-928F-720EF33C6055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Internal Paths(Reg-to-Reg)</a:t>
            </a: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3A6D8735-E3B1-4173-9E15-09C99AB79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678" y="1634718"/>
            <a:ext cx="7906715" cy="3588564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6166362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EE7A9-AF36-4457-928F-720EF33C6055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Internal Paths(Reg-to-Reg)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07E90A3-50DB-4009-B487-5B16FB622605}"/>
              </a:ext>
            </a:extLst>
          </p:cNvPr>
          <p:cNvSpPr txBox="1">
            <a:spLocks/>
          </p:cNvSpPr>
          <p:nvPr/>
        </p:nvSpPr>
        <p:spPr>
          <a:xfrm>
            <a:off x="617294" y="1121662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Internal Paths(Reg-to-Reg)</a:t>
            </a:r>
          </a:p>
          <a:p>
            <a:pPr lvl="1" fontAlgn="base"/>
            <a:r>
              <a:rPr lang="ko-KR" altLang="en-US" sz="1800" dirty="0" err="1"/>
              <a:t>클록</a:t>
            </a:r>
            <a:r>
              <a:rPr lang="ko-KR" altLang="en-US" sz="1800" dirty="0"/>
              <a:t> 주기 설정</a:t>
            </a:r>
          </a:p>
        </p:txBody>
      </p:sp>
      <p:pic>
        <p:nvPicPr>
          <p:cNvPr id="5" name="그림 5">
            <a:extLst>
              <a:ext uri="{FF2B5EF4-FFF2-40B4-BE49-F238E27FC236}">
                <a16:creationId xmlns:a16="http://schemas.microsoft.com/office/drawing/2014/main" id="{9E40B3C3-E321-4528-A3F1-1A00F1856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44" y="1969111"/>
            <a:ext cx="6274411" cy="664166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6267101-29A8-429D-BA0D-C4D21FA19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99" y="2701367"/>
            <a:ext cx="6934200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7">
            <a:extLst>
              <a:ext uri="{FF2B5EF4-FFF2-40B4-BE49-F238E27FC236}">
                <a16:creationId xmlns:a16="http://schemas.microsoft.com/office/drawing/2014/main" id="{CC6EB9A3-B2BA-4201-8735-53948E6FE24B}"/>
              </a:ext>
            </a:extLst>
          </p:cNvPr>
          <p:cNvSpPr/>
          <p:nvPr/>
        </p:nvSpPr>
        <p:spPr>
          <a:xfrm>
            <a:off x="1653320" y="5400616"/>
            <a:ext cx="6124575" cy="3868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클록</a:t>
            </a:r>
            <a:r>
              <a:rPr lang="ko-KR" altLang="en-US" sz="1600" dirty="0">
                <a:solidFill>
                  <a:schemeClr val="tx1"/>
                </a:solidFill>
              </a:rPr>
              <a:t> 주기 설정 </a:t>
            </a:r>
            <a:r>
              <a:rPr lang="en-US" altLang="ko-KR" sz="1600" dirty="0">
                <a:solidFill>
                  <a:schemeClr val="tx1"/>
                </a:solidFill>
              </a:rPr>
              <a:t>= Internal Path(Reg-to-Reg)</a:t>
            </a:r>
            <a:r>
              <a:rPr lang="ko-KR" altLang="en-US" sz="1600" dirty="0">
                <a:solidFill>
                  <a:schemeClr val="tx1"/>
                </a:solidFill>
              </a:rPr>
              <a:t>의 시간적 거리 부여 </a:t>
            </a:r>
          </a:p>
        </p:txBody>
      </p:sp>
    </p:spTree>
    <p:extLst>
      <p:ext uri="{BB962C8B-B14F-4D97-AF65-F5344CB8AC3E}">
        <p14:creationId xmlns:p14="http://schemas.microsoft.com/office/powerpoint/2010/main" val="1216297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EE7A9-AF36-4457-928F-720EF33C6055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Internal Paths(Reg-to-Reg)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0D2793C-E720-4E83-938D-8591FD6DB422}"/>
              </a:ext>
            </a:extLst>
          </p:cNvPr>
          <p:cNvSpPr txBox="1">
            <a:spLocks/>
          </p:cNvSpPr>
          <p:nvPr/>
        </p:nvSpPr>
        <p:spPr>
          <a:xfrm>
            <a:off x="549772" y="1077701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Internal Paths(Reg-to-Reg)</a:t>
            </a:r>
          </a:p>
          <a:p>
            <a:pPr lvl="1" fontAlgn="base"/>
            <a:r>
              <a:rPr lang="ko-KR" altLang="en-US" sz="1800" dirty="0" err="1"/>
              <a:t>클록</a:t>
            </a:r>
            <a:r>
              <a:rPr lang="ko-KR" altLang="en-US" sz="1800" dirty="0"/>
              <a:t> </a:t>
            </a:r>
            <a:r>
              <a:rPr lang="en-US" altLang="ko-KR" sz="1800" dirty="0"/>
              <a:t>Uncertainty(</a:t>
            </a:r>
            <a:r>
              <a:rPr lang="ko-KR" altLang="en-US" sz="1800" dirty="0"/>
              <a:t>불확실성</a:t>
            </a:r>
            <a:r>
              <a:rPr lang="en-US" altLang="ko-KR" sz="1800" dirty="0"/>
              <a:t>) : </a:t>
            </a:r>
            <a:r>
              <a:rPr lang="en-US" altLang="ko-KR" sz="1800" i="1" dirty="0"/>
              <a:t>Skew + Jitter + Margin</a:t>
            </a:r>
          </a:p>
          <a:p>
            <a:pPr lvl="2" fontAlgn="base"/>
            <a:r>
              <a:rPr lang="en-US" altLang="ko-KR" sz="1600" dirty="0"/>
              <a:t>Skew: </a:t>
            </a:r>
            <a:r>
              <a:rPr lang="ko-KR" altLang="en-US" sz="1600" dirty="0">
                <a:solidFill>
                  <a:srgbClr val="FF0000"/>
                </a:solidFill>
              </a:rPr>
              <a:t>각 </a:t>
            </a:r>
            <a:r>
              <a:rPr lang="en-US" altLang="ko-KR" sz="1600" dirty="0">
                <a:solidFill>
                  <a:srgbClr val="FF0000"/>
                </a:solidFill>
              </a:rPr>
              <a:t>Reg</a:t>
            </a:r>
            <a:r>
              <a:rPr lang="ko-KR" altLang="en-US" sz="1600" dirty="0">
                <a:solidFill>
                  <a:srgbClr val="FF0000"/>
                </a:solidFill>
              </a:rPr>
              <a:t>가 </a:t>
            </a:r>
            <a:r>
              <a:rPr lang="ko-KR" altLang="en-US" sz="1600" dirty="0" err="1">
                <a:solidFill>
                  <a:srgbClr val="FF0000"/>
                </a:solidFill>
              </a:rPr>
              <a:t>클록을</a:t>
            </a:r>
            <a:r>
              <a:rPr lang="ko-KR" altLang="en-US" sz="1600" dirty="0">
                <a:solidFill>
                  <a:srgbClr val="FF0000"/>
                </a:solidFill>
              </a:rPr>
              <a:t> 인식하는 </a:t>
            </a:r>
            <a:r>
              <a:rPr lang="ko-KR" altLang="en-US" sz="1600" dirty="0" err="1">
                <a:solidFill>
                  <a:srgbClr val="FF0000"/>
                </a:solidFill>
              </a:rPr>
              <a:t>시점간의</a:t>
            </a:r>
            <a:r>
              <a:rPr lang="ko-KR" altLang="en-US" sz="1600" dirty="0">
                <a:solidFill>
                  <a:srgbClr val="FF0000"/>
                </a:solidFill>
              </a:rPr>
              <a:t> 차이</a:t>
            </a:r>
            <a:r>
              <a:rPr lang="en-US" altLang="ko-KR" sz="1600" dirty="0">
                <a:solidFill>
                  <a:srgbClr val="FF0000"/>
                </a:solidFill>
              </a:rPr>
              <a:t>(</a:t>
            </a:r>
            <a:r>
              <a:rPr lang="ko-KR" altLang="en-US" sz="1600" dirty="0">
                <a:solidFill>
                  <a:srgbClr val="FF0000"/>
                </a:solidFill>
              </a:rPr>
              <a:t>아래 그림</a:t>
            </a:r>
            <a:r>
              <a:rPr lang="en-US" altLang="ko-KR" sz="1600" dirty="0">
                <a:solidFill>
                  <a:srgbClr val="FF0000"/>
                </a:solidFill>
              </a:rPr>
              <a:t>)</a:t>
            </a:r>
            <a:r>
              <a:rPr lang="ko-KR" altLang="en-US" sz="1600" dirty="0"/>
              <a:t>로</a:t>
            </a:r>
            <a:r>
              <a:rPr lang="en-US" altLang="ko-KR" sz="1600" dirty="0"/>
              <a:t>, </a:t>
            </a:r>
            <a:r>
              <a:rPr lang="ko-KR" altLang="en-US" sz="1600" dirty="0"/>
              <a:t>세 요소 중 가장 높은 비중을 차지</a:t>
            </a:r>
            <a:r>
              <a:rPr lang="en-US" altLang="ko-KR" sz="1600" dirty="0"/>
              <a:t> </a:t>
            </a:r>
            <a:endParaRPr lang="ko-KR" altLang="en-US" sz="1600" dirty="0"/>
          </a:p>
          <a:p>
            <a:pPr lvl="2" fontAlgn="base"/>
            <a:r>
              <a:rPr lang="en-US" altLang="ko-KR" sz="1600" dirty="0"/>
              <a:t>Jitter: </a:t>
            </a:r>
            <a:r>
              <a:rPr lang="ko-KR" altLang="en-US" sz="1600" dirty="0" err="1">
                <a:solidFill>
                  <a:srgbClr val="FF0000"/>
                </a:solidFill>
              </a:rPr>
              <a:t>클록</a:t>
            </a:r>
            <a:r>
              <a:rPr lang="ko-KR" altLang="en-US" sz="1600" dirty="0">
                <a:solidFill>
                  <a:srgbClr val="FF0000"/>
                </a:solidFill>
              </a:rPr>
              <a:t> 신호 위상의 미세한 변동</a:t>
            </a:r>
            <a:r>
              <a:rPr lang="en-US" altLang="ko-KR" sz="1600" dirty="0"/>
              <a:t>. </a:t>
            </a:r>
            <a:r>
              <a:rPr lang="ko-KR" altLang="en-US" sz="1600" dirty="0"/>
              <a:t>이상적인 </a:t>
            </a:r>
            <a:r>
              <a:rPr lang="ko-KR" altLang="en-US" sz="1600" dirty="0" err="1"/>
              <a:t>클록</a:t>
            </a:r>
            <a:r>
              <a:rPr lang="ko-KR" altLang="en-US" sz="1600" dirty="0"/>
              <a:t> 신호 대비 실제 신호가 </a:t>
            </a:r>
            <a:r>
              <a:rPr lang="ko-KR" altLang="en-US" sz="1600" dirty="0" err="1"/>
              <a:t>시간축상으로</a:t>
            </a:r>
            <a:r>
              <a:rPr lang="ko-KR" altLang="en-US" sz="1600" dirty="0"/>
              <a:t> 빠르거나 늦게 도착하여 좌우로 흔들려 보임</a:t>
            </a:r>
          </a:p>
          <a:p>
            <a:pPr lvl="2" fontAlgn="base"/>
            <a:r>
              <a:rPr lang="en-US" altLang="ko-KR" sz="1600" dirty="0"/>
              <a:t>Margin: </a:t>
            </a:r>
            <a:r>
              <a:rPr lang="ko-KR" altLang="en-US" sz="1600" dirty="0"/>
              <a:t>설계</a:t>
            </a:r>
            <a:r>
              <a:rPr lang="en-US" altLang="ko-KR" sz="1600" dirty="0"/>
              <a:t>/</a:t>
            </a:r>
            <a:r>
              <a:rPr lang="ko-KR" altLang="en-US" sz="1600" dirty="0"/>
              <a:t>제조 오차 대비 추가 여유 시간으로서</a:t>
            </a:r>
            <a:r>
              <a:rPr lang="en-US" altLang="ko-KR" sz="1600" dirty="0"/>
              <a:t>, </a:t>
            </a:r>
            <a:r>
              <a:rPr lang="ko-KR" altLang="en-US" sz="1600" dirty="0"/>
              <a:t>쉽게 말해 </a:t>
            </a:r>
            <a:r>
              <a:rPr lang="ko-KR" altLang="en-US" sz="1600" dirty="0">
                <a:solidFill>
                  <a:srgbClr val="FF0000"/>
                </a:solidFill>
              </a:rPr>
              <a:t>마진</a:t>
            </a:r>
          </a:p>
        </p:txBody>
      </p:sp>
      <p:pic>
        <p:nvPicPr>
          <p:cNvPr id="9" name="그림 5">
            <a:extLst>
              <a:ext uri="{FF2B5EF4-FFF2-40B4-BE49-F238E27FC236}">
                <a16:creationId xmlns:a16="http://schemas.microsoft.com/office/drawing/2014/main" id="{F80DA285-4DE8-4037-96F7-455840095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38" y="2930782"/>
            <a:ext cx="5986101" cy="996435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083FE8AF-49D3-49F7-8A33-A93D1CB84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4463" y="4037163"/>
            <a:ext cx="4531335" cy="179055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1" name="직사각형 7">
            <a:extLst>
              <a:ext uri="{FF2B5EF4-FFF2-40B4-BE49-F238E27FC236}">
                <a16:creationId xmlns:a16="http://schemas.microsoft.com/office/drawing/2014/main" id="{12C3CB4C-C0D0-4BFB-8315-7ED9790223A4}"/>
              </a:ext>
            </a:extLst>
          </p:cNvPr>
          <p:cNvSpPr/>
          <p:nvPr/>
        </p:nvSpPr>
        <p:spPr>
          <a:xfrm>
            <a:off x="2794925" y="5950243"/>
            <a:ext cx="5030410" cy="3868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Skew : </a:t>
            </a:r>
            <a:r>
              <a:rPr lang="ko-KR" altLang="en-US" sz="1600" dirty="0" err="1">
                <a:solidFill>
                  <a:schemeClr val="tx1"/>
                </a:solidFill>
              </a:rPr>
              <a:t>플립플롭이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ko-KR" altLang="en-US" sz="1600" dirty="0" err="1">
                <a:solidFill>
                  <a:schemeClr val="tx1"/>
                </a:solidFill>
              </a:rPr>
              <a:t>클록을</a:t>
            </a:r>
            <a:r>
              <a:rPr lang="ko-KR" altLang="en-US" sz="1600" dirty="0">
                <a:solidFill>
                  <a:schemeClr val="tx1"/>
                </a:solidFill>
              </a:rPr>
              <a:t> 인지하는 시점의 차이</a:t>
            </a:r>
          </a:p>
        </p:txBody>
      </p:sp>
    </p:spTree>
    <p:extLst>
      <p:ext uri="{BB962C8B-B14F-4D97-AF65-F5344CB8AC3E}">
        <p14:creationId xmlns:p14="http://schemas.microsoft.com/office/powerpoint/2010/main" val="38618542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DB1C89-7CCB-4B71-8E54-9E50AD6AEB4D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Internal Paths(Reg-to-Reg)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595695-1AAD-46CC-930C-12507183105D}"/>
              </a:ext>
            </a:extLst>
          </p:cNvPr>
          <p:cNvSpPr txBox="1">
            <a:spLocks/>
          </p:cNvSpPr>
          <p:nvPr/>
        </p:nvSpPr>
        <p:spPr>
          <a:xfrm>
            <a:off x="617294" y="999018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Internal Paths(Reg-to-Reg)</a:t>
            </a:r>
          </a:p>
          <a:p>
            <a:pPr lvl="1" fontAlgn="base"/>
            <a:r>
              <a:rPr lang="ko-KR" altLang="en-US" sz="1800" dirty="0" err="1"/>
              <a:t>클록</a:t>
            </a:r>
            <a:r>
              <a:rPr lang="ko-KR" altLang="en-US" sz="1800" dirty="0"/>
              <a:t> </a:t>
            </a:r>
            <a:r>
              <a:rPr lang="en-US" altLang="ko-KR" sz="1800" dirty="0"/>
              <a:t>Latency(</a:t>
            </a:r>
            <a:r>
              <a:rPr lang="ko-KR" altLang="en-US" sz="1800" dirty="0"/>
              <a:t>지연</a:t>
            </a:r>
            <a:r>
              <a:rPr lang="en-US" altLang="ko-KR" sz="1800" dirty="0"/>
              <a:t>)</a:t>
            </a:r>
          </a:p>
          <a:p>
            <a:pPr lvl="2" fontAlgn="base"/>
            <a:r>
              <a:rPr lang="ko-KR" altLang="en-US" sz="1600" dirty="0" err="1"/>
              <a:t>클록</a:t>
            </a:r>
            <a:r>
              <a:rPr lang="ko-KR" altLang="en-US" sz="1600" dirty="0"/>
              <a:t> 신호가 전달되는 과정에서 발생하는 시간적 지연</a:t>
            </a:r>
            <a:r>
              <a:rPr lang="en-US" altLang="ko-KR" sz="1600" dirty="0"/>
              <a:t>(delay)</a:t>
            </a:r>
            <a:r>
              <a:rPr lang="ko-KR" altLang="en-US" sz="1600" dirty="0"/>
              <a:t>을 의미</a:t>
            </a:r>
            <a:endParaRPr lang="en-US" altLang="ko-KR" sz="1600" dirty="0"/>
          </a:p>
          <a:p>
            <a:pPr lvl="2" fontAlgn="base"/>
            <a:r>
              <a:rPr lang="ko-KR" altLang="en-US" sz="1600" dirty="0" err="1"/>
              <a:t>오실레이터</a:t>
            </a:r>
            <a:r>
              <a:rPr lang="en-US" altLang="ko-KR" sz="1600" dirty="0"/>
              <a:t>(Oscillator)</a:t>
            </a:r>
            <a:r>
              <a:rPr lang="ko-KR" altLang="en-US" sz="1600" dirty="0"/>
              <a:t>와 같은 </a:t>
            </a:r>
            <a:r>
              <a:rPr lang="ko-KR" altLang="en-US" sz="1600" dirty="0" err="1"/>
              <a:t>클록</a:t>
            </a:r>
            <a:r>
              <a:rPr lang="ko-KR" altLang="en-US" sz="1600" dirty="0"/>
              <a:t> 소스에서 시작하여 내부의 레지스터까지 오는 동안 발생하는 모든 지연시간을 포함</a:t>
            </a:r>
            <a:r>
              <a:rPr lang="en-US" altLang="ko-KR" sz="1600" dirty="0"/>
              <a:t> </a:t>
            </a:r>
          </a:p>
          <a:p>
            <a:pPr lvl="2" fontAlgn="base"/>
            <a:r>
              <a:rPr lang="en-US" altLang="ko-KR" sz="1600" dirty="0">
                <a:solidFill>
                  <a:srgbClr val="FF0000"/>
                </a:solidFill>
              </a:rPr>
              <a:t>Source Latency </a:t>
            </a:r>
            <a:r>
              <a:rPr lang="en-US" altLang="ko-KR" sz="1600" dirty="0"/>
              <a:t>: PCB </a:t>
            </a:r>
            <a:r>
              <a:rPr lang="ko-KR" altLang="en-US" sz="1600" dirty="0"/>
              <a:t>상의 </a:t>
            </a:r>
            <a:r>
              <a:rPr lang="ko-KR" altLang="en-US" sz="1600" dirty="0" err="1"/>
              <a:t>클록</a:t>
            </a:r>
            <a:r>
              <a:rPr lang="ko-KR" altLang="en-US" sz="1600" dirty="0"/>
              <a:t> 소스에서 칩까지의 지연</a:t>
            </a:r>
          </a:p>
          <a:p>
            <a:pPr lvl="2" fontAlgn="base"/>
            <a:r>
              <a:rPr lang="en-US" altLang="ko-KR" sz="1600" dirty="0">
                <a:solidFill>
                  <a:srgbClr val="FF0000"/>
                </a:solidFill>
              </a:rPr>
              <a:t>Network Latency </a:t>
            </a:r>
            <a:r>
              <a:rPr lang="en-US" altLang="ko-KR" sz="1600" dirty="0"/>
              <a:t>: </a:t>
            </a:r>
            <a:r>
              <a:rPr lang="ko-KR" altLang="en-US" sz="1600" dirty="0"/>
              <a:t>칩 내부로서</a:t>
            </a:r>
            <a:r>
              <a:rPr lang="en-US" altLang="ko-KR" sz="1600" dirty="0"/>
              <a:t>, </a:t>
            </a:r>
            <a:r>
              <a:rPr lang="ko-KR" altLang="en-US" sz="1600" dirty="0"/>
              <a:t>입력 포트부터 첫 번째 </a:t>
            </a:r>
            <a:r>
              <a:rPr lang="ko-KR" altLang="en-US" sz="1600" dirty="0" err="1"/>
              <a:t>플립플롭까지의</a:t>
            </a:r>
            <a:r>
              <a:rPr lang="ko-KR" altLang="en-US" sz="1600" dirty="0"/>
              <a:t> 지연</a:t>
            </a:r>
          </a:p>
        </p:txBody>
      </p:sp>
      <p:pic>
        <p:nvPicPr>
          <p:cNvPr id="4" name="그림 5">
            <a:extLst>
              <a:ext uri="{FF2B5EF4-FFF2-40B4-BE49-F238E27FC236}">
                <a16:creationId xmlns:a16="http://schemas.microsoft.com/office/drawing/2014/main" id="{92960F8F-8A2A-43F7-A9C5-5E8CE46F5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892" y="3165967"/>
            <a:ext cx="6633155" cy="67265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8B37F20-F045-4AEE-BCE5-C3707CF4D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203" y="3838625"/>
            <a:ext cx="6247182" cy="1862514"/>
          </a:xfrm>
          <a:prstGeom prst="rect">
            <a:avLst/>
          </a:prstGeom>
        </p:spPr>
      </p:pic>
      <p:sp>
        <p:nvSpPr>
          <p:cNvPr id="6" name="직사각형 7">
            <a:extLst>
              <a:ext uri="{FF2B5EF4-FFF2-40B4-BE49-F238E27FC236}">
                <a16:creationId xmlns:a16="http://schemas.microsoft.com/office/drawing/2014/main" id="{7902A244-FC74-4173-B2A4-75D25F9E2E1F}"/>
              </a:ext>
            </a:extLst>
          </p:cNvPr>
          <p:cNvSpPr/>
          <p:nvPr/>
        </p:nvSpPr>
        <p:spPr>
          <a:xfrm>
            <a:off x="3727939" y="5812156"/>
            <a:ext cx="3133426" cy="3868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tx1"/>
                </a:solidFill>
              </a:rPr>
              <a:t>Clock Latency : </a:t>
            </a:r>
            <a:r>
              <a:rPr lang="ko-KR" altLang="en-US" sz="1600" dirty="0" err="1">
                <a:solidFill>
                  <a:schemeClr val="tx1"/>
                </a:solidFill>
              </a:rPr>
              <a:t>클록의</a:t>
            </a:r>
            <a:r>
              <a:rPr lang="ko-KR" altLang="en-US" sz="1600" dirty="0">
                <a:solidFill>
                  <a:schemeClr val="tx1"/>
                </a:solidFill>
              </a:rPr>
              <a:t> 지연</a:t>
            </a:r>
          </a:p>
        </p:txBody>
      </p:sp>
    </p:spTree>
    <p:extLst>
      <p:ext uri="{BB962C8B-B14F-4D97-AF65-F5344CB8AC3E}">
        <p14:creationId xmlns:p14="http://schemas.microsoft.com/office/powerpoint/2010/main" val="20116798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4A3F36-9772-4DC3-9EC4-F74FF6EC9F18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Internal Paths(Reg-to-Reg)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93E2AE-8970-4091-9193-8ABC18E82921}"/>
              </a:ext>
            </a:extLst>
          </p:cNvPr>
          <p:cNvSpPr txBox="1">
            <a:spLocks/>
          </p:cNvSpPr>
          <p:nvPr/>
        </p:nvSpPr>
        <p:spPr>
          <a:xfrm>
            <a:off x="538049" y="999018"/>
            <a:ext cx="11390182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Internal Paths(Reg-to-Reg)</a:t>
            </a:r>
          </a:p>
          <a:p>
            <a:pPr lvl="1" fontAlgn="base"/>
            <a:r>
              <a:rPr lang="ko-KR" altLang="en-US" sz="1800" dirty="0" err="1"/>
              <a:t>클록</a:t>
            </a:r>
            <a:r>
              <a:rPr lang="ko-KR" altLang="en-US" sz="1800" dirty="0"/>
              <a:t> </a:t>
            </a:r>
            <a:r>
              <a:rPr lang="en-US" altLang="ko-KR" sz="1800" dirty="0"/>
              <a:t>Transition(</a:t>
            </a:r>
            <a:r>
              <a:rPr lang="ko-KR" altLang="en-US" sz="1800" dirty="0"/>
              <a:t>기울기</a:t>
            </a:r>
            <a:r>
              <a:rPr lang="en-US" altLang="ko-KR" sz="1800" dirty="0"/>
              <a:t>)</a:t>
            </a:r>
          </a:p>
          <a:p>
            <a:pPr lvl="1" fontAlgn="base"/>
            <a:r>
              <a:rPr lang="ko-KR" altLang="en-US" sz="1800" dirty="0"/>
              <a:t>신호가 </a:t>
            </a:r>
            <a:r>
              <a:rPr lang="en-US" altLang="ko-KR" sz="1800" dirty="0"/>
              <a:t>0</a:t>
            </a:r>
            <a:r>
              <a:rPr lang="ko-KR" altLang="en-US" sz="1800" dirty="0"/>
              <a:t>에서 </a:t>
            </a:r>
            <a:r>
              <a:rPr lang="en-US" altLang="ko-KR" sz="1800" dirty="0"/>
              <a:t>1</a:t>
            </a:r>
            <a:r>
              <a:rPr lang="ko-KR" altLang="en-US" sz="1800" dirty="0"/>
              <a:t>로 상승하거나 </a:t>
            </a:r>
            <a:r>
              <a:rPr lang="en-US" altLang="ko-KR" sz="1800" dirty="0"/>
              <a:t>1</a:t>
            </a:r>
            <a:r>
              <a:rPr lang="ko-KR" altLang="en-US" sz="1800" dirty="0"/>
              <a:t>에서 </a:t>
            </a:r>
            <a:r>
              <a:rPr lang="en-US" altLang="ko-KR" sz="1800" dirty="0"/>
              <a:t>0</a:t>
            </a:r>
            <a:r>
              <a:rPr lang="ko-KR" altLang="en-US" sz="1800" dirty="0"/>
              <a:t>으로 하강할 때 걸리는 시간을 의미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쉽게 말하면 기울기</a:t>
            </a:r>
            <a:r>
              <a:rPr lang="en-US" altLang="ko-KR" sz="1800" dirty="0"/>
              <a:t>, </a:t>
            </a:r>
            <a:r>
              <a:rPr lang="ko-KR" altLang="en-US" sz="1800" dirty="0"/>
              <a:t>어렵게 말하면 신호가 바뀌는 임계</a:t>
            </a:r>
            <a:r>
              <a:rPr lang="en-US" altLang="ko-KR" sz="1800" dirty="0"/>
              <a:t>(Threshold)</a:t>
            </a:r>
            <a:r>
              <a:rPr lang="ko-KR" altLang="en-US" sz="1800" dirty="0"/>
              <a:t>까지 걸리는 시간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Transition</a:t>
            </a:r>
            <a:r>
              <a:rPr lang="ko-KR" altLang="en-US" sz="1800" dirty="0"/>
              <a:t>이 길면 신호가 왜곡되거나 타이밍에 오류가 발생할 수 있으므로</a:t>
            </a:r>
            <a:r>
              <a:rPr lang="en-US" altLang="ko-KR" sz="1800" dirty="0"/>
              <a:t>, </a:t>
            </a:r>
            <a:r>
              <a:rPr lang="ko-KR" altLang="en-US" sz="1800" dirty="0"/>
              <a:t>짧은 것이 상대적으로 유리</a:t>
            </a:r>
          </a:p>
        </p:txBody>
      </p:sp>
      <p:pic>
        <p:nvPicPr>
          <p:cNvPr id="4" name="그림 4">
            <a:extLst>
              <a:ext uri="{FF2B5EF4-FFF2-40B4-BE49-F238E27FC236}">
                <a16:creationId xmlns:a16="http://schemas.microsoft.com/office/drawing/2014/main" id="{0655A05D-7B23-46A9-BFA8-A91292CF7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44" y="2736574"/>
            <a:ext cx="7206396" cy="506541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3D0676BD-BAE5-40AA-8665-1D4C08730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727" y="3429000"/>
            <a:ext cx="5620030" cy="2822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7">
            <a:extLst>
              <a:ext uri="{FF2B5EF4-FFF2-40B4-BE49-F238E27FC236}">
                <a16:creationId xmlns:a16="http://schemas.microsoft.com/office/drawing/2014/main" id="{A11A4582-B1BA-46DD-AB5B-9AB87B27B4CA}"/>
              </a:ext>
            </a:extLst>
          </p:cNvPr>
          <p:cNvSpPr/>
          <p:nvPr/>
        </p:nvSpPr>
        <p:spPr>
          <a:xfrm>
            <a:off x="5025764" y="5768256"/>
            <a:ext cx="4691730" cy="3868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Transition : </a:t>
            </a:r>
            <a:r>
              <a:rPr lang="ko-KR" altLang="en-US" sz="1600" dirty="0" err="1">
                <a:solidFill>
                  <a:schemeClr val="tx1"/>
                </a:solidFill>
              </a:rPr>
              <a:t>임계점</a:t>
            </a:r>
            <a:r>
              <a:rPr lang="ko-KR" altLang="en-US" sz="1600" dirty="0">
                <a:solidFill>
                  <a:schemeClr val="tx1"/>
                </a:solidFill>
              </a:rPr>
              <a:t> 도달까지의 소요시간</a:t>
            </a:r>
            <a:r>
              <a:rPr lang="en-US" altLang="ko-KR" sz="1600" dirty="0">
                <a:solidFill>
                  <a:schemeClr val="tx1"/>
                </a:solidFill>
              </a:rPr>
              <a:t>(0.08ns)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1770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D6AEAA-27BC-4FDC-B5F0-A9C5247065D7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Clock:</a:t>
            </a:r>
            <a:r>
              <a:rPr lang="ko-KR" altLang="en-US" dirty="0"/>
              <a:t> </a:t>
            </a:r>
            <a:r>
              <a:rPr lang="en-US" altLang="ko-KR" dirty="0"/>
              <a:t>Conclusion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C368A2-B187-4E57-AAC6-EA8A4BE7EFAF}"/>
              </a:ext>
            </a:extLst>
          </p:cNvPr>
          <p:cNvSpPr txBox="1">
            <a:spLocks/>
          </p:cNvSpPr>
          <p:nvPr/>
        </p:nvSpPr>
        <p:spPr>
          <a:xfrm>
            <a:off x="538049" y="999018"/>
            <a:ext cx="11390182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b="1" dirty="0" err="1"/>
              <a:t>클록에</a:t>
            </a:r>
            <a:r>
              <a:rPr lang="ko-KR" altLang="en-US" sz="2000" b="1" dirty="0"/>
              <a:t> 대한 종합 정리 </a:t>
            </a:r>
            <a:endParaRPr lang="en-US" altLang="ko-KR" sz="2000" b="1" dirty="0"/>
          </a:p>
          <a:p>
            <a:pPr lvl="1" fontAlgn="base"/>
            <a:r>
              <a:rPr lang="ko-KR" altLang="en-US" sz="1800" dirty="0"/>
              <a:t>툴은 이 항목들을 설계자가 입력해주지 않으면 </a:t>
            </a:r>
            <a:r>
              <a:rPr lang="en-US" altLang="ko-KR" sz="1800" dirty="0"/>
              <a:t>0</a:t>
            </a:r>
            <a:r>
              <a:rPr lang="ko-KR" altLang="en-US" sz="1800" dirty="0"/>
              <a:t>으로 생각함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Clock</a:t>
            </a:r>
            <a:r>
              <a:rPr lang="ko-KR" altLang="en-US" sz="1800" dirty="0"/>
              <a:t>이 실제로 움직이는 수치를 부여할 수 있으니 신뢰성이 높은 디자인 제작가능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11028FD9-79F9-4317-88F8-29FF52A47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781" y="2401407"/>
            <a:ext cx="6591300" cy="345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24354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95A559-6340-4BBF-BE3E-0A6DEB5B5EC2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err="1"/>
              <a:t>Input/Output</a:t>
            </a:r>
            <a:r>
              <a:rPr lang="en-US" altLang="ko-KR" dirty="0"/>
              <a:t> Paths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DD37E7-72CB-49D8-9B04-D17788B1217E}"/>
              </a:ext>
            </a:extLst>
          </p:cNvPr>
          <p:cNvSpPr txBox="1">
            <a:spLocks/>
          </p:cNvSpPr>
          <p:nvPr/>
        </p:nvSpPr>
        <p:spPr>
          <a:xfrm>
            <a:off x="617294" y="999018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 err="1"/>
              <a:t>Input/Output</a:t>
            </a:r>
            <a:r>
              <a:rPr lang="en-US" altLang="ko-KR" sz="2000" b="1" dirty="0"/>
              <a:t> Paths</a:t>
            </a:r>
          </a:p>
          <a:p>
            <a:pPr lvl="1" fontAlgn="base"/>
            <a:r>
              <a:rPr lang="en-US" altLang="ko-KR" sz="1800" dirty="0"/>
              <a:t>Input Path</a:t>
            </a:r>
            <a:r>
              <a:rPr lang="ko-KR" altLang="en-US" sz="1800" dirty="0"/>
              <a:t>와 </a:t>
            </a:r>
            <a:r>
              <a:rPr lang="en-US" altLang="ko-KR" sz="1800" dirty="0"/>
              <a:t>Output Path</a:t>
            </a:r>
            <a:r>
              <a:rPr lang="ko-KR" altLang="en-US" sz="1800" dirty="0"/>
              <a:t>는 칩 입장에서의 입</a:t>
            </a:r>
            <a:r>
              <a:rPr lang="en-US" altLang="ko-KR" sz="1800" dirty="0"/>
              <a:t>, </a:t>
            </a:r>
            <a:r>
              <a:rPr lang="ko-KR" altLang="en-US" sz="1800" dirty="0"/>
              <a:t>출력에 해당한다</a:t>
            </a:r>
            <a:r>
              <a:rPr lang="en-US" altLang="ko-KR" sz="1800" dirty="0"/>
              <a:t>. </a:t>
            </a:r>
          </a:p>
          <a:p>
            <a:pPr lvl="1" fontAlgn="base"/>
            <a:r>
              <a:rPr lang="en-US" altLang="ko-KR" sz="1800" dirty="0"/>
              <a:t>Constraint</a:t>
            </a:r>
            <a:r>
              <a:rPr lang="ko-KR" altLang="en-US" sz="1800" dirty="0"/>
              <a:t>는 칩을 거시적으로 위에서 바라보았을 때 </a:t>
            </a:r>
            <a:r>
              <a:rPr lang="ko-KR" altLang="en-US" sz="1800" u="sng" dirty="0"/>
              <a:t>입</a:t>
            </a:r>
            <a:r>
              <a:rPr lang="en-US" altLang="ko-KR" sz="1800" u="sng" dirty="0"/>
              <a:t>, </a:t>
            </a:r>
            <a:r>
              <a:rPr lang="ko-KR" altLang="en-US" sz="1800" u="sng" dirty="0"/>
              <a:t>출력 포트에 부여하는 것</a:t>
            </a:r>
            <a:endParaRPr lang="en-US" altLang="ko-KR" sz="1800" u="sng" dirty="0"/>
          </a:p>
          <a:p>
            <a:pPr lvl="1" fontAlgn="base"/>
            <a:r>
              <a:rPr lang="ko-KR" altLang="en-US" sz="1800" i="1" dirty="0">
                <a:solidFill>
                  <a:srgbClr val="FF0000"/>
                </a:solidFill>
              </a:rPr>
              <a:t>즉</a:t>
            </a:r>
            <a:r>
              <a:rPr lang="en-US" altLang="ko-KR" sz="1800" i="1" dirty="0">
                <a:solidFill>
                  <a:srgbClr val="FF0000"/>
                </a:solidFill>
              </a:rPr>
              <a:t>, </a:t>
            </a:r>
            <a:r>
              <a:rPr lang="ko-KR" altLang="en-US" sz="1800" i="1" dirty="0">
                <a:solidFill>
                  <a:srgbClr val="FF0000"/>
                </a:solidFill>
              </a:rPr>
              <a:t>내가 만들고 있는 디자인의 내부 회로나 </a:t>
            </a:r>
            <a:r>
              <a:rPr lang="en-US" altLang="ko-KR" sz="1800" i="1" dirty="0">
                <a:solidFill>
                  <a:srgbClr val="FF0000"/>
                </a:solidFill>
              </a:rPr>
              <a:t>Net</a:t>
            </a:r>
            <a:r>
              <a:rPr lang="ko-KR" altLang="en-US" sz="1800" i="1" dirty="0">
                <a:solidFill>
                  <a:srgbClr val="FF0000"/>
                </a:solidFill>
              </a:rPr>
              <a:t>에 관한 것이 아님</a:t>
            </a:r>
            <a:r>
              <a:rPr lang="ko-KR" altLang="en-US" sz="1800" i="1" dirty="0"/>
              <a:t>　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BACD7C-3D71-4D61-83AE-26D3BBA57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770" y="2587967"/>
            <a:ext cx="7544968" cy="341180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4872588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2B477A-63B6-48CA-952F-D98D73F484EE}"/>
              </a:ext>
            </a:extLst>
          </p:cNvPr>
          <p:cNvSpPr txBox="1">
            <a:spLocks/>
          </p:cNvSpPr>
          <p:nvPr/>
        </p:nvSpPr>
        <p:spPr>
          <a:xfrm>
            <a:off x="617294" y="400660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err="1"/>
              <a:t>Input/Output</a:t>
            </a:r>
            <a:r>
              <a:rPr lang="en-US" altLang="ko-KR" dirty="0"/>
              <a:t> Paths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D7A387-11DD-4402-AD8A-46BCEF76B523}"/>
              </a:ext>
            </a:extLst>
          </p:cNvPr>
          <p:cNvSpPr txBox="1">
            <a:spLocks/>
          </p:cNvSpPr>
          <p:nvPr/>
        </p:nvSpPr>
        <p:spPr>
          <a:xfrm>
            <a:off x="462455" y="1121662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Input Paths</a:t>
            </a:r>
          </a:p>
          <a:p>
            <a:pPr lvl="1" fontAlgn="base"/>
            <a:r>
              <a:rPr lang="ko-KR" altLang="en-US" sz="1800" dirty="0"/>
              <a:t>외부 신호가 칩 내부 레지스터로 전달되는 </a:t>
            </a:r>
            <a:r>
              <a:rPr lang="ko-KR" altLang="en-US" sz="1800" dirty="0" err="1"/>
              <a:t>경로로서</a:t>
            </a:r>
            <a:r>
              <a:rPr lang="en-US" altLang="ko-KR" sz="1800" dirty="0"/>
              <a:t>, </a:t>
            </a:r>
            <a:r>
              <a:rPr lang="ko-KR" altLang="en-US" sz="1800" dirty="0"/>
              <a:t>내 칩 바깥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아래 명령은 내 칩 바깥에서 </a:t>
            </a:r>
            <a:r>
              <a:rPr lang="en-US" altLang="ko-KR" sz="1800" dirty="0"/>
              <a:t>0.3ns</a:t>
            </a:r>
            <a:r>
              <a:rPr lang="ko-KR" altLang="en-US" sz="1800" dirty="0"/>
              <a:t>가 걸린다는 것을 나타냄</a:t>
            </a:r>
            <a:r>
              <a:rPr lang="ko-KR" altLang="en-US" b="1" dirty="0"/>
              <a:t>　</a:t>
            </a:r>
          </a:p>
        </p:txBody>
      </p:sp>
      <p:pic>
        <p:nvPicPr>
          <p:cNvPr id="4" name="그림 4">
            <a:extLst>
              <a:ext uri="{FF2B5EF4-FFF2-40B4-BE49-F238E27FC236}">
                <a16:creationId xmlns:a16="http://schemas.microsoft.com/office/drawing/2014/main" id="{A27FC48B-611E-42DB-9916-40FF2D75E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722" y="2306171"/>
            <a:ext cx="6841148" cy="4941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474E6D-E0BC-4929-93EC-740266AC9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255" y="2846224"/>
            <a:ext cx="5926615" cy="2277220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  <p:sp>
        <p:nvSpPr>
          <p:cNvPr id="6" name="직사각형 8">
            <a:extLst>
              <a:ext uri="{FF2B5EF4-FFF2-40B4-BE49-F238E27FC236}">
                <a16:creationId xmlns:a16="http://schemas.microsoft.com/office/drawing/2014/main" id="{90B8721C-2986-4C97-87EB-7FADCABE57DF}"/>
              </a:ext>
            </a:extLst>
          </p:cNvPr>
          <p:cNvSpPr/>
          <p:nvPr/>
        </p:nvSpPr>
        <p:spPr>
          <a:xfrm>
            <a:off x="2587896" y="5371695"/>
            <a:ext cx="4691730" cy="3868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내 칩의 바깥</a:t>
            </a:r>
            <a:r>
              <a:rPr lang="en-US" altLang="ko-KR" sz="1600" dirty="0">
                <a:solidFill>
                  <a:schemeClr val="tx1"/>
                </a:solidFill>
              </a:rPr>
              <a:t>. </a:t>
            </a:r>
            <a:r>
              <a:rPr lang="ko-KR" altLang="en-US" sz="1600" dirty="0">
                <a:solidFill>
                  <a:schemeClr val="tx1"/>
                </a:solidFill>
              </a:rPr>
              <a:t>칩 외부에서 소요되는 시간 설정</a:t>
            </a:r>
          </a:p>
        </p:txBody>
      </p:sp>
    </p:spTree>
    <p:extLst>
      <p:ext uri="{BB962C8B-B14F-4D97-AF65-F5344CB8AC3E}">
        <p14:creationId xmlns:p14="http://schemas.microsoft.com/office/powerpoint/2010/main" val="6479620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764CC3-93B4-4270-8622-672E95267DBA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err="1"/>
              <a:t>Input/Output</a:t>
            </a:r>
            <a:r>
              <a:rPr lang="en-US" altLang="ko-KR" dirty="0"/>
              <a:t> Paths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80F875-3E75-4C69-8407-644D8DE4AA0E}"/>
              </a:ext>
            </a:extLst>
          </p:cNvPr>
          <p:cNvSpPr txBox="1">
            <a:spLocks/>
          </p:cNvSpPr>
          <p:nvPr/>
        </p:nvSpPr>
        <p:spPr>
          <a:xfrm>
            <a:off x="573218" y="999018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Output Paths</a:t>
            </a:r>
          </a:p>
          <a:p>
            <a:pPr lvl="1" fontAlgn="base"/>
            <a:r>
              <a:rPr lang="ko-KR" altLang="en-US" sz="1800" dirty="0"/>
              <a:t>내부 레지스터에서 외부로 신호가 전달되는 </a:t>
            </a:r>
            <a:r>
              <a:rPr lang="ko-KR" altLang="en-US" sz="1800" dirty="0" err="1"/>
              <a:t>경로로서</a:t>
            </a:r>
            <a:r>
              <a:rPr lang="en-US" altLang="ko-KR" sz="1800" dirty="0"/>
              <a:t>, </a:t>
            </a:r>
            <a:r>
              <a:rPr lang="ko-KR" altLang="en-US" sz="1800" dirty="0"/>
              <a:t>내 칩 바깥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아래 예시 설명 </a:t>
            </a:r>
            <a:endParaRPr lang="en-US" altLang="ko-KR" sz="1800" dirty="0"/>
          </a:p>
          <a:p>
            <a:pPr lvl="2" fontAlgn="base"/>
            <a:r>
              <a:rPr lang="en-US" altLang="ko-KR" sz="1600" dirty="0"/>
              <a:t>Y</a:t>
            </a:r>
            <a:r>
              <a:rPr lang="ko-KR" altLang="en-US" sz="1600" dirty="0"/>
              <a:t>라는 조합회로를 거치는 시간과 레지스터의 </a:t>
            </a:r>
            <a:r>
              <a:rPr lang="en-US" altLang="ko-KR" sz="1600" dirty="0"/>
              <a:t>Setup </a:t>
            </a:r>
            <a:r>
              <a:rPr lang="ko-KR" altLang="en-US" sz="1600" dirty="0"/>
              <a:t>시간을 더하여 </a:t>
            </a:r>
            <a:r>
              <a:rPr lang="en-US" altLang="ko-KR" sz="1600" dirty="0"/>
              <a:t>1ns</a:t>
            </a:r>
            <a:r>
              <a:rPr lang="ko-KR" altLang="en-US" sz="1600" dirty="0"/>
              <a:t>를 부여함</a:t>
            </a:r>
            <a:endParaRPr lang="en-US" altLang="ko-KR" sz="1600" dirty="0"/>
          </a:p>
          <a:p>
            <a:pPr lvl="2" fontAlgn="base"/>
            <a:r>
              <a:rPr lang="ko-KR" altLang="en-US" sz="1600" dirty="0"/>
              <a:t>만약 </a:t>
            </a:r>
            <a:r>
              <a:rPr lang="ko-KR" altLang="en-US" sz="1600" dirty="0" err="1"/>
              <a:t>클록</a:t>
            </a:r>
            <a:r>
              <a:rPr lang="ko-KR" altLang="en-US" sz="1600" dirty="0"/>
              <a:t> 주기가 </a:t>
            </a:r>
            <a:r>
              <a:rPr lang="en-US" altLang="ko-KR" sz="1600" dirty="0"/>
              <a:t>2ns</a:t>
            </a:r>
            <a:r>
              <a:rPr lang="ko-KR" altLang="en-US" sz="1600" dirty="0"/>
              <a:t>라면</a:t>
            </a:r>
            <a:r>
              <a:rPr lang="en-US" altLang="ko-KR" sz="1600" dirty="0"/>
              <a:t>, </a:t>
            </a:r>
            <a:r>
              <a:rPr lang="ko-KR" altLang="en-US" sz="1600" dirty="0"/>
              <a:t>칩 내부에서 </a:t>
            </a:r>
            <a:r>
              <a:rPr lang="en-US" altLang="ko-KR" sz="1600" dirty="0"/>
              <a:t>2 – 1 = </a:t>
            </a:r>
            <a:r>
              <a:rPr lang="ko-KR" altLang="en-US" sz="1600" dirty="0"/>
              <a:t>최대 </a:t>
            </a:r>
            <a:r>
              <a:rPr lang="en-US" altLang="ko-KR" sz="1600" dirty="0"/>
              <a:t>1ns</a:t>
            </a:r>
            <a:r>
              <a:rPr lang="ko-KR" altLang="en-US" sz="1600" dirty="0"/>
              <a:t>까지 신호가 머무르고 나가는 </a:t>
            </a:r>
            <a:r>
              <a:rPr lang="en-US" altLang="ko-KR" sz="1600" dirty="0"/>
              <a:t>X </a:t>
            </a:r>
            <a:r>
              <a:rPr lang="ko-KR" altLang="en-US" sz="1600" dirty="0"/>
              <a:t>로직을 툴이 자동으로 생각하여 구현해 줌 </a:t>
            </a:r>
            <a:endParaRPr lang="en-US" altLang="ko-KR" sz="1600" dirty="0"/>
          </a:p>
          <a:p>
            <a:pPr lvl="2" fontAlgn="base"/>
            <a:r>
              <a:rPr lang="ko-KR" altLang="en-US" sz="1600" dirty="0"/>
              <a:t>나는 아래처럼 명령 한 줄로 외부의 </a:t>
            </a:r>
            <a:r>
              <a:rPr lang="en-US" altLang="ko-KR" sz="1600" dirty="0"/>
              <a:t>1ns</a:t>
            </a:r>
            <a:r>
              <a:rPr lang="ko-KR" altLang="en-US" sz="1600" dirty="0"/>
              <a:t>를 말했을 뿐인데</a:t>
            </a:r>
            <a:r>
              <a:rPr lang="en-US" altLang="ko-KR" sz="1600" dirty="0"/>
              <a:t>,</a:t>
            </a:r>
            <a:r>
              <a:rPr lang="ko-KR" altLang="en-US" sz="1600" dirty="0"/>
              <a:t> 나머지를 툴이 알아서 계산해주는 것</a:t>
            </a:r>
            <a:endParaRPr lang="ko-KR" altLang="en-US" sz="1600" b="1" dirty="0"/>
          </a:p>
        </p:txBody>
      </p:sp>
      <p:pic>
        <p:nvPicPr>
          <p:cNvPr id="4" name="그림 5">
            <a:extLst>
              <a:ext uri="{FF2B5EF4-FFF2-40B4-BE49-F238E27FC236}">
                <a16:creationId xmlns:a16="http://schemas.microsoft.com/office/drawing/2014/main" id="{D68395DF-B638-4F03-B73A-C40E64DEF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258" y="3064779"/>
            <a:ext cx="6787298" cy="489805"/>
          </a:xfrm>
          <a:prstGeom prst="rect">
            <a:avLst/>
          </a:prstGeom>
        </p:spPr>
      </p:pic>
      <p:pic>
        <p:nvPicPr>
          <p:cNvPr id="5" name="그림 6">
            <a:extLst>
              <a:ext uri="{FF2B5EF4-FFF2-40B4-BE49-F238E27FC236}">
                <a16:creationId xmlns:a16="http://schemas.microsoft.com/office/drawing/2014/main" id="{30D9E1D3-7C48-4E53-B715-B463CCC7B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6990" y="3651777"/>
            <a:ext cx="5256543" cy="2207205"/>
          </a:xfrm>
          <a:prstGeom prst="rect">
            <a:avLst/>
          </a:prstGeom>
        </p:spPr>
      </p:pic>
      <p:sp>
        <p:nvSpPr>
          <p:cNvPr id="6" name="직사각형 9">
            <a:extLst>
              <a:ext uri="{FF2B5EF4-FFF2-40B4-BE49-F238E27FC236}">
                <a16:creationId xmlns:a16="http://schemas.microsoft.com/office/drawing/2014/main" id="{0538FBC2-9189-4223-A0DE-A148742BDFDE}"/>
              </a:ext>
            </a:extLst>
          </p:cNvPr>
          <p:cNvSpPr/>
          <p:nvPr/>
        </p:nvSpPr>
        <p:spPr>
          <a:xfrm>
            <a:off x="3273697" y="5897938"/>
            <a:ext cx="4691730" cy="3868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내 칩의 바깥</a:t>
            </a:r>
            <a:r>
              <a:rPr lang="en-US" altLang="ko-KR" sz="1600" dirty="0">
                <a:solidFill>
                  <a:schemeClr val="tx1"/>
                </a:solidFill>
              </a:rPr>
              <a:t>. </a:t>
            </a:r>
            <a:r>
              <a:rPr lang="ko-KR" altLang="en-US" sz="1600" dirty="0">
                <a:solidFill>
                  <a:schemeClr val="tx1"/>
                </a:solidFill>
              </a:rPr>
              <a:t>칩 외부에서 소요되는 시간 설정</a:t>
            </a:r>
          </a:p>
        </p:txBody>
      </p:sp>
    </p:spTree>
    <p:extLst>
      <p:ext uri="{BB962C8B-B14F-4D97-AF65-F5344CB8AC3E}">
        <p14:creationId xmlns:p14="http://schemas.microsoft.com/office/powerpoint/2010/main" val="24559188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A08CB7-C18D-4531-AA35-6FB0B6360F6B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Timing Constraint: Conclusion</a:t>
            </a:r>
          </a:p>
        </p:txBody>
      </p:sp>
      <p:pic>
        <p:nvPicPr>
          <p:cNvPr id="4" name="그림 21">
            <a:extLst>
              <a:ext uri="{FF2B5EF4-FFF2-40B4-BE49-F238E27FC236}">
                <a16:creationId xmlns:a16="http://schemas.microsoft.com/office/drawing/2014/main" id="{1389A93C-7AFB-4798-BCC5-E75333AEAC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242" y="2194001"/>
            <a:ext cx="8886825" cy="3619500"/>
          </a:xfrm>
          <a:prstGeom prst="rect">
            <a:avLst/>
          </a:prstGeom>
        </p:spPr>
      </p:pic>
      <p:sp>
        <p:nvSpPr>
          <p:cNvPr id="5" name="직사각형 18">
            <a:extLst>
              <a:ext uri="{FF2B5EF4-FFF2-40B4-BE49-F238E27FC236}">
                <a16:creationId xmlns:a16="http://schemas.microsoft.com/office/drawing/2014/main" id="{89963F4F-DA76-4158-AC01-CF82503E6E86}"/>
              </a:ext>
            </a:extLst>
          </p:cNvPr>
          <p:cNvSpPr/>
          <p:nvPr/>
        </p:nvSpPr>
        <p:spPr>
          <a:xfrm>
            <a:off x="3464248" y="2616984"/>
            <a:ext cx="1899060" cy="2053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19">
            <a:extLst>
              <a:ext uri="{FF2B5EF4-FFF2-40B4-BE49-F238E27FC236}">
                <a16:creationId xmlns:a16="http://schemas.microsoft.com/office/drawing/2014/main" id="{AD2D6F43-82E0-4139-9788-220C0DBE3057}"/>
              </a:ext>
            </a:extLst>
          </p:cNvPr>
          <p:cNvSpPr/>
          <p:nvPr/>
        </p:nvSpPr>
        <p:spPr>
          <a:xfrm>
            <a:off x="6919545" y="2716823"/>
            <a:ext cx="1573823" cy="2053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20">
            <a:extLst>
              <a:ext uri="{FF2B5EF4-FFF2-40B4-BE49-F238E27FC236}">
                <a16:creationId xmlns:a16="http://schemas.microsoft.com/office/drawing/2014/main" id="{FC4D2111-DCA7-48C6-9D48-FA7B39B82123}"/>
              </a:ext>
            </a:extLst>
          </p:cNvPr>
          <p:cNvSpPr/>
          <p:nvPr/>
        </p:nvSpPr>
        <p:spPr>
          <a:xfrm>
            <a:off x="4431323" y="5514561"/>
            <a:ext cx="1899060" cy="2989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2977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C6971-9BDC-4AAC-9A9D-E4B4C38EDB64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Area Constraint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33A6D6-8068-40FC-9F3F-00418496DFA3}"/>
              </a:ext>
            </a:extLst>
          </p:cNvPr>
          <p:cNvSpPr txBox="1">
            <a:spLocks/>
          </p:cNvSpPr>
          <p:nvPr/>
        </p:nvSpPr>
        <p:spPr>
          <a:xfrm>
            <a:off x="529371" y="1086493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Area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Constraint</a:t>
            </a:r>
          </a:p>
          <a:p>
            <a:pPr lvl="1" fontAlgn="base"/>
            <a:r>
              <a:rPr lang="ko-KR" altLang="en-US" sz="1800" dirty="0"/>
              <a:t>설계된 회로가 특정 크기 내에서 구현되도록 제한하는 조건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면적이 제한된 환경에서 설계할 때 사용되며</a:t>
            </a:r>
            <a:r>
              <a:rPr lang="en-US" altLang="ko-KR" sz="1800" dirty="0"/>
              <a:t>, </a:t>
            </a:r>
            <a:r>
              <a:rPr lang="ko-KR" altLang="en-US" sz="1800" dirty="0"/>
              <a:t>칩의 크기와 비용을 최적화하는 데 중요한 역할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1E1E7FF5-B066-4FAB-8FD2-AB56C19F0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833" y="2357892"/>
            <a:ext cx="7396043" cy="335117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08259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D83108-2CF2-423E-850B-D375D24BD97C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Area Constraint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E8B98A-486D-4C8D-8274-3A96FFFFDC70}"/>
              </a:ext>
            </a:extLst>
          </p:cNvPr>
          <p:cNvSpPr txBox="1">
            <a:spLocks/>
          </p:cNvSpPr>
          <p:nvPr/>
        </p:nvSpPr>
        <p:spPr>
          <a:xfrm>
            <a:off x="573218" y="1086494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Area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Constraint</a:t>
            </a:r>
          </a:p>
          <a:p>
            <a:pPr lvl="1" fontAlgn="base"/>
            <a:r>
              <a:rPr lang="ko-KR" altLang="en-US" sz="1800" dirty="0"/>
              <a:t>아래</a:t>
            </a:r>
            <a:r>
              <a:rPr lang="en-US" altLang="ko-KR" sz="1800" dirty="0"/>
              <a:t> </a:t>
            </a:r>
            <a:r>
              <a:rPr lang="ko-KR" altLang="en-US" sz="1800" dirty="0"/>
              <a:t>숫자 </a:t>
            </a:r>
            <a:r>
              <a:rPr lang="en-US" altLang="ko-KR" sz="1800" dirty="0"/>
              <a:t>1000</a:t>
            </a:r>
            <a:r>
              <a:rPr lang="ko-KR" altLang="en-US" sz="1800" dirty="0"/>
              <a:t>은 가로와 세로의 곱인 </a:t>
            </a:r>
            <a:r>
              <a:rPr lang="en-US" altLang="ko-KR" sz="1800" dirty="0"/>
              <a:t>um</a:t>
            </a:r>
            <a:r>
              <a:rPr lang="en-US" altLang="ko-KR" sz="1800" baseline="30000" dirty="0"/>
              <a:t>2</a:t>
            </a:r>
            <a:r>
              <a:rPr lang="en-US" altLang="ko-KR" sz="1800" dirty="0"/>
              <a:t>  </a:t>
            </a:r>
            <a:r>
              <a:rPr lang="ko-KR" altLang="en-US" sz="1800" dirty="0"/>
              <a:t>단위</a:t>
            </a:r>
            <a:r>
              <a:rPr lang="en-US" altLang="ko-KR" sz="1800" dirty="0"/>
              <a:t> </a:t>
            </a:r>
          </a:p>
          <a:p>
            <a:pPr lvl="1" fontAlgn="base"/>
            <a:r>
              <a:rPr lang="en-US" altLang="ko-KR" sz="1800" dirty="0"/>
              <a:t>2 input NAND </a:t>
            </a:r>
            <a:r>
              <a:rPr lang="ko-KR" altLang="en-US" sz="1800" dirty="0"/>
              <a:t>게이트의 크기를 문서를 통해 알아낸 뒤</a:t>
            </a:r>
            <a:r>
              <a:rPr lang="en-US" altLang="ko-KR" sz="1800" dirty="0"/>
              <a:t>, </a:t>
            </a:r>
            <a:r>
              <a:rPr lang="ko-KR" altLang="en-US" sz="1800" dirty="0"/>
              <a:t>아래의 </a:t>
            </a:r>
            <a:r>
              <a:rPr lang="en-US" altLang="ko-KR" sz="1800" dirty="0"/>
              <a:t>1000</a:t>
            </a:r>
            <a:r>
              <a:rPr lang="ko-KR" altLang="en-US" sz="1800" dirty="0"/>
              <a:t>이라는 면적을 해당 크기로 나누어 몇 게이트인지 계산할 수 있음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예를 들어 </a:t>
            </a:r>
            <a:r>
              <a:rPr lang="en-US" altLang="ko-KR" sz="1800" dirty="0"/>
              <a:t>2 input NAND </a:t>
            </a:r>
            <a:r>
              <a:rPr lang="ko-KR" altLang="en-US" sz="1800" dirty="0"/>
              <a:t>게이트 크기가 </a:t>
            </a:r>
            <a:r>
              <a:rPr lang="en-US" altLang="ko-KR" sz="1800" dirty="0"/>
              <a:t>10um</a:t>
            </a:r>
            <a:r>
              <a:rPr lang="en-US" altLang="ko-KR" sz="1800" baseline="30000" dirty="0"/>
              <a:t>2</a:t>
            </a:r>
            <a:r>
              <a:rPr lang="en-US" altLang="ko-KR" sz="1800" dirty="0"/>
              <a:t> </a:t>
            </a:r>
            <a:r>
              <a:rPr lang="ko-KR" altLang="en-US" sz="1800" dirty="0"/>
              <a:t>라면</a:t>
            </a:r>
            <a:r>
              <a:rPr lang="en-US" altLang="ko-KR" sz="1800" dirty="0"/>
              <a:t>,  1000/10 = 100 </a:t>
            </a:r>
            <a:r>
              <a:rPr lang="ko-KR" altLang="en-US" sz="1800" dirty="0"/>
              <a:t>게이트 규모  </a:t>
            </a:r>
            <a:endParaRPr lang="en-US" altLang="ko-KR" sz="1800" dirty="0"/>
          </a:p>
          <a:p>
            <a:pPr lvl="1" fontAlgn="base"/>
            <a:endParaRPr lang="en-US" altLang="ko-KR" dirty="0"/>
          </a:p>
          <a:p>
            <a:pPr lvl="1" fontAlgn="base"/>
            <a:endParaRPr lang="en-US" altLang="ko-KR" dirty="0"/>
          </a:p>
          <a:p>
            <a:pPr lvl="1" fontAlgn="base"/>
            <a:endParaRPr lang="en-US" altLang="ko-KR" dirty="0"/>
          </a:p>
          <a:p>
            <a:pPr marL="457200" lvl="1" indent="0" fontAlgn="base">
              <a:buNone/>
            </a:pPr>
            <a:endParaRPr lang="en-US" altLang="ko-KR" dirty="0"/>
          </a:p>
        </p:txBody>
      </p:sp>
      <p:pic>
        <p:nvPicPr>
          <p:cNvPr id="4" name="그림 4">
            <a:extLst>
              <a:ext uri="{FF2B5EF4-FFF2-40B4-BE49-F238E27FC236}">
                <a16:creationId xmlns:a16="http://schemas.microsoft.com/office/drawing/2014/main" id="{5536F789-0B30-4403-9959-4E7DBB05A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50" y="2994131"/>
            <a:ext cx="7641981" cy="52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2594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03EB35-EEEF-4AB5-B1B9-CA32162E4DBD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Environmental Attributes Constraint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D0A60D-B5F1-4FC9-9577-EC4B84C9154C}"/>
              </a:ext>
            </a:extLst>
          </p:cNvPr>
          <p:cNvSpPr txBox="1">
            <a:spLocks/>
          </p:cNvSpPr>
          <p:nvPr/>
        </p:nvSpPr>
        <p:spPr>
          <a:xfrm>
            <a:off x="620110" y="1587655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b="1" dirty="0"/>
              <a:t>칩이 물리적으로 만들어지고</a:t>
            </a:r>
            <a:r>
              <a:rPr lang="en-US" altLang="ko-KR" sz="2000" b="1" dirty="0"/>
              <a:t>, PCB </a:t>
            </a:r>
            <a:r>
              <a:rPr lang="ko-KR" altLang="en-US" sz="2000" b="1" dirty="0"/>
              <a:t>보드에 </a:t>
            </a:r>
            <a:r>
              <a:rPr lang="ko-KR" altLang="en-US" sz="2000" b="1" dirty="0" err="1"/>
              <a:t>실장된</a:t>
            </a:r>
            <a:r>
              <a:rPr lang="ko-KR" altLang="en-US" sz="2000" b="1" dirty="0"/>
              <a:t> 뒤 어떤 환경에 </a:t>
            </a:r>
            <a:r>
              <a:rPr lang="ko-KR" altLang="en-US" sz="2000" b="1" dirty="0" err="1"/>
              <a:t>놓이느냐를</a:t>
            </a:r>
            <a:r>
              <a:rPr lang="ko-KR" altLang="en-US" sz="2000" b="1" dirty="0"/>
              <a:t> 생각해야 함</a:t>
            </a:r>
            <a:r>
              <a:rPr lang="en-US" altLang="ko-KR" sz="2000" b="1" dirty="0"/>
              <a:t> </a:t>
            </a:r>
          </a:p>
          <a:p>
            <a:pPr fontAlgn="base"/>
            <a:endParaRPr lang="en-US" altLang="ko-KR" sz="2000" b="1" dirty="0"/>
          </a:p>
          <a:p>
            <a:pPr fontAlgn="base"/>
            <a:r>
              <a:rPr lang="ko-KR" altLang="en-US" sz="2000" b="1" dirty="0">
                <a:solidFill>
                  <a:srgbClr val="FF0000"/>
                </a:solidFill>
              </a:rPr>
              <a:t>온도와 전압이 가장 큰 영향을 미침 </a:t>
            </a:r>
            <a:endParaRPr lang="en-US" altLang="ko-KR" sz="2000" b="1" dirty="0">
              <a:solidFill>
                <a:srgbClr val="FF0000"/>
              </a:solidFill>
            </a:endParaRPr>
          </a:p>
          <a:p>
            <a:pPr fontAlgn="base"/>
            <a:endParaRPr lang="en-US" altLang="ko-KR" sz="2000" b="1" dirty="0"/>
          </a:p>
          <a:p>
            <a:pPr fontAlgn="base"/>
            <a:r>
              <a:rPr lang="ko-KR" altLang="en-US" sz="2000" b="1" dirty="0"/>
              <a:t>사람도 여름과 겨울에 운동 능력이 다르고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밥을 많이 먹은 경우와 적게 먹은 경우에 낼 수 있는 퍼포먼스가 다르다</a:t>
            </a:r>
            <a:r>
              <a:rPr lang="en-US" altLang="ko-KR" sz="2000" b="1" dirty="0"/>
              <a:t>. </a:t>
            </a:r>
          </a:p>
          <a:p>
            <a:pPr fontAlgn="base"/>
            <a:endParaRPr lang="en-US" altLang="ko-KR" sz="2000" b="1" dirty="0"/>
          </a:p>
          <a:p>
            <a:pPr fontAlgn="base"/>
            <a:r>
              <a:rPr lang="ko-KR" altLang="en-US" sz="2000" b="1" dirty="0"/>
              <a:t>반도체도 온도와 전압에 따라 크게 영향을 받기 때문에 </a:t>
            </a:r>
            <a:r>
              <a:rPr lang="ko-KR" altLang="en-US" sz="2000" b="1" dirty="0" err="1"/>
              <a:t>공정사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Foundry</a:t>
            </a:r>
            <a:r>
              <a:rPr lang="ko-KR" altLang="en-US" sz="2000" b="1" dirty="0"/>
              <a:t>는 수많은 상황을 사전에 기본 소자들에 적용하고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그로 인하여 얻어낸 결과를 라이브러리 </a:t>
            </a:r>
            <a:r>
              <a:rPr lang="en-US" altLang="ko-KR" sz="2000" b="1" dirty="0"/>
              <a:t>.lib </a:t>
            </a:r>
            <a:r>
              <a:rPr lang="ko-KR" altLang="en-US" sz="2000" b="1" dirty="0"/>
              <a:t>파일로 제공하고 있다</a:t>
            </a:r>
            <a:r>
              <a:rPr lang="en-US" altLang="ko-KR" sz="2000" b="1" dirty="0"/>
              <a:t>. </a:t>
            </a:r>
          </a:p>
          <a:p>
            <a:pPr fontAlgn="base"/>
            <a:endParaRPr lang="en-US" altLang="ko-KR" sz="2000" b="1" dirty="0"/>
          </a:p>
          <a:p>
            <a:pPr fontAlgn="base"/>
            <a:r>
              <a:rPr lang="ko-KR" altLang="en-US" sz="2000" b="1" dirty="0"/>
              <a:t>환경적인 요인 뿐만 아니라 자세한 공정 정보를 담고 있는 </a:t>
            </a:r>
            <a:r>
              <a:rPr lang="en-US" altLang="ko-KR" sz="2000" b="1" dirty="0"/>
              <a:t>.lib </a:t>
            </a:r>
            <a:r>
              <a:rPr lang="ko-KR" altLang="en-US" sz="2000" b="1" dirty="0"/>
              <a:t>파일의 본질을 이해해야 함</a:t>
            </a:r>
          </a:p>
        </p:txBody>
      </p:sp>
    </p:spTree>
    <p:extLst>
      <p:ext uri="{BB962C8B-B14F-4D97-AF65-F5344CB8AC3E}">
        <p14:creationId xmlns:p14="http://schemas.microsoft.com/office/powerpoint/2010/main" val="19461969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6E444-82AF-45FB-9A78-FEE16D5D16D5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Environmental Attributes Constraint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8B6984-66A0-4596-9776-EEABAC993D88}"/>
              </a:ext>
            </a:extLst>
          </p:cNvPr>
          <p:cNvSpPr txBox="1">
            <a:spLocks/>
          </p:cNvSpPr>
          <p:nvPr/>
        </p:nvSpPr>
        <p:spPr>
          <a:xfrm>
            <a:off x="646487" y="1121663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b="1" dirty="0"/>
              <a:t>칩의 </a:t>
            </a:r>
            <a:r>
              <a:rPr lang="en-US" altLang="ko-KR" sz="2000" b="1" dirty="0"/>
              <a:t>Timing</a:t>
            </a:r>
            <a:r>
              <a:rPr lang="ko-KR" altLang="en-US" sz="2000" b="1" dirty="0"/>
              <a:t>에 영향을 미치는 요인들</a:t>
            </a:r>
            <a:r>
              <a:rPr lang="ko-KR" altLang="en-US" b="1" dirty="0"/>
              <a:t> </a:t>
            </a:r>
            <a:endParaRPr lang="en-US" altLang="ko-KR" b="1" dirty="0"/>
          </a:p>
          <a:p>
            <a:pPr lvl="1" fontAlgn="base"/>
            <a:r>
              <a:rPr lang="en-US" altLang="ko-KR" sz="1800" dirty="0"/>
              <a:t>Timing = Cell Delay + Net Delay </a:t>
            </a:r>
          </a:p>
          <a:p>
            <a:pPr lvl="1" fontAlgn="base"/>
            <a:endParaRPr lang="en-US" altLang="ko-KR" dirty="0"/>
          </a:p>
          <a:p>
            <a:pPr fontAlgn="base"/>
            <a:r>
              <a:rPr lang="en-US" altLang="ko-KR" sz="2000" b="1" dirty="0"/>
              <a:t>Cell Delay</a:t>
            </a:r>
          </a:p>
          <a:p>
            <a:pPr lvl="1" fontAlgn="base"/>
            <a:r>
              <a:rPr lang="en-US" altLang="ko-KR" sz="1800" dirty="0"/>
              <a:t>Process, Voltage, Temperature</a:t>
            </a:r>
          </a:p>
          <a:p>
            <a:pPr lvl="1" fontAlgn="base"/>
            <a:r>
              <a:rPr lang="ko-KR" altLang="en-US" sz="1800" dirty="0"/>
              <a:t>디자인의 입력에 대한 </a:t>
            </a:r>
            <a:r>
              <a:rPr lang="en-US" altLang="ko-KR" sz="1800" dirty="0"/>
              <a:t>Input Transition(</a:t>
            </a:r>
            <a:r>
              <a:rPr lang="ko-KR" altLang="en-US" sz="1800" dirty="0"/>
              <a:t>신호의 기울기</a:t>
            </a:r>
            <a:r>
              <a:rPr lang="en-US" altLang="ko-KR" sz="1800" dirty="0"/>
              <a:t>)</a:t>
            </a:r>
          </a:p>
          <a:p>
            <a:pPr lvl="1" fontAlgn="base"/>
            <a:r>
              <a:rPr lang="ko-KR" altLang="en-US" sz="1800" dirty="0"/>
              <a:t>디자인의 출력에 대한 </a:t>
            </a:r>
            <a:r>
              <a:rPr lang="en-US" altLang="ko-KR" sz="1800" dirty="0"/>
              <a:t>Output Load(Capacitance)</a:t>
            </a:r>
          </a:p>
          <a:p>
            <a:pPr lvl="1" fontAlgn="base"/>
            <a:endParaRPr lang="en-US" altLang="ko-KR" dirty="0"/>
          </a:p>
          <a:p>
            <a:pPr fontAlgn="base"/>
            <a:r>
              <a:rPr lang="en-US" altLang="ko-KR" sz="2000" b="1" dirty="0"/>
              <a:t>Net Delay </a:t>
            </a:r>
          </a:p>
          <a:p>
            <a:pPr lvl="1" fontAlgn="base"/>
            <a:r>
              <a:rPr lang="en-US" altLang="ko-KR" sz="1800" dirty="0"/>
              <a:t>Wire</a:t>
            </a:r>
            <a:r>
              <a:rPr lang="ko-KR" altLang="en-US" sz="1800" dirty="0"/>
              <a:t>에 기생하고 있는 </a:t>
            </a:r>
            <a:r>
              <a:rPr lang="en-US" altLang="ko-KR" sz="1800" dirty="0"/>
              <a:t>R, C</a:t>
            </a:r>
          </a:p>
          <a:p>
            <a:pPr lvl="1" fontAlgn="base"/>
            <a:r>
              <a:rPr lang="ko-KR" altLang="en-US" sz="1800" dirty="0"/>
              <a:t>디자인의 크기</a:t>
            </a:r>
            <a:r>
              <a:rPr lang="en-US" altLang="ko-KR" sz="1800" dirty="0"/>
              <a:t>(Area)</a:t>
            </a:r>
            <a:r>
              <a:rPr lang="ko-KR" altLang="en-US" sz="1800" dirty="0"/>
              <a:t>에 따라 다름</a:t>
            </a:r>
            <a:endParaRPr lang="en-US" altLang="ko-KR" sz="1800" dirty="0"/>
          </a:p>
          <a:p>
            <a:pPr lvl="1" fontAlgn="base"/>
            <a:endParaRPr lang="ko-KR" altLang="en-US" dirty="0"/>
          </a:p>
        </p:txBody>
      </p:sp>
      <p:pic>
        <p:nvPicPr>
          <p:cNvPr id="4" name="내용 개체 틀 9" descr="로고, 블랙이(가) 표시된 사진&#10;&#10;자동 생성된 설명">
            <a:extLst>
              <a:ext uri="{FF2B5EF4-FFF2-40B4-BE49-F238E27FC236}">
                <a16:creationId xmlns:a16="http://schemas.microsoft.com/office/drawing/2014/main" id="{45ABC1F7-4279-4414-9992-9C834D5C2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5184246"/>
            <a:ext cx="3633547" cy="1008065"/>
          </a:xfrm>
          <a:prstGeom prst="rect">
            <a:avLst/>
          </a:prstGeom>
        </p:spPr>
      </p:pic>
      <p:pic>
        <p:nvPicPr>
          <p:cNvPr id="5" name="그림 4" descr="로고이(가) 표시된 사진&#10;&#10;자동 생성된 설명">
            <a:extLst>
              <a:ext uri="{FF2B5EF4-FFF2-40B4-BE49-F238E27FC236}">
                <a16:creationId xmlns:a16="http://schemas.microsoft.com/office/drawing/2014/main" id="{A9AC3DD6-DE7C-4789-BDDA-A36E8C5B02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906" y="3365848"/>
            <a:ext cx="2326639" cy="1303578"/>
          </a:xfrm>
          <a:prstGeom prst="rect">
            <a:avLst/>
          </a:prstGeom>
        </p:spPr>
      </p:pic>
      <p:grpSp>
        <p:nvGrpSpPr>
          <p:cNvPr id="6" name="그룹 10">
            <a:extLst>
              <a:ext uri="{FF2B5EF4-FFF2-40B4-BE49-F238E27FC236}">
                <a16:creationId xmlns:a16="http://schemas.microsoft.com/office/drawing/2014/main" id="{A0C9ECDA-311A-43ED-B391-B654CD5CAF1A}"/>
              </a:ext>
            </a:extLst>
          </p:cNvPr>
          <p:cNvGrpSpPr/>
          <p:nvPr/>
        </p:nvGrpSpPr>
        <p:grpSpPr>
          <a:xfrm>
            <a:off x="7407930" y="2252061"/>
            <a:ext cx="3278590" cy="1028430"/>
            <a:chOff x="7340249" y="2145593"/>
            <a:chExt cx="3278590" cy="1028430"/>
          </a:xfrm>
        </p:grpSpPr>
        <p:pic>
          <p:nvPicPr>
            <p:cNvPr id="7" name="그림 5" descr="블랙, 어둠이(가) 표시된 사진&#10;&#10;자동 생성된 설명">
              <a:extLst>
                <a:ext uri="{FF2B5EF4-FFF2-40B4-BE49-F238E27FC236}">
                  <a16:creationId xmlns:a16="http://schemas.microsoft.com/office/drawing/2014/main" id="{D4CABE1D-EAF7-4D7E-9B35-86A91C548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4268" y="2145593"/>
              <a:ext cx="987222" cy="1017598"/>
            </a:xfrm>
            <a:prstGeom prst="rect">
              <a:avLst/>
            </a:prstGeom>
          </p:spPr>
        </p:pic>
        <p:pic>
          <p:nvPicPr>
            <p:cNvPr id="8" name="그림 6" descr="스크린샷, 블랙, 화이트, 그래픽이(가) 표시된 사진&#10;&#10;자동 생성된 설명">
              <a:extLst>
                <a:ext uri="{FF2B5EF4-FFF2-40B4-BE49-F238E27FC236}">
                  <a16:creationId xmlns:a16="http://schemas.microsoft.com/office/drawing/2014/main" id="{F459A411-6D81-4BAE-B385-31158AEF0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5644" y="2145593"/>
              <a:ext cx="873195" cy="1028430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AD8ACBD-6038-4850-BED3-B1BD1F0AD300}"/>
                </a:ext>
              </a:extLst>
            </p:cNvPr>
            <p:cNvSpPr/>
            <p:nvPr/>
          </p:nvSpPr>
          <p:spPr>
            <a:xfrm>
              <a:off x="7340249" y="2215453"/>
              <a:ext cx="1087315" cy="41323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Process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C534C0F-51FE-40D1-904D-FE9C9713C0C2}"/>
                </a:ext>
              </a:extLst>
            </p:cNvPr>
            <p:cNvSpPr/>
            <p:nvPr/>
          </p:nvSpPr>
          <p:spPr>
            <a:xfrm>
              <a:off x="7340249" y="2628691"/>
              <a:ext cx="1087315" cy="413238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FF,TT,SS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63991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7E57-B2BC-4E05-AD3E-4045AF24B811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Cell Delay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BE91B2-03FD-4440-9289-EF580E3E4EE3}"/>
              </a:ext>
            </a:extLst>
          </p:cNvPr>
          <p:cNvSpPr txBox="1">
            <a:spLocks/>
          </p:cNvSpPr>
          <p:nvPr/>
        </p:nvSpPr>
        <p:spPr>
          <a:xfrm>
            <a:off x="573218" y="1086494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Cell Delay </a:t>
            </a:r>
          </a:p>
          <a:p>
            <a:pPr lvl="1" fontAlgn="base"/>
            <a:r>
              <a:rPr lang="ko-KR" altLang="en-US" sz="1800" dirty="0"/>
              <a:t>셀 딜레이에 영향을 미치는 요소 </a:t>
            </a:r>
            <a:endParaRPr lang="en-US" altLang="ko-KR" sz="1800" dirty="0"/>
          </a:p>
          <a:p>
            <a:pPr lvl="2" fontAlgn="base"/>
            <a:r>
              <a:rPr lang="en-US" altLang="ko-KR" sz="1600" dirty="0"/>
              <a:t>Process, Voltage, Temperature</a:t>
            </a:r>
          </a:p>
          <a:p>
            <a:pPr lvl="2" fontAlgn="base"/>
            <a:r>
              <a:rPr lang="ko-KR" altLang="en-US" sz="1600" dirty="0"/>
              <a:t>디자인의 입력에 대한 </a:t>
            </a:r>
            <a:r>
              <a:rPr lang="en-US" altLang="ko-KR" sz="1600" dirty="0"/>
              <a:t>Input Transition</a:t>
            </a:r>
          </a:p>
          <a:p>
            <a:pPr lvl="2" fontAlgn="base"/>
            <a:r>
              <a:rPr lang="ko-KR" altLang="en-US" sz="1600" dirty="0"/>
              <a:t>디자인의 출력에 대한 </a:t>
            </a:r>
            <a:r>
              <a:rPr lang="en-US" altLang="ko-KR" sz="1600" dirty="0"/>
              <a:t>Output Load</a:t>
            </a:r>
            <a:endParaRPr lang="ko-KR" altLang="en-US" sz="1600" dirty="0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23AB82F4-A339-4805-AEA4-B5AE07BBB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215" y="2756206"/>
            <a:ext cx="6646984" cy="30153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1992806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D4D9CB-395D-4354-B9BB-C8077FE0CAFE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Cell Delay : PVT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408004-E08C-4EDE-81C6-FCE6604765B3}"/>
              </a:ext>
            </a:extLst>
          </p:cNvPr>
          <p:cNvSpPr txBox="1">
            <a:spLocks/>
          </p:cNvSpPr>
          <p:nvPr/>
        </p:nvSpPr>
        <p:spPr>
          <a:xfrm>
            <a:off x="529371" y="999018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PVT Corner(Process, Voltage, Temperature)</a:t>
            </a:r>
          </a:p>
          <a:p>
            <a:pPr lvl="1" fontAlgn="base"/>
            <a:r>
              <a:rPr lang="ko-KR" altLang="en-US" sz="1800" dirty="0"/>
              <a:t>주황색은 디자인 밖의 요소로서 환경적인 요소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Process: </a:t>
            </a:r>
            <a:r>
              <a:rPr lang="ko-KR" altLang="en-US" sz="1800" dirty="0"/>
              <a:t>공정 변동 </a:t>
            </a:r>
            <a:r>
              <a:rPr lang="en-US" altLang="ko-KR" sz="1800" dirty="0"/>
              <a:t>(Fast-Fast, Slow-Slow, Typical-Typical)</a:t>
            </a:r>
          </a:p>
          <a:p>
            <a:pPr lvl="1" fontAlgn="base"/>
            <a:r>
              <a:rPr lang="en-US" altLang="ko-KR" sz="1800" dirty="0"/>
              <a:t>Voltage: </a:t>
            </a:r>
            <a:r>
              <a:rPr lang="ko-KR" altLang="en-US" sz="1800" dirty="0"/>
              <a:t>동작 전압 조건 </a:t>
            </a:r>
            <a:r>
              <a:rPr lang="en-US" altLang="ko-KR" sz="1800" dirty="0"/>
              <a:t>(</a:t>
            </a:r>
            <a:r>
              <a:rPr lang="ko-KR" altLang="en-US" sz="1800" dirty="0"/>
              <a:t>일반적으로 기준 전압의 </a:t>
            </a:r>
            <a:r>
              <a:rPr lang="en-US" altLang="ko-KR" sz="1800" dirty="0"/>
              <a:t>±10%)</a:t>
            </a:r>
          </a:p>
          <a:p>
            <a:pPr lvl="1" fontAlgn="base"/>
            <a:r>
              <a:rPr lang="en-US" altLang="ko-KR" sz="1800" dirty="0"/>
              <a:t>Temperature: </a:t>
            </a:r>
            <a:r>
              <a:rPr lang="ko-KR" altLang="en-US" sz="1800" dirty="0"/>
              <a:t>동작 온도 조건 </a:t>
            </a:r>
            <a:r>
              <a:rPr lang="en-US" altLang="ko-KR" sz="1800" dirty="0"/>
              <a:t>(-40°C ~ 125°C)</a:t>
            </a:r>
            <a:endParaRPr lang="ko-KR" altLang="en-US" sz="1800" b="1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3EEB8C70-DA8C-4F70-BB04-DF70DA73D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743" y="2891365"/>
            <a:ext cx="5493975" cy="2641853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7496626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AA7D80-CAEC-4483-A0E3-7D5352CB322A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Cell Delay : PVT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29F54C-D274-4B27-823C-364A4BB18542}"/>
              </a:ext>
            </a:extLst>
          </p:cNvPr>
          <p:cNvSpPr txBox="1">
            <a:spLocks/>
          </p:cNvSpPr>
          <p:nvPr/>
        </p:nvSpPr>
        <p:spPr>
          <a:xfrm>
            <a:off x="551294" y="1192001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b="1" dirty="0"/>
              <a:t>반도체의 기본 특성인 </a:t>
            </a:r>
            <a:r>
              <a:rPr lang="en-US" altLang="ko-KR" sz="2000" b="1" dirty="0"/>
              <a:t>PVT Corner(Process, Voltage, Temperature)</a:t>
            </a:r>
          </a:p>
          <a:p>
            <a:pPr lvl="1" fontAlgn="base"/>
            <a:r>
              <a:rPr lang="ko-KR" altLang="en-US" sz="1800" dirty="0"/>
              <a:t>온도</a:t>
            </a:r>
            <a:r>
              <a:rPr lang="ko-KR" altLang="en-US" dirty="0"/>
              <a:t> </a:t>
            </a:r>
            <a:endParaRPr lang="en-US" altLang="ko-KR" dirty="0"/>
          </a:p>
          <a:p>
            <a:pPr lvl="2" fontAlgn="base"/>
            <a:r>
              <a:rPr lang="ko-KR" altLang="en-US" sz="1600" dirty="0"/>
              <a:t>반도체 특성 </a:t>
            </a:r>
            <a:r>
              <a:rPr lang="en-US" altLang="ko-KR" sz="1600" dirty="0"/>
              <a:t>: </a:t>
            </a:r>
            <a:r>
              <a:rPr lang="ko-KR" altLang="en-US" sz="1600" dirty="0"/>
              <a:t>저온에서 빠르게 동작</a:t>
            </a:r>
            <a:r>
              <a:rPr lang="en-US" altLang="ko-KR" sz="1600" dirty="0"/>
              <a:t>, </a:t>
            </a:r>
            <a:r>
              <a:rPr lang="ko-KR" altLang="en-US" sz="1600" dirty="0"/>
              <a:t>반대로 </a:t>
            </a:r>
            <a:r>
              <a:rPr lang="ko-KR" altLang="en-US" sz="1600" dirty="0" err="1"/>
              <a:t>고온에서</a:t>
            </a:r>
            <a:r>
              <a:rPr lang="ko-KR" altLang="en-US" sz="1600" dirty="0"/>
              <a:t> 느리게 동작</a:t>
            </a:r>
            <a:endParaRPr lang="en-US" altLang="ko-KR" sz="1600" dirty="0"/>
          </a:p>
          <a:p>
            <a:pPr lvl="2" fontAlgn="base"/>
            <a:r>
              <a:rPr lang="ko-KR" altLang="en-US" sz="1600" dirty="0"/>
              <a:t>같은 칩이더라도 남극과 북극지방에서는 빠른 동작이 가능하고</a:t>
            </a:r>
            <a:r>
              <a:rPr lang="en-US" altLang="ko-KR" sz="1600" dirty="0"/>
              <a:t>, </a:t>
            </a:r>
            <a:r>
              <a:rPr lang="ko-KR" altLang="en-US" sz="1600" dirty="0"/>
              <a:t>화산 지역과 사막에서는 느리게 동작</a:t>
            </a:r>
            <a:endParaRPr lang="en-US" altLang="ko-KR" sz="1600" dirty="0"/>
          </a:p>
          <a:p>
            <a:pPr lvl="2" fontAlgn="base"/>
            <a:endParaRPr lang="en-US" altLang="ko-KR" dirty="0"/>
          </a:p>
          <a:p>
            <a:pPr lvl="1" fontAlgn="base"/>
            <a:r>
              <a:rPr lang="ko-KR" altLang="en-US" sz="1800" dirty="0"/>
              <a:t>전압</a:t>
            </a:r>
            <a:r>
              <a:rPr lang="ko-KR" altLang="en-US" dirty="0"/>
              <a:t> </a:t>
            </a:r>
            <a:endParaRPr lang="en-US" altLang="ko-KR" dirty="0"/>
          </a:p>
          <a:p>
            <a:pPr lvl="2" fontAlgn="base"/>
            <a:r>
              <a:rPr lang="ko-KR" altLang="en-US" sz="1600" dirty="0"/>
              <a:t>사람이 밥을 먹는 것과 </a:t>
            </a:r>
            <a:r>
              <a:rPr lang="ko-KR" altLang="en-US" sz="1600" dirty="0" err="1"/>
              <a:t>비슷</a:t>
            </a:r>
            <a:endParaRPr lang="en-US" altLang="ko-KR" sz="1600" dirty="0"/>
          </a:p>
          <a:p>
            <a:pPr lvl="2" fontAlgn="base"/>
            <a:r>
              <a:rPr lang="ko-KR" altLang="en-US" sz="1600" dirty="0"/>
              <a:t>배고프면 힘을 못 내서 느리게 동작</a:t>
            </a:r>
            <a:r>
              <a:rPr lang="en-US" altLang="ko-KR" sz="1600" dirty="0"/>
              <a:t>, </a:t>
            </a:r>
            <a:r>
              <a:rPr lang="ko-KR" altLang="en-US" sz="1600" dirty="0"/>
              <a:t>반대로 밥을 많이 먹으면 힘을 많이 내서 퍼포먼스가 좋아짐 </a:t>
            </a:r>
            <a:endParaRPr lang="en-US" altLang="ko-KR" sz="1600" dirty="0"/>
          </a:p>
          <a:p>
            <a:pPr lvl="2" fontAlgn="base"/>
            <a:r>
              <a:rPr lang="ko-KR" altLang="en-US" sz="1600" dirty="0"/>
              <a:t>공정별로 정해져 있는 기준 전압을 문서에서 파악한 뒤 </a:t>
            </a:r>
            <a:r>
              <a:rPr lang="en-US" altLang="ko-KR" sz="1600" dirty="0"/>
              <a:t>±10%</a:t>
            </a:r>
            <a:r>
              <a:rPr lang="ko-KR" altLang="en-US" sz="1600" dirty="0"/>
              <a:t>를 적용함 </a:t>
            </a:r>
            <a:endParaRPr lang="en-US" altLang="ko-KR" sz="1600" dirty="0"/>
          </a:p>
          <a:p>
            <a:pPr lvl="2" fontAlgn="base"/>
            <a:r>
              <a:rPr lang="ko-KR" altLang="en-US" sz="1600" dirty="0"/>
              <a:t>예</a:t>
            </a:r>
            <a:r>
              <a:rPr lang="en-US" altLang="ko-KR" sz="1600" dirty="0"/>
              <a:t>) </a:t>
            </a:r>
            <a:r>
              <a:rPr lang="ko-KR" altLang="en-US" sz="1600" dirty="0"/>
              <a:t>기준 전압이 </a:t>
            </a:r>
            <a:r>
              <a:rPr lang="en-US" altLang="ko-KR" sz="1600" dirty="0"/>
              <a:t>1.0V</a:t>
            </a:r>
            <a:r>
              <a:rPr lang="ko-KR" altLang="en-US" sz="1600" dirty="0"/>
              <a:t>라면</a:t>
            </a:r>
            <a:r>
              <a:rPr lang="en-US" altLang="ko-KR" sz="1600" dirty="0"/>
              <a:t>,</a:t>
            </a:r>
            <a:r>
              <a:rPr lang="ko-KR" altLang="en-US" sz="1600" dirty="0"/>
              <a:t> </a:t>
            </a:r>
            <a:r>
              <a:rPr lang="en-US" altLang="ko-KR" sz="1600" dirty="0">
                <a:solidFill>
                  <a:srgbClr val="FF0000"/>
                </a:solidFill>
              </a:rPr>
              <a:t>0.9, 1.0, 1.1V</a:t>
            </a:r>
            <a:r>
              <a:rPr lang="ko-KR" altLang="en-US" sz="1600" dirty="0"/>
              <a:t>가</a:t>
            </a:r>
            <a:r>
              <a:rPr lang="ko-KR" altLang="en-US" sz="1600" dirty="0">
                <a:solidFill>
                  <a:srgbClr val="FF0000"/>
                </a:solidFill>
              </a:rPr>
              <a:t> </a:t>
            </a:r>
            <a:r>
              <a:rPr lang="ko-KR" altLang="en-US" sz="1600" dirty="0"/>
              <a:t>가용 전압의 범위가 됨 </a:t>
            </a:r>
            <a:endParaRPr lang="en-US" altLang="ko-KR" sz="1600" dirty="0"/>
          </a:p>
          <a:p>
            <a:pPr lvl="1" fontAlgn="base"/>
            <a:endParaRPr lang="en-US" altLang="ko-KR" dirty="0"/>
          </a:p>
          <a:p>
            <a:pPr lvl="1" fontAlgn="base"/>
            <a:r>
              <a:rPr lang="ko-KR" altLang="en-US" sz="1800" dirty="0"/>
              <a:t>공정</a:t>
            </a:r>
            <a:endParaRPr lang="en-US" altLang="ko-KR" sz="1800" dirty="0"/>
          </a:p>
          <a:p>
            <a:pPr lvl="2" fontAlgn="base"/>
            <a:r>
              <a:rPr lang="ko-KR" altLang="en-US" sz="1600" dirty="0"/>
              <a:t>디지털 게이트는 주로 </a:t>
            </a:r>
            <a:r>
              <a:rPr lang="en-US" altLang="ko-KR" sz="1600" dirty="0"/>
              <a:t>CMOS</a:t>
            </a:r>
            <a:r>
              <a:rPr lang="ko-KR" altLang="en-US" sz="1600" dirty="0"/>
              <a:t>로 이루어짐</a:t>
            </a:r>
            <a:r>
              <a:rPr lang="en-US" altLang="ko-KR" sz="1600" dirty="0"/>
              <a:t>(NMOS</a:t>
            </a:r>
            <a:r>
              <a:rPr lang="ko-KR" altLang="en-US" sz="1600" dirty="0"/>
              <a:t> </a:t>
            </a:r>
            <a:r>
              <a:rPr lang="en-US" altLang="ko-KR" sz="1600" dirty="0"/>
              <a:t>+</a:t>
            </a:r>
            <a:r>
              <a:rPr lang="ko-KR" altLang="en-US" sz="1600" dirty="0"/>
              <a:t> </a:t>
            </a:r>
            <a:r>
              <a:rPr lang="en-US" altLang="ko-KR" sz="1600" dirty="0"/>
              <a:t>PMOS)</a:t>
            </a:r>
          </a:p>
          <a:p>
            <a:pPr lvl="2" fontAlgn="base"/>
            <a:r>
              <a:rPr lang="ko-KR" altLang="en-US" sz="1600" dirty="0"/>
              <a:t>셀을 빠르게 </a:t>
            </a:r>
            <a:r>
              <a:rPr lang="ko-KR" altLang="en-US" sz="1600" dirty="0" err="1"/>
              <a:t>동작시킬</a:t>
            </a:r>
            <a:r>
              <a:rPr lang="ko-KR" altLang="en-US" sz="1600" dirty="0"/>
              <a:t> 수 있는 공정을 </a:t>
            </a:r>
            <a:r>
              <a:rPr lang="en-US" altLang="ko-KR" sz="1600" dirty="0"/>
              <a:t>FF(Fast-Fast), </a:t>
            </a:r>
            <a:r>
              <a:rPr lang="ko-KR" altLang="en-US" sz="1600" dirty="0"/>
              <a:t>느린 공정을 </a:t>
            </a:r>
            <a:r>
              <a:rPr lang="en-US" altLang="ko-KR" sz="1600" dirty="0"/>
              <a:t>SS(Slow-Slow)</a:t>
            </a:r>
            <a:r>
              <a:rPr lang="ko-KR" altLang="en-US" sz="1600" dirty="0"/>
              <a:t>라고 부름</a:t>
            </a:r>
            <a:endParaRPr lang="en-US" altLang="ko-KR" sz="1600" dirty="0"/>
          </a:p>
          <a:p>
            <a:pPr lvl="2" fontAlgn="base"/>
            <a:r>
              <a:rPr lang="ko-KR" altLang="en-US" sz="1600" dirty="0"/>
              <a:t>디지털 설계에서는 </a:t>
            </a:r>
            <a:r>
              <a:rPr lang="en-US" altLang="ko-KR" sz="1600" dirty="0">
                <a:solidFill>
                  <a:srgbClr val="FF0000"/>
                </a:solidFill>
              </a:rPr>
              <a:t>SS, TT, FF </a:t>
            </a:r>
            <a:r>
              <a:rPr lang="ko-KR" altLang="en-US" sz="1600" dirty="0"/>
              <a:t>총 </a:t>
            </a:r>
            <a:r>
              <a:rPr lang="en-US" altLang="ko-KR" sz="1600" dirty="0"/>
              <a:t>3</a:t>
            </a:r>
            <a:r>
              <a:rPr lang="ko-KR" altLang="en-US" sz="1600" dirty="0"/>
              <a:t>가지 코너를 기본으로 고려한다</a:t>
            </a:r>
          </a:p>
        </p:txBody>
      </p:sp>
    </p:spTree>
    <p:extLst>
      <p:ext uri="{BB962C8B-B14F-4D97-AF65-F5344CB8AC3E}">
        <p14:creationId xmlns:p14="http://schemas.microsoft.com/office/powerpoint/2010/main" val="19660049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2DF84-A115-417C-A8F8-803DB3B91C5C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Cell Delay : PVT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AA5D85-C7CA-4482-B94D-3C6B869B9491}"/>
              </a:ext>
            </a:extLst>
          </p:cNvPr>
          <p:cNvSpPr txBox="1">
            <a:spLocks/>
          </p:cNvSpPr>
          <p:nvPr/>
        </p:nvSpPr>
        <p:spPr>
          <a:xfrm>
            <a:off x="573218" y="1156832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PVT Corner(Process, Voltage, Temperature)</a:t>
            </a:r>
          </a:p>
          <a:p>
            <a:pPr lvl="1" fontAlgn="base"/>
            <a:r>
              <a:rPr lang="ko-KR" altLang="en-US" sz="1800" dirty="0"/>
              <a:t>공정</a:t>
            </a:r>
            <a:r>
              <a:rPr lang="en-US" altLang="ko-KR" sz="1800" dirty="0"/>
              <a:t>, </a:t>
            </a:r>
            <a:r>
              <a:rPr lang="ko-KR" altLang="en-US" sz="1800" dirty="0"/>
              <a:t>전압</a:t>
            </a:r>
            <a:r>
              <a:rPr lang="en-US" altLang="ko-KR" sz="1800" dirty="0"/>
              <a:t>, </a:t>
            </a:r>
            <a:r>
              <a:rPr lang="ko-KR" altLang="en-US" sz="1800" dirty="0"/>
              <a:t>온도</a:t>
            </a:r>
            <a:r>
              <a:rPr lang="en-US" altLang="ko-KR" sz="1800" dirty="0"/>
              <a:t> </a:t>
            </a:r>
            <a:r>
              <a:rPr lang="ko-KR" altLang="en-US" sz="1800" dirty="0"/>
              <a:t>정보는 </a:t>
            </a:r>
            <a:r>
              <a:rPr lang="en-US" altLang="ko-KR" sz="1800" dirty="0"/>
              <a:t>.lib</a:t>
            </a:r>
            <a:r>
              <a:rPr lang="ko-KR" altLang="en-US" sz="1800" dirty="0"/>
              <a:t> 파일에 모두 들어 있음 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CADENCE GPDK045</a:t>
            </a:r>
            <a:r>
              <a:rPr lang="ko-KR" altLang="en-US" sz="1800" dirty="0"/>
              <a:t>의 경우</a:t>
            </a:r>
            <a:r>
              <a:rPr lang="en-US" altLang="ko-KR" sz="1800" dirty="0"/>
              <a:t>, </a:t>
            </a:r>
            <a:r>
              <a:rPr lang="ko-KR" altLang="en-US" sz="1800" dirty="0"/>
              <a:t>아래와 같은 </a:t>
            </a:r>
            <a:r>
              <a:rPr lang="en-US" altLang="ko-KR" sz="1800" dirty="0"/>
              <a:t>.lib </a:t>
            </a:r>
            <a:r>
              <a:rPr lang="ko-KR" altLang="en-US" sz="1800" dirty="0"/>
              <a:t>파일들이 제공됨 </a:t>
            </a:r>
          </a:p>
          <a:p>
            <a:pPr lvl="1" fontAlgn="base"/>
            <a:endParaRPr lang="ko-KR" altLang="en-US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2B38E5BA-B5BF-427B-B3F4-AA6E28C24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035" y="2224729"/>
            <a:ext cx="6799976" cy="2014742"/>
          </a:xfrm>
          <a:prstGeom prst="rect">
            <a:avLst/>
          </a:prstGeom>
          <a:noFill/>
          <a:ln w="3556" cap="rnd">
            <a:solidFill>
              <a:srgbClr val="000000"/>
            </a:solidFill>
            <a:prstDash val="solid"/>
            <a:round/>
          </a:ln>
          <a:effectLst/>
        </p:spPr>
      </p:pic>
      <p:grpSp>
        <p:nvGrpSpPr>
          <p:cNvPr id="6" name="그룹 8">
            <a:extLst>
              <a:ext uri="{FF2B5EF4-FFF2-40B4-BE49-F238E27FC236}">
                <a16:creationId xmlns:a16="http://schemas.microsoft.com/office/drawing/2014/main" id="{EA33423E-E938-42FD-A428-F385E77CAF98}"/>
              </a:ext>
            </a:extLst>
          </p:cNvPr>
          <p:cNvGrpSpPr/>
          <p:nvPr/>
        </p:nvGrpSpPr>
        <p:grpSpPr>
          <a:xfrm>
            <a:off x="310662" y="4645396"/>
            <a:ext cx="5785338" cy="1616754"/>
            <a:chOff x="0" y="5206693"/>
            <a:chExt cx="5785338" cy="1616754"/>
          </a:xfrm>
        </p:grpSpPr>
        <p:sp>
          <p:nvSpPr>
            <p:cNvPr id="7" name="직사각형 7">
              <a:extLst>
                <a:ext uri="{FF2B5EF4-FFF2-40B4-BE49-F238E27FC236}">
                  <a16:creationId xmlns:a16="http://schemas.microsoft.com/office/drawing/2014/main" id="{5DF01155-A62D-4BBF-8E93-F3C4BE07484A}"/>
                </a:ext>
              </a:extLst>
            </p:cNvPr>
            <p:cNvSpPr/>
            <p:nvPr/>
          </p:nvSpPr>
          <p:spPr>
            <a:xfrm>
              <a:off x="0" y="5206693"/>
              <a:ext cx="5785338" cy="1616754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839536E2-DA66-4414-8B02-152ED8B2A1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789" y="5270345"/>
              <a:ext cx="5540757" cy="148945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</p:pic>
      </p:grpSp>
      <p:sp>
        <p:nvSpPr>
          <p:cNvPr id="9" name="화살표: 아래쪽 9">
            <a:extLst>
              <a:ext uri="{FF2B5EF4-FFF2-40B4-BE49-F238E27FC236}">
                <a16:creationId xmlns:a16="http://schemas.microsoft.com/office/drawing/2014/main" id="{45FD332F-6467-4294-8B7F-122246A0A503}"/>
              </a:ext>
            </a:extLst>
          </p:cNvPr>
          <p:cNvSpPr/>
          <p:nvPr/>
        </p:nvSpPr>
        <p:spPr>
          <a:xfrm rot="10800000">
            <a:off x="2851638" y="4239471"/>
            <a:ext cx="413239" cy="57921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6034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C94881-4CD2-4B68-9A45-E129787CA367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Cell Delay : PVT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C0C77D-796E-4F0F-8CDC-C49A7D9BF798}"/>
              </a:ext>
            </a:extLst>
          </p:cNvPr>
          <p:cNvSpPr txBox="1">
            <a:spLocks/>
          </p:cNvSpPr>
          <p:nvPr/>
        </p:nvSpPr>
        <p:spPr>
          <a:xfrm>
            <a:off x="573218" y="1104078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PVT Corner(Process, Voltage, Temperature)</a:t>
            </a:r>
          </a:p>
          <a:p>
            <a:pPr lvl="1" fontAlgn="base"/>
            <a:r>
              <a:rPr lang="ko-KR" altLang="en-US" sz="1800" dirty="0"/>
              <a:t>설계자가 툴에서 해야 하는 일 </a:t>
            </a:r>
            <a:r>
              <a:rPr lang="en-US" altLang="ko-KR" sz="1800" dirty="0"/>
              <a:t>(</a:t>
            </a:r>
            <a:r>
              <a:rPr lang="ko-KR" altLang="en-US" sz="1800" dirty="0"/>
              <a:t>아래 순서대로</a:t>
            </a:r>
            <a:r>
              <a:rPr lang="en-US" altLang="ko-KR" sz="1800" dirty="0"/>
              <a:t>)</a:t>
            </a:r>
          </a:p>
          <a:p>
            <a:pPr lvl="2" fontAlgn="base"/>
            <a:r>
              <a:rPr lang="en-US" altLang="ko-KR" sz="1600" dirty="0"/>
              <a:t>PVT </a:t>
            </a:r>
            <a:r>
              <a:rPr lang="ko-KR" altLang="en-US" sz="1600" dirty="0"/>
              <a:t>정보가 </a:t>
            </a:r>
            <a:r>
              <a:rPr lang="en-US" altLang="ko-KR" sz="1600" dirty="0"/>
              <a:t>.lib</a:t>
            </a:r>
            <a:r>
              <a:rPr lang="ko-KR" altLang="en-US" sz="1600" dirty="0"/>
              <a:t>에 들어 있음을 이해 </a:t>
            </a:r>
            <a:endParaRPr lang="en-US" altLang="ko-KR" sz="1600" dirty="0"/>
          </a:p>
          <a:p>
            <a:pPr lvl="2" fontAlgn="base"/>
            <a:endParaRPr lang="en-US" altLang="ko-KR" sz="1600" dirty="0"/>
          </a:p>
          <a:p>
            <a:pPr lvl="2" fontAlgn="base"/>
            <a:r>
              <a:rPr lang="en-US" altLang="ko-KR" sz="1600" dirty="0"/>
              <a:t>.lib </a:t>
            </a:r>
            <a:r>
              <a:rPr lang="ko-KR" altLang="en-US" sz="1600" dirty="0"/>
              <a:t>파일에 들어 있는 </a:t>
            </a:r>
            <a:r>
              <a:rPr lang="en-US" altLang="ko-KR" sz="1600" dirty="0"/>
              <a:t>Operating Condition</a:t>
            </a:r>
            <a:r>
              <a:rPr lang="ko-KR" altLang="en-US" sz="1600" dirty="0"/>
              <a:t>의 이름들과 특성들을 파악 </a:t>
            </a:r>
            <a:endParaRPr lang="en-US" altLang="ko-KR" sz="1600" dirty="0"/>
          </a:p>
          <a:p>
            <a:pPr lvl="2" fontAlgn="base"/>
            <a:endParaRPr lang="en-US" altLang="ko-KR" sz="1600" dirty="0"/>
          </a:p>
          <a:p>
            <a:pPr lvl="2" fontAlgn="base"/>
            <a:r>
              <a:rPr lang="ko-KR" altLang="en-US" sz="1600" dirty="0"/>
              <a:t>합성 시 사용할 </a:t>
            </a:r>
            <a:r>
              <a:rPr lang="en-US" altLang="ko-KR" sz="1600" dirty="0"/>
              <a:t>Operating Condition</a:t>
            </a:r>
            <a:r>
              <a:rPr lang="ko-KR" altLang="en-US" sz="1600" dirty="0"/>
              <a:t>을</a:t>
            </a:r>
            <a:r>
              <a:rPr lang="en-US" altLang="ko-KR" sz="1600" dirty="0"/>
              <a:t> </a:t>
            </a:r>
            <a:r>
              <a:rPr lang="ko-KR" altLang="en-US" sz="1600" dirty="0"/>
              <a:t>툴에게 알려주면 됨</a:t>
            </a:r>
            <a:r>
              <a:rPr lang="en-US" altLang="ko-KR" sz="1600" dirty="0"/>
              <a:t>(</a:t>
            </a:r>
            <a:r>
              <a:rPr lang="ko-KR" altLang="en-US" sz="1600" dirty="0"/>
              <a:t>아래 명령 사용</a:t>
            </a:r>
            <a:r>
              <a:rPr lang="en-US" altLang="ko-KR" sz="1600" dirty="0"/>
              <a:t>)</a:t>
            </a:r>
            <a:r>
              <a:rPr lang="ko-KR" altLang="en-US" sz="1600" dirty="0"/>
              <a:t> </a:t>
            </a:r>
          </a:p>
          <a:p>
            <a:pPr lvl="1" fontAlgn="base"/>
            <a:endParaRPr lang="ko-KR" altLang="en-US" dirty="0"/>
          </a:p>
        </p:txBody>
      </p:sp>
      <p:pic>
        <p:nvPicPr>
          <p:cNvPr id="4" name="그림 6">
            <a:extLst>
              <a:ext uri="{FF2B5EF4-FFF2-40B4-BE49-F238E27FC236}">
                <a16:creationId xmlns:a16="http://schemas.microsoft.com/office/drawing/2014/main" id="{38DCD5B5-7310-4250-9FC9-42D34A381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794" y="3534060"/>
            <a:ext cx="7123967" cy="521481"/>
          </a:xfrm>
          <a:prstGeom prst="rect">
            <a:avLst/>
          </a:prstGeom>
        </p:spPr>
      </p:pic>
      <p:sp>
        <p:nvSpPr>
          <p:cNvPr id="5" name="화살표: 아래쪽 7">
            <a:extLst>
              <a:ext uri="{FF2B5EF4-FFF2-40B4-BE49-F238E27FC236}">
                <a16:creationId xmlns:a16="http://schemas.microsoft.com/office/drawing/2014/main" id="{40CD700A-AEC3-41AD-838D-4023E6FE3ED7}"/>
              </a:ext>
            </a:extLst>
          </p:cNvPr>
          <p:cNvSpPr/>
          <p:nvPr/>
        </p:nvSpPr>
        <p:spPr>
          <a:xfrm>
            <a:off x="964955" y="1860044"/>
            <a:ext cx="413239" cy="19347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65263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758C87-E7A5-4F8C-8FB0-469D5BAADA11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Cell Delay : Input transition / Output load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F922E1-1439-4067-8832-E117CFA992B3}"/>
              </a:ext>
            </a:extLst>
          </p:cNvPr>
          <p:cNvSpPr txBox="1">
            <a:spLocks/>
          </p:cNvSpPr>
          <p:nvPr/>
        </p:nvSpPr>
        <p:spPr>
          <a:xfrm>
            <a:off x="529371" y="1086493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Cell Delay </a:t>
            </a:r>
          </a:p>
          <a:p>
            <a:pPr lvl="1" fontAlgn="base"/>
            <a:r>
              <a:rPr lang="ko-KR" altLang="en-US" sz="1800" dirty="0"/>
              <a:t>여러 </a:t>
            </a:r>
            <a:r>
              <a:rPr lang="en-US" altLang="ko-KR" sz="1800" dirty="0"/>
              <a:t>PVT </a:t>
            </a:r>
            <a:r>
              <a:rPr lang="ko-KR" altLang="en-US" sz="1800" dirty="0"/>
              <a:t>중에 원하는 것을 설계자가 고르면 칩이 구동될 상황의 지정은 고정된 것</a:t>
            </a:r>
            <a:r>
              <a:rPr lang="en-US" altLang="ko-KR" sz="1800" dirty="0"/>
              <a:t> </a:t>
            </a:r>
          </a:p>
          <a:p>
            <a:pPr lvl="1" fontAlgn="base"/>
            <a:r>
              <a:rPr lang="ko-KR" altLang="en-US" sz="1800" dirty="0"/>
              <a:t>이제는 고정된 상황 내에서 </a:t>
            </a:r>
            <a:r>
              <a:rPr lang="en-US" altLang="ko-KR" sz="1800" dirty="0"/>
              <a:t>Delay</a:t>
            </a:r>
            <a:r>
              <a:rPr lang="ko-KR" altLang="en-US" sz="1800" dirty="0"/>
              <a:t> 즉</a:t>
            </a:r>
            <a:r>
              <a:rPr lang="en-US" altLang="ko-KR" sz="1800" dirty="0"/>
              <a:t>,</a:t>
            </a:r>
            <a:r>
              <a:rPr lang="ko-KR" altLang="en-US" sz="1800" dirty="0"/>
              <a:t> 얼마나 시간이 걸리는지 고려해야 함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Cell Delay</a:t>
            </a:r>
            <a:r>
              <a:rPr lang="ko-KR" altLang="en-US" sz="1800" dirty="0"/>
              <a:t>와 </a:t>
            </a:r>
            <a:r>
              <a:rPr lang="en-US" altLang="ko-KR" sz="1800" dirty="0"/>
              <a:t>Net Delay</a:t>
            </a:r>
            <a:r>
              <a:rPr lang="ko-KR" altLang="en-US" sz="1800" dirty="0"/>
              <a:t>의 합으로 생각할 수 있음 </a:t>
            </a:r>
            <a:endParaRPr lang="ko-KR" altLang="en-US" sz="1800" b="1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8B024064-7945-476C-A88D-9509A4D6D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5" y="2461846"/>
            <a:ext cx="6642963" cy="301348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DC5E87D0-A2F1-495B-92B5-8E9BB9769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671" y="2464471"/>
            <a:ext cx="5291128" cy="2694294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4688076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49405B-7AE3-4013-A552-B4DEA652CDCB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Cell Delay : Input transition / Output load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DF0012-C329-4150-B5EE-A0E3ACC38C58}"/>
              </a:ext>
            </a:extLst>
          </p:cNvPr>
          <p:cNvSpPr txBox="1">
            <a:spLocks/>
          </p:cNvSpPr>
          <p:nvPr/>
        </p:nvSpPr>
        <p:spPr>
          <a:xfrm>
            <a:off x="551294" y="999018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Input </a:t>
            </a:r>
            <a:r>
              <a:rPr lang="en-US" altLang="ko-KR" sz="2000" b="1" dirty="0" err="1"/>
              <a:t>Transition+Output</a:t>
            </a:r>
            <a:r>
              <a:rPr lang="en-US" altLang="ko-KR" sz="2000" b="1" dirty="0"/>
              <a:t> Load</a:t>
            </a:r>
          </a:p>
          <a:p>
            <a:pPr lvl="1" fontAlgn="base"/>
            <a:r>
              <a:rPr lang="ko-KR" altLang="en-US" sz="1800" dirty="0"/>
              <a:t>내 디자인을 </a:t>
            </a:r>
            <a:r>
              <a:rPr lang="en-US" altLang="ko-KR" sz="1800" dirty="0"/>
              <a:t>AND </a:t>
            </a:r>
            <a:r>
              <a:rPr lang="ko-KR" altLang="en-US" sz="1800" dirty="0"/>
              <a:t>게이트라고 가정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입력으로 들어오는 신호는 실제로는 네모 반듯하지 않고</a:t>
            </a:r>
            <a:r>
              <a:rPr lang="en-US" altLang="ko-KR" sz="1800" dirty="0"/>
              <a:t>, </a:t>
            </a:r>
            <a:r>
              <a:rPr lang="ko-KR" altLang="en-US" sz="1800" dirty="0"/>
              <a:t>기울기</a:t>
            </a:r>
            <a:r>
              <a:rPr lang="en-US" altLang="ko-KR" sz="1800" dirty="0"/>
              <a:t>(Slew Rate)</a:t>
            </a:r>
            <a:r>
              <a:rPr lang="ko-KR" altLang="en-US" sz="1800" dirty="0"/>
              <a:t>가 있다</a:t>
            </a:r>
            <a:r>
              <a:rPr lang="en-US" altLang="ko-KR" sz="1800" dirty="0"/>
              <a:t>. </a:t>
            </a:r>
          </a:p>
          <a:p>
            <a:pPr lvl="1" fontAlgn="base"/>
            <a:r>
              <a:rPr lang="ko-KR" altLang="en-US" sz="1800" dirty="0"/>
              <a:t>출력에는 눈에 보이지 않는 타이어가 있는 것처럼 </a:t>
            </a:r>
            <a:r>
              <a:rPr lang="en-US" altLang="ko-KR" sz="1800" dirty="0"/>
              <a:t>Cap</a:t>
            </a:r>
            <a:r>
              <a:rPr lang="ko-KR" altLang="en-US" sz="1800" dirty="0"/>
              <a:t>이 매달려 있다</a:t>
            </a:r>
            <a:r>
              <a:rPr lang="en-US" altLang="ko-KR" sz="1800" dirty="0"/>
              <a:t>. </a:t>
            </a:r>
          </a:p>
          <a:p>
            <a:pPr lvl="1" fontAlgn="base"/>
            <a:r>
              <a:rPr lang="ko-KR" altLang="en-US" sz="1800" dirty="0"/>
              <a:t>셀의 동작 시간은 이 두 가지에 영향을 받는다는 것이 중요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0A050FB1-44E4-40FF-854E-3A3BDB7710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085915"/>
              </p:ext>
            </p:extLst>
          </p:nvPr>
        </p:nvGraphicFramePr>
        <p:xfrm>
          <a:off x="1173440" y="2822331"/>
          <a:ext cx="8251914" cy="817094"/>
        </p:xfrm>
        <a:graphic>
          <a:graphicData uri="http://schemas.openxmlformats.org/drawingml/2006/table">
            <a:tbl>
              <a:tblPr/>
              <a:tblGrid>
                <a:gridCol w="8251914">
                  <a:extLst>
                    <a:ext uri="{9D8B030D-6E8A-4147-A177-3AD203B41FA5}">
                      <a16:colId xmlns:a16="http://schemas.microsoft.com/office/drawing/2014/main" val="4122140525"/>
                    </a:ext>
                  </a:extLst>
                </a:gridCol>
              </a:tblGrid>
              <a:tr h="81709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 </a:t>
                      </a:r>
                      <a:r>
                        <a:rPr lang="ko-KR" altLang="en-US" sz="14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셀의 빠른 동작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: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입력으로 들어오는 신호의 기울기가 빠르고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출력에 가벼운 타이어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(Cap)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가 있는 경우 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 </a:t>
                      </a:r>
                      <a:r>
                        <a:rPr lang="ko-KR" altLang="en-US" sz="14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셀의 느린 동작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: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입력으로 들어오는 신호의 기울기가 느리고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출력에 무거운 타이어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(Cap)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가 있는 경우 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431849"/>
                  </a:ext>
                </a:extLst>
              </a:tr>
            </a:tbl>
          </a:graphicData>
        </a:graphic>
      </p:graphicFrame>
      <p:pic>
        <p:nvPicPr>
          <p:cNvPr id="5" name="Picture 9">
            <a:extLst>
              <a:ext uri="{FF2B5EF4-FFF2-40B4-BE49-F238E27FC236}">
                <a16:creationId xmlns:a16="http://schemas.microsoft.com/office/drawing/2014/main" id="{B8B04EAF-2ED8-4289-B18E-606045562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906" y="4071426"/>
            <a:ext cx="3347357" cy="1931556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직사각형 10">
            <a:extLst>
              <a:ext uri="{FF2B5EF4-FFF2-40B4-BE49-F238E27FC236}">
                <a16:creationId xmlns:a16="http://schemas.microsoft.com/office/drawing/2014/main" id="{0AFAB0D3-8483-4FEA-8890-F11B0688AB7A}"/>
              </a:ext>
            </a:extLst>
          </p:cNvPr>
          <p:cNvSpPr/>
          <p:nvPr/>
        </p:nvSpPr>
        <p:spPr>
          <a:xfrm>
            <a:off x="5728691" y="4843786"/>
            <a:ext cx="4691730" cy="3868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Cell Delay</a:t>
            </a:r>
            <a:r>
              <a:rPr lang="ko-KR" altLang="en-US" sz="1600" dirty="0">
                <a:solidFill>
                  <a:schemeClr val="tx1"/>
                </a:solidFill>
              </a:rPr>
              <a:t>에 영향을 주는 요소</a:t>
            </a:r>
          </a:p>
        </p:txBody>
      </p:sp>
    </p:spTree>
    <p:extLst>
      <p:ext uri="{BB962C8B-B14F-4D97-AF65-F5344CB8AC3E}">
        <p14:creationId xmlns:p14="http://schemas.microsoft.com/office/powerpoint/2010/main" val="37269507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59A556-17C5-4F95-A14C-2B71530D0AF3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Cell Delay : Input Transition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4DFBFA-DAAC-4FDE-A868-A272E7097758}"/>
              </a:ext>
            </a:extLst>
          </p:cNvPr>
          <p:cNvSpPr txBox="1">
            <a:spLocks/>
          </p:cNvSpPr>
          <p:nvPr/>
        </p:nvSpPr>
        <p:spPr>
          <a:xfrm>
            <a:off x="573218" y="1077701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Input Transition </a:t>
            </a:r>
          </a:p>
          <a:p>
            <a:pPr lvl="1" fontAlgn="base"/>
            <a:r>
              <a:rPr lang="en-US" altLang="ko-KR" sz="1800" dirty="0"/>
              <a:t>Input Transition </a:t>
            </a:r>
            <a:r>
              <a:rPr lang="ko-KR" altLang="en-US" sz="1800" dirty="0"/>
              <a:t>즉</a:t>
            </a:r>
            <a:r>
              <a:rPr lang="en-US" altLang="ko-KR" sz="1800" dirty="0"/>
              <a:t>, </a:t>
            </a:r>
            <a:r>
              <a:rPr lang="ko-KR" altLang="en-US" sz="1800" dirty="0"/>
              <a:t>신호의 기울기 </a:t>
            </a:r>
            <a:r>
              <a:rPr lang="en-US" altLang="ko-KR" sz="1800" dirty="0"/>
              <a:t>Slew Rate</a:t>
            </a:r>
            <a:r>
              <a:rPr lang="ko-KR" altLang="en-US" sz="1800" dirty="0"/>
              <a:t>를 툴에게 알려주어야 함</a:t>
            </a:r>
            <a:r>
              <a:rPr lang="ko-KR" altLang="en-US" dirty="0"/>
              <a:t> </a:t>
            </a:r>
            <a:endParaRPr lang="en-US" altLang="ko-KR" dirty="0"/>
          </a:p>
          <a:p>
            <a:pPr lvl="2" fontAlgn="base"/>
            <a:r>
              <a:rPr lang="ko-KR" altLang="en-US" sz="1600" dirty="0"/>
              <a:t>라이브러리 내의 특정 셀 중 하나가 내 디자인에 신호를 보내주고 있다고 말해주는 방법을 추천</a:t>
            </a:r>
            <a:endParaRPr lang="en-US" altLang="ko-KR" sz="1600" dirty="0"/>
          </a:p>
          <a:p>
            <a:pPr lvl="2" fontAlgn="base"/>
            <a:r>
              <a:rPr lang="ko-KR" altLang="en-US" sz="1600" dirty="0"/>
              <a:t>아래 명령은 내 디자인 </a:t>
            </a:r>
            <a:r>
              <a:rPr lang="en-US" altLang="ko-KR" sz="1600" dirty="0"/>
              <a:t>RTL </a:t>
            </a:r>
            <a:r>
              <a:rPr lang="ko-KR" altLang="en-US" sz="1600" dirty="0"/>
              <a:t>코드에 </a:t>
            </a:r>
            <a:r>
              <a:rPr lang="en-US" altLang="ko-KR" sz="1600" dirty="0"/>
              <a:t>PADDI </a:t>
            </a:r>
            <a:r>
              <a:rPr lang="ko-KR" altLang="en-US" sz="1600" dirty="0"/>
              <a:t>라는 입력 </a:t>
            </a:r>
            <a:r>
              <a:rPr lang="en-US" altLang="ko-KR" sz="1600" dirty="0"/>
              <a:t>IO </a:t>
            </a:r>
            <a:r>
              <a:rPr lang="ko-KR" altLang="en-US" sz="1600" dirty="0"/>
              <a:t>셀을 실제로 사용하는 경우에 유용함</a:t>
            </a:r>
          </a:p>
          <a:p>
            <a:pPr lvl="1" fontAlgn="base"/>
            <a:endParaRPr lang="ko-KR" altLang="en-US" sz="1400" dirty="0"/>
          </a:p>
          <a:p>
            <a:pPr lvl="1" fontAlgn="base"/>
            <a:endParaRPr lang="ko-KR" altLang="en-US" b="1" dirty="0"/>
          </a:p>
        </p:txBody>
      </p:sp>
      <p:pic>
        <p:nvPicPr>
          <p:cNvPr id="4" name="그림 5">
            <a:extLst>
              <a:ext uri="{FF2B5EF4-FFF2-40B4-BE49-F238E27FC236}">
                <a16:creationId xmlns:a16="http://schemas.microsoft.com/office/drawing/2014/main" id="{074445F4-E4F2-4A91-814C-AB8703CC6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849" y="2629999"/>
            <a:ext cx="7377393" cy="55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9829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800BEA-A505-4D76-A34F-922A3A6B4F31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Cell Delay : Output Load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0427E8-69D9-4F78-9232-56B557D35CF0}"/>
              </a:ext>
            </a:extLst>
          </p:cNvPr>
          <p:cNvSpPr txBox="1">
            <a:spLocks/>
          </p:cNvSpPr>
          <p:nvPr/>
        </p:nvSpPr>
        <p:spPr>
          <a:xfrm>
            <a:off x="573218" y="1165624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Output Load</a:t>
            </a:r>
          </a:p>
          <a:p>
            <a:pPr lvl="1" fontAlgn="base"/>
            <a:r>
              <a:rPr lang="ko-KR" altLang="en-US" sz="1800" dirty="0"/>
              <a:t>디자인의 출력에 있는 </a:t>
            </a:r>
            <a:r>
              <a:rPr lang="en-US" altLang="ko-KR" sz="1800" dirty="0"/>
              <a:t>Cap</a:t>
            </a:r>
            <a:r>
              <a:rPr lang="ko-KR" altLang="en-US" sz="1800" dirty="0"/>
              <a:t>을 뜻함</a:t>
            </a:r>
            <a:r>
              <a:rPr lang="en-US" altLang="ko-KR" sz="1800" dirty="0"/>
              <a:t>. </a:t>
            </a:r>
            <a:r>
              <a:rPr lang="ko-KR" altLang="en-US" sz="1800" dirty="0"/>
              <a:t>운동선수로 치면 훈련용 타이어에 해당함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부하 </a:t>
            </a:r>
            <a:r>
              <a:rPr lang="en-US" altLang="ko-KR" sz="1800" dirty="0"/>
              <a:t>(Load)</a:t>
            </a:r>
            <a:r>
              <a:rPr lang="ko-KR" altLang="en-US" sz="1800" dirty="0"/>
              <a:t>가 가벼울수록 신호 출력 속도가 빨라지고</a:t>
            </a:r>
            <a:r>
              <a:rPr lang="en-US" altLang="ko-KR" sz="1800" dirty="0"/>
              <a:t>, </a:t>
            </a:r>
            <a:r>
              <a:rPr lang="ko-KR" altLang="en-US" sz="1800" dirty="0"/>
              <a:t>클수록 신호 출력 속도가 </a:t>
            </a:r>
            <a:r>
              <a:rPr lang="ko-KR" altLang="en-US" sz="1800" dirty="0" err="1"/>
              <a:t>느려짐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아래 명령은 내 디자인 </a:t>
            </a:r>
            <a:r>
              <a:rPr lang="en-US" altLang="ko-KR" sz="1800" dirty="0"/>
              <a:t>RTL </a:t>
            </a:r>
            <a:r>
              <a:rPr lang="ko-KR" altLang="en-US" sz="1800" dirty="0"/>
              <a:t>코드에 </a:t>
            </a:r>
            <a:r>
              <a:rPr lang="en-US" altLang="ko-KR" sz="1800" dirty="0"/>
              <a:t>PADDO </a:t>
            </a:r>
            <a:r>
              <a:rPr lang="ko-KR" altLang="en-US" sz="1800" dirty="0"/>
              <a:t>라는 출력 </a:t>
            </a:r>
            <a:r>
              <a:rPr lang="en-US" altLang="ko-KR" sz="1800" dirty="0"/>
              <a:t>IO </a:t>
            </a:r>
            <a:r>
              <a:rPr lang="ko-KR" altLang="en-US" sz="1800" dirty="0"/>
              <a:t>셀을 실제로 사용하는 경우에 유용함</a:t>
            </a:r>
          </a:p>
          <a:p>
            <a:pPr lvl="1" fontAlgn="base"/>
            <a:endParaRPr lang="ko-KR" altLang="en-US" dirty="0"/>
          </a:p>
          <a:p>
            <a:pPr lvl="1" fontAlgn="base"/>
            <a:endParaRPr lang="ko-KR" altLang="en-US" b="1" dirty="0"/>
          </a:p>
        </p:txBody>
      </p:sp>
      <p:pic>
        <p:nvPicPr>
          <p:cNvPr id="4" name="그림 4">
            <a:extLst>
              <a:ext uri="{FF2B5EF4-FFF2-40B4-BE49-F238E27FC236}">
                <a16:creationId xmlns:a16="http://schemas.microsoft.com/office/drawing/2014/main" id="{91D61298-D32E-4098-853F-15E6B736A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47" y="2705154"/>
            <a:ext cx="7435644" cy="49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0396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0FD77C-7789-4FB7-838C-6A5365B47000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Cell Delay : Load Budget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5530DE-51CB-44EB-B475-6CACCD87EDA9}"/>
              </a:ext>
            </a:extLst>
          </p:cNvPr>
          <p:cNvSpPr txBox="1">
            <a:spLocks/>
          </p:cNvSpPr>
          <p:nvPr/>
        </p:nvSpPr>
        <p:spPr>
          <a:xfrm>
            <a:off x="551294" y="1095286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b="1" dirty="0"/>
              <a:t>수치 설정의 어려움</a:t>
            </a:r>
            <a:endParaRPr lang="en-US" altLang="ko-KR" sz="2000" b="1" dirty="0"/>
          </a:p>
          <a:p>
            <a:pPr lvl="1" fontAlgn="base"/>
            <a:r>
              <a:rPr lang="en-US" altLang="ko-KR" sz="1800" dirty="0"/>
              <a:t>Input Transition </a:t>
            </a:r>
            <a:r>
              <a:rPr lang="ko-KR" altLang="en-US" sz="1800" dirty="0"/>
              <a:t>과 </a:t>
            </a:r>
            <a:r>
              <a:rPr lang="en-US" altLang="ko-KR" sz="1800" dirty="0"/>
              <a:t>Output Load </a:t>
            </a:r>
            <a:r>
              <a:rPr lang="ko-KR" altLang="en-US" sz="1800" dirty="0"/>
              <a:t>를 수치로 가늠할 수 없음 </a:t>
            </a:r>
          </a:p>
          <a:p>
            <a:pPr lvl="1" fontAlgn="base"/>
            <a:r>
              <a:rPr lang="ko-KR" altLang="en-US" sz="1800" dirty="0"/>
              <a:t>대안으로 셀을 사용하라고 했지만 어떤 셀을 선택해야 하는지 막막함</a:t>
            </a:r>
            <a:endParaRPr lang="en-US" altLang="ko-KR" sz="1800" dirty="0"/>
          </a:p>
          <a:p>
            <a:pPr lvl="1" fontAlgn="base"/>
            <a:endParaRPr lang="en-US" altLang="ko-KR" b="1" dirty="0"/>
          </a:p>
          <a:p>
            <a:pPr fontAlgn="base"/>
            <a:r>
              <a:rPr lang="ko-KR" altLang="en-US" sz="2000" b="1" dirty="0"/>
              <a:t>대안 </a:t>
            </a:r>
            <a:r>
              <a:rPr lang="en-US" altLang="ko-KR" sz="2000" b="1" dirty="0"/>
              <a:t>: Load Budget  </a:t>
            </a:r>
          </a:p>
          <a:p>
            <a:pPr lvl="1" fontAlgn="base"/>
            <a:r>
              <a:rPr lang="ko-KR" altLang="en-US" sz="1800" dirty="0"/>
              <a:t>가늠하기 힘든 수치를 사용하지 말고</a:t>
            </a:r>
            <a:r>
              <a:rPr lang="en-US" altLang="ko-KR" sz="1800" dirty="0"/>
              <a:t>, </a:t>
            </a:r>
            <a:r>
              <a:rPr lang="ko-KR" altLang="en-US" sz="1800" dirty="0"/>
              <a:t>셀을 사용할 것 </a:t>
            </a:r>
            <a:endParaRPr lang="en-US" altLang="ko-KR" sz="1800" dirty="0"/>
          </a:p>
          <a:p>
            <a:pPr lvl="2" fontAlgn="base"/>
            <a:r>
              <a:rPr lang="ko-KR" altLang="en-US" sz="1600" dirty="0"/>
              <a:t>내 디자인에서</a:t>
            </a:r>
            <a:r>
              <a:rPr lang="en-US" altLang="ko-KR" sz="1600" dirty="0"/>
              <a:t> </a:t>
            </a:r>
            <a:r>
              <a:rPr lang="ko-KR" altLang="en-US" sz="1600" dirty="0"/>
              <a:t>사용하는 </a:t>
            </a:r>
            <a:r>
              <a:rPr lang="en-US" altLang="ko-KR" sz="1600" dirty="0"/>
              <a:t>IO </a:t>
            </a:r>
            <a:r>
              <a:rPr lang="ko-KR" altLang="en-US" sz="1600" dirty="0"/>
              <a:t>셀을 </a:t>
            </a:r>
            <a:r>
              <a:rPr lang="en-US" altLang="ko-KR" sz="1600" dirty="0"/>
              <a:t>Driving </a:t>
            </a:r>
            <a:r>
              <a:rPr lang="ko-KR" altLang="en-US" sz="1600" dirty="0"/>
              <a:t>셀과 출력 </a:t>
            </a:r>
            <a:r>
              <a:rPr lang="en-US" altLang="ko-KR" sz="1600" dirty="0"/>
              <a:t>Load(Cap)</a:t>
            </a:r>
            <a:r>
              <a:rPr lang="ko-KR" altLang="en-US" sz="1600" dirty="0"/>
              <a:t>으로 선언</a:t>
            </a:r>
            <a:endParaRPr lang="en-US" altLang="ko-KR" sz="1600" dirty="0"/>
          </a:p>
          <a:p>
            <a:pPr lvl="2" fontAlgn="base"/>
            <a:r>
              <a:rPr lang="ko-KR" altLang="en-US" sz="1600" dirty="0"/>
              <a:t>장점 </a:t>
            </a:r>
            <a:r>
              <a:rPr lang="en-US" altLang="ko-KR" sz="1600" dirty="0"/>
              <a:t>: </a:t>
            </a:r>
            <a:r>
              <a:rPr lang="ko-KR" altLang="en-US" sz="1600" dirty="0"/>
              <a:t>셀이라는 정확한 대상으로 느낄 수 있고 툴도 셀의 정보를 통해 수치를 자연적으로 인지할 수 있음</a:t>
            </a:r>
            <a:endParaRPr lang="en-US" altLang="ko-KR" sz="1600" dirty="0"/>
          </a:p>
          <a:p>
            <a:pPr lvl="1" fontAlgn="base"/>
            <a:endParaRPr lang="en-US" altLang="ko-KR" dirty="0"/>
          </a:p>
          <a:p>
            <a:pPr lvl="1" fontAlgn="base"/>
            <a:r>
              <a:rPr lang="en-US" altLang="ko-KR" sz="1800" dirty="0"/>
              <a:t>Load Budget </a:t>
            </a:r>
            <a:r>
              <a:rPr lang="ko-KR" altLang="en-US" sz="1800" dirty="0"/>
              <a:t>사용 </a:t>
            </a:r>
            <a:endParaRPr lang="en-US" altLang="ko-KR" sz="1800" dirty="0"/>
          </a:p>
          <a:p>
            <a:pPr lvl="2" fontAlgn="base"/>
            <a:r>
              <a:rPr lang="en-US" altLang="ko-KR" sz="1600" dirty="0"/>
              <a:t>Pessimistic </a:t>
            </a:r>
            <a:r>
              <a:rPr lang="ko-KR" altLang="en-US" sz="1600" dirty="0"/>
              <a:t>하게</a:t>
            </a:r>
            <a:r>
              <a:rPr lang="en-US" altLang="ko-KR" sz="1600" dirty="0"/>
              <a:t>, </a:t>
            </a:r>
            <a:r>
              <a:rPr lang="ko-KR" altLang="en-US" sz="1600" dirty="0"/>
              <a:t>입력에 약한</a:t>
            </a:r>
            <a:r>
              <a:rPr lang="en-US" altLang="ko-KR" sz="1600" dirty="0"/>
              <a:t>(weak)</a:t>
            </a:r>
            <a:r>
              <a:rPr lang="ko-KR" altLang="en-US" sz="1600" dirty="0"/>
              <a:t> 셀이 신호를 보내고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출력에는 무거운 타이어가 달려 있다고 가정</a:t>
            </a:r>
            <a:endParaRPr lang="en-US" altLang="ko-KR" sz="1600" dirty="0"/>
          </a:p>
          <a:p>
            <a:pPr lvl="2" fontAlgn="base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17407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D20371-8CDD-4133-ACC0-074C79A2EDE5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Cell Delay : Load Budget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4B83EB-D4AF-44FC-BAAC-21621195ACD9}"/>
              </a:ext>
            </a:extLst>
          </p:cNvPr>
          <p:cNvSpPr txBox="1">
            <a:spLocks/>
          </p:cNvSpPr>
          <p:nvPr/>
        </p:nvSpPr>
        <p:spPr>
          <a:xfrm>
            <a:off x="573218" y="1121663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Load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Budget</a:t>
            </a:r>
            <a:r>
              <a:rPr lang="ko-KR" altLang="en-US" sz="2000" b="1" dirty="0"/>
              <a:t>의 실제 응용</a:t>
            </a:r>
            <a:r>
              <a:rPr lang="ko-KR" altLang="en-US" b="1" dirty="0"/>
              <a:t> </a:t>
            </a:r>
            <a:endParaRPr lang="en-US" altLang="ko-KR" b="1" dirty="0"/>
          </a:p>
          <a:p>
            <a:pPr marL="800100" lvl="1" indent="-342900" fontAlgn="base">
              <a:buFont typeface="+mj-lt"/>
              <a:buAutoNum type="arabicPeriod"/>
            </a:pPr>
            <a:r>
              <a:rPr lang="ko-KR" altLang="en-US" sz="1800" dirty="0"/>
              <a:t>수치보다는 공정사에서 제공한 셀 중을 선별하여 사용 </a:t>
            </a:r>
            <a:endParaRPr lang="en-US" altLang="ko-KR" sz="1800" dirty="0"/>
          </a:p>
          <a:p>
            <a:pPr marL="800100" lvl="1" indent="-342900" fontAlgn="base">
              <a:buFont typeface="+mj-lt"/>
              <a:buAutoNum type="arabicPeriod"/>
            </a:pPr>
            <a:r>
              <a:rPr lang="en-US" altLang="ko-KR" sz="1800" dirty="0"/>
              <a:t>Pessimistic </a:t>
            </a:r>
            <a:r>
              <a:rPr lang="ko-KR" altLang="en-US" sz="1800" dirty="0"/>
              <a:t>하게</a:t>
            </a:r>
            <a:r>
              <a:rPr lang="en-US" altLang="ko-KR" sz="1800" dirty="0"/>
              <a:t>, </a:t>
            </a:r>
            <a:r>
              <a:rPr lang="ko-KR" altLang="en-US" sz="1800" dirty="0"/>
              <a:t>입력에 약한</a:t>
            </a:r>
            <a:r>
              <a:rPr lang="en-US" altLang="ko-KR" sz="1800" dirty="0"/>
              <a:t>(weak)</a:t>
            </a:r>
            <a:r>
              <a:rPr lang="ko-KR" altLang="en-US" sz="1800" dirty="0"/>
              <a:t> 셀이 신호를 보내고 있고</a:t>
            </a:r>
            <a:r>
              <a:rPr lang="en-US" altLang="ko-KR" sz="1800" dirty="0"/>
              <a:t>, </a:t>
            </a:r>
            <a:r>
              <a:rPr lang="ko-KR" altLang="en-US" sz="1800" dirty="0"/>
              <a:t>출력에는 무거운 타이어가 달려 있다고 가정</a:t>
            </a:r>
            <a:endParaRPr lang="en-US" altLang="ko-KR" sz="1800" dirty="0"/>
          </a:p>
          <a:p>
            <a:pPr marL="914400" lvl="2" indent="0" fontAlgn="base">
              <a:buNone/>
            </a:pPr>
            <a:endParaRPr lang="ko-KR" altLang="en-US" dirty="0"/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2BC94BDA-DE38-4FDC-8C95-84BBF5F4B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182" y="2581170"/>
            <a:ext cx="5877052" cy="254248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직사각형 5">
            <a:extLst>
              <a:ext uri="{FF2B5EF4-FFF2-40B4-BE49-F238E27FC236}">
                <a16:creationId xmlns:a16="http://schemas.microsoft.com/office/drawing/2014/main" id="{2799C2F1-AB98-4000-BE08-F7AC6B61E333}"/>
              </a:ext>
            </a:extLst>
          </p:cNvPr>
          <p:cNvSpPr/>
          <p:nvPr/>
        </p:nvSpPr>
        <p:spPr>
          <a:xfrm>
            <a:off x="4246398" y="4851092"/>
            <a:ext cx="2538620" cy="3868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Load Budget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0585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E24972-D532-4A15-9088-8F5094791C40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Net Delay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BFD8C8-45AE-44FD-BEC8-0D06398BD7B7}"/>
              </a:ext>
            </a:extLst>
          </p:cNvPr>
          <p:cNvSpPr txBox="1">
            <a:spLocks/>
          </p:cNvSpPr>
          <p:nvPr/>
        </p:nvSpPr>
        <p:spPr>
          <a:xfrm>
            <a:off x="690449" y="1183209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Net Delay </a:t>
            </a:r>
          </a:p>
          <a:p>
            <a:pPr lvl="1" fontAlgn="base"/>
            <a:r>
              <a:rPr lang="ko-KR" altLang="en-US" sz="1800" dirty="0"/>
              <a:t>회로 내의 신호가 </a:t>
            </a:r>
            <a:r>
              <a:rPr lang="en-US" altLang="ko-KR" sz="1800" dirty="0"/>
              <a:t>Net</a:t>
            </a:r>
            <a:r>
              <a:rPr lang="ko-KR" altLang="en-US" sz="1800" dirty="0"/>
              <a:t>을 통해 전파되는 데 걸리는 시간</a:t>
            </a:r>
          </a:p>
          <a:p>
            <a:pPr lvl="1" fontAlgn="base"/>
            <a:endParaRPr lang="ko-KR" altLang="en-US" b="1" dirty="0"/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26C99C98-CD57-4D06-B061-1E7C1B926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277" y="2067747"/>
            <a:ext cx="8425088" cy="3825957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0863795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F3D919-752A-4D3B-9EC3-91DF970DA29E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Net Delay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1D8DE2-8C48-4481-8650-3BF9B689B26F}"/>
              </a:ext>
            </a:extLst>
          </p:cNvPr>
          <p:cNvSpPr txBox="1">
            <a:spLocks/>
          </p:cNvSpPr>
          <p:nvPr/>
        </p:nvSpPr>
        <p:spPr>
          <a:xfrm>
            <a:off x="573218" y="1068909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Net Delay </a:t>
            </a:r>
          </a:p>
          <a:p>
            <a:pPr lvl="1" fontAlgn="base"/>
            <a:r>
              <a:rPr lang="ko-KR" altLang="en-US" sz="1800" dirty="0"/>
              <a:t>배선에 존재하는 저항</a:t>
            </a:r>
            <a:r>
              <a:rPr lang="en-US" altLang="ko-KR" sz="1800" dirty="0"/>
              <a:t>(Resistance)</a:t>
            </a:r>
            <a:r>
              <a:rPr lang="ko-KR" altLang="en-US" sz="1800" dirty="0"/>
              <a:t>과 </a:t>
            </a:r>
            <a:r>
              <a:rPr lang="ko-KR" altLang="en-US" sz="1800" dirty="0" err="1"/>
              <a:t>커패시턴스</a:t>
            </a:r>
            <a:r>
              <a:rPr lang="en-US" altLang="ko-KR" sz="1800" dirty="0"/>
              <a:t>(Capacitance)</a:t>
            </a:r>
            <a:r>
              <a:rPr lang="ko-KR" altLang="en-US" sz="1800" dirty="0"/>
              <a:t>에 의해 발생</a:t>
            </a:r>
            <a:r>
              <a:rPr lang="en-US" altLang="ko-KR" sz="1800" dirty="0"/>
              <a:t>, </a:t>
            </a:r>
            <a:r>
              <a:rPr lang="ko-KR" altLang="en-US" sz="1800" dirty="0"/>
              <a:t>이를 기생 </a:t>
            </a:r>
            <a:r>
              <a:rPr lang="en-US" altLang="ko-KR" sz="1800" dirty="0"/>
              <a:t>RC(Parasitic RC)</a:t>
            </a:r>
            <a:r>
              <a:rPr lang="ko-KR" altLang="en-US" sz="1800" dirty="0"/>
              <a:t>라고 함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모든 </a:t>
            </a:r>
            <a:r>
              <a:rPr lang="en-US" altLang="ko-KR" sz="1800" dirty="0"/>
              <a:t>Net</a:t>
            </a:r>
            <a:r>
              <a:rPr lang="ko-KR" altLang="en-US" sz="1800" dirty="0"/>
              <a:t>에는 기생 </a:t>
            </a:r>
            <a:r>
              <a:rPr lang="en-US" altLang="ko-KR" sz="1800" dirty="0"/>
              <a:t>RC </a:t>
            </a:r>
            <a:r>
              <a:rPr lang="ko-KR" altLang="en-US" sz="1800" dirty="0"/>
              <a:t>요소가 보이지 않지만 분명히 존재하며</a:t>
            </a:r>
            <a:r>
              <a:rPr lang="en-US" altLang="ko-KR" sz="1800" dirty="0"/>
              <a:t>,</a:t>
            </a:r>
            <a:r>
              <a:rPr lang="ko-KR" altLang="en-US" sz="1800" dirty="0"/>
              <a:t> </a:t>
            </a:r>
            <a:r>
              <a:rPr lang="en-US" altLang="ko-KR" sz="1800" dirty="0"/>
              <a:t>RC </a:t>
            </a:r>
            <a:r>
              <a:rPr lang="ko-KR" altLang="en-US" sz="1800" dirty="0"/>
              <a:t>값이 클수록 신호 전달 속도가 </a:t>
            </a:r>
            <a:r>
              <a:rPr lang="ko-KR" altLang="en-US" sz="1800" dirty="0" err="1"/>
              <a:t>느려지므로</a:t>
            </a:r>
            <a:r>
              <a:rPr lang="ko-KR" altLang="en-US" sz="1800" dirty="0"/>
              <a:t> 이는 성능에 부정적인 영향을 미침</a:t>
            </a:r>
            <a:endParaRPr lang="en-US" altLang="ko-KR" sz="1800" dirty="0"/>
          </a:p>
          <a:p>
            <a:pPr lvl="1" fontAlgn="base"/>
            <a:r>
              <a:rPr lang="en-US" altLang="ko-KR" sz="1800" dirty="0"/>
              <a:t>RC </a:t>
            </a:r>
            <a:r>
              <a:rPr lang="ko-KR" altLang="en-US" sz="1800" dirty="0"/>
              <a:t>값은 배선 길이나 구조에 따라 달라질 수 있으며</a:t>
            </a:r>
            <a:r>
              <a:rPr lang="en-US" altLang="ko-KR" sz="1800" dirty="0"/>
              <a:t>, </a:t>
            </a:r>
            <a:r>
              <a:rPr lang="ko-KR" altLang="en-US" sz="1800" dirty="0"/>
              <a:t>긴 경로에서는 더 큰 </a:t>
            </a:r>
            <a:r>
              <a:rPr lang="en-US" altLang="ko-KR" sz="1800" dirty="0"/>
              <a:t>Net Delay</a:t>
            </a:r>
            <a:r>
              <a:rPr lang="ko-KR" altLang="en-US" sz="1800" dirty="0"/>
              <a:t>가 발생한다</a:t>
            </a:r>
            <a:r>
              <a:rPr lang="en-US" altLang="ko-KR" sz="1800" dirty="0"/>
              <a:t>. </a:t>
            </a:r>
          </a:p>
          <a:p>
            <a:pPr lvl="1" fontAlgn="base"/>
            <a:endParaRPr lang="en-US" altLang="ko-KR" sz="1800" dirty="0"/>
          </a:p>
          <a:p>
            <a:pPr lvl="1" fontAlgn="base"/>
            <a:r>
              <a:rPr lang="ko-KR" altLang="en-US" sz="1800" dirty="0"/>
              <a:t>아래 그림에서는 모든 </a:t>
            </a:r>
            <a:r>
              <a:rPr lang="en-US" altLang="ko-KR" sz="1800" dirty="0"/>
              <a:t>Net</a:t>
            </a:r>
            <a:r>
              <a:rPr lang="ko-KR" altLang="en-US" sz="1800" dirty="0"/>
              <a:t>에 기생하고 있는 </a:t>
            </a:r>
            <a:r>
              <a:rPr lang="en-US" altLang="ko-KR" sz="1800" dirty="0"/>
              <a:t>RC</a:t>
            </a:r>
            <a:r>
              <a:rPr lang="ko-KR" altLang="en-US" sz="1800" dirty="0"/>
              <a:t>를 나타내고 있다</a:t>
            </a:r>
            <a:r>
              <a:rPr lang="en-US" altLang="ko-KR" sz="1800" dirty="0"/>
              <a:t>. </a:t>
            </a:r>
            <a:endParaRPr lang="ko-KR" altLang="en-US" sz="1800" dirty="0"/>
          </a:p>
          <a:p>
            <a:pPr lvl="1" fontAlgn="base"/>
            <a:endParaRPr lang="ko-KR" altLang="en-US" b="1" dirty="0"/>
          </a:p>
        </p:txBody>
      </p:sp>
      <p:pic>
        <p:nvPicPr>
          <p:cNvPr id="4" name="Picture 14">
            <a:extLst>
              <a:ext uri="{FF2B5EF4-FFF2-40B4-BE49-F238E27FC236}">
                <a16:creationId xmlns:a16="http://schemas.microsoft.com/office/drawing/2014/main" id="{D3EB701E-EF29-4262-8477-3F722531B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131" y="3629927"/>
            <a:ext cx="3960445" cy="128844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직사각형 5">
            <a:extLst>
              <a:ext uri="{FF2B5EF4-FFF2-40B4-BE49-F238E27FC236}">
                <a16:creationId xmlns:a16="http://schemas.microsoft.com/office/drawing/2014/main" id="{0FCBEAD7-7AB6-4A4D-A7F0-0B95D1E42B84}"/>
              </a:ext>
            </a:extLst>
          </p:cNvPr>
          <p:cNvSpPr/>
          <p:nvPr/>
        </p:nvSpPr>
        <p:spPr>
          <a:xfrm>
            <a:off x="4106007" y="5076302"/>
            <a:ext cx="2538620" cy="3868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Net Delay </a:t>
            </a:r>
            <a:r>
              <a:rPr lang="ko-KR" altLang="en-US" sz="1600" dirty="0">
                <a:solidFill>
                  <a:schemeClr val="tx1"/>
                </a:solidFill>
              </a:rPr>
              <a:t>모델링</a:t>
            </a:r>
          </a:p>
        </p:txBody>
      </p:sp>
    </p:spTree>
    <p:extLst>
      <p:ext uri="{BB962C8B-B14F-4D97-AF65-F5344CB8AC3E}">
        <p14:creationId xmlns:p14="http://schemas.microsoft.com/office/powerpoint/2010/main" val="17157776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328FCC-09DF-47DE-9606-7A692F6F1D5D}"/>
              </a:ext>
            </a:extLst>
          </p:cNvPr>
          <p:cNvSpPr txBox="1">
            <a:spLocks/>
          </p:cNvSpPr>
          <p:nvPr/>
        </p:nvSpPr>
        <p:spPr>
          <a:xfrm>
            <a:off x="529371" y="391867"/>
            <a:ext cx="11310937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Net Delay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7F09DD-EC65-4CC5-A66F-D45D97810243}"/>
              </a:ext>
            </a:extLst>
          </p:cNvPr>
          <p:cNvSpPr txBox="1">
            <a:spLocks/>
          </p:cNvSpPr>
          <p:nvPr/>
        </p:nvSpPr>
        <p:spPr>
          <a:xfrm>
            <a:off x="529371" y="999018"/>
            <a:ext cx="11267090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/>
              <a:t>Net Delay </a:t>
            </a:r>
          </a:p>
          <a:p>
            <a:pPr lvl="1" fontAlgn="base"/>
            <a:r>
              <a:rPr lang="en-US" altLang="ko-KR" sz="1800" dirty="0"/>
              <a:t>Q) </a:t>
            </a:r>
            <a:r>
              <a:rPr lang="ko-KR" altLang="en-US" sz="1800" dirty="0"/>
              <a:t>공정사에서는 </a:t>
            </a:r>
            <a:r>
              <a:rPr lang="en-US" altLang="ko-KR" sz="1800" dirty="0"/>
              <a:t>Net Delay </a:t>
            </a:r>
            <a:r>
              <a:rPr lang="ko-KR" altLang="en-US" sz="1800" dirty="0"/>
              <a:t>정보를 어떻게 제공할까</a:t>
            </a:r>
            <a:r>
              <a:rPr lang="en-US" altLang="ko-KR" sz="1800" dirty="0"/>
              <a:t>? </a:t>
            </a:r>
          </a:p>
          <a:p>
            <a:pPr lvl="1" fontAlgn="base"/>
            <a:r>
              <a:rPr lang="en-US" altLang="ko-KR" sz="1800" dirty="0"/>
              <a:t>A) </a:t>
            </a:r>
            <a:r>
              <a:rPr lang="ko-KR" altLang="en-US" sz="1800" dirty="0"/>
              <a:t>많은 시뮬레이션을 거친 뒤 결과를 통계치로 제공함</a:t>
            </a:r>
            <a:r>
              <a:rPr lang="en-US" altLang="ko-KR" sz="1800" dirty="0"/>
              <a:t>. </a:t>
            </a:r>
            <a:r>
              <a:rPr lang="ko-KR" altLang="en-US" sz="1800" dirty="0"/>
              <a:t>통계치의 이름은 </a:t>
            </a:r>
            <a:r>
              <a:rPr lang="en-US" altLang="ko-KR" sz="1800" dirty="0"/>
              <a:t>Wire Load Model(WLM)</a:t>
            </a:r>
            <a:r>
              <a:rPr lang="ko-KR" altLang="en-US" sz="1800" dirty="0"/>
              <a:t> </a:t>
            </a:r>
            <a:endParaRPr lang="en-US" altLang="ko-KR" sz="1800" dirty="0"/>
          </a:p>
          <a:p>
            <a:pPr lvl="1" fontAlgn="base"/>
            <a:endParaRPr lang="en-US" altLang="ko-KR" sz="1800" dirty="0"/>
          </a:p>
          <a:p>
            <a:pPr fontAlgn="base"/>
            <a:r>
              <a:rPr lang="en-US" altLang="ko-KR" sz="2000" b="1" dirty="0"/>
              <a:t>Wire Load Model</a:t>
            </a:r>
          </a:p>
          <a:p>
            <a:pPr lvl="1" fontAlgn="base"/>
            <a:r>
              <a:rPr lang="ko-KR" altLang="en-US" sz="1800" dirty="0"/>
              <a:t>공정사에서 제공하는 </a:t>
            </a:r>
            <a:r>
              <a:rPr lang="en-US" altLang="ko-KR" sz="1800" dirty="0"/>
              <a:t>.lib </a:t>
            </a:r>
            <a:r>
              <a:rPr lang="ko-KR" altLang="en-US" sz="1800" dirty="0"/>
              <a:t>파일에 저장되어 있음 </a:t>
            </a:r>
            <a:endParaRPr lang="en-US" altLang="ko-KR" sz="1800" dirty="0"/>
          </a:p>
          <a:p>
            <a:pPr lvl="1" fontAlgn="base"/>
            <a:r>
              <a:rPr lang="ko-KR" altLang="en-US" sz="1800" dirty="0"/>
              <a:t>디자인의 크기에 따라서 </a:t>
            </a:r>
            <a:r>
              <a:rPr lang="en-US" altLang="ko-KR" sz="1800" dirty="0"/>
              <a:t>Wire</a:t>
            </a:r>
            <a:r>
              <a:rPr lang="ko-KR" altLang="en-US" sz="1800" dirty="0"/>
              <a:t>의 길이가 다르고</a:t>
            </a:r>
            <a:r>
              <a:rPr lang="en-US" altLang="ko-KR" sz="1800" dirty="0"/>
              <a:t>, </a:t>
            </a:r>
            <a:r>
              <a:rPr lang="ko-KR" altLang="en-US" sz="1800" dirty="0"/>
              <a:t>결국 </a:t>
            </a:r>
            <a:r>
              <a:rPr lang="en-US" altLang="ko-KR" sz="1800" dirty="0"/>
              <a:t>Wire</a:t>
            </a:r>
            <a:r>
              <a:rPr lang="ko-KR" altLang="en-US" sz="1800" dirty="0"/>
              <a:t>에 걸리는 </a:t>
            </a:r>
            <a:r>
              <a:rPr lang="en-US" altLang="ko-KR" sz="1800" dirty="0"/>
              <a:t>Load</a:t>
            </a:r>
            <a:r>
              <a:rPr lang="ko-KR" altLang="en-US" sz="1800" dirty="0"/>
              <a:t>가 다르다는 것을 공정사가 잘 녹여내어 </a:t>
            </a:r>
            <a:r>
              <a:rPr lang="en-US" altLang="ko-KR" sz="1800" dirty="0"/>
              <a:t>.lib </a:t>
            </a:r>
            <a:r>
              <a:rPr lang="ko-KR" altLang="en-US" sz="1800" dirty="0"/>
              <a:t>파일에 저장 및 제공함</a:t>
            </a:r>
            <a:r>
              <a:rPr lang="en-US" altLang="ko-KR" sz="1800" dirty="0"/>
              <a:t> </a:t>
            </a:r>
            <a:endParaRPr lang="ko-KR" altLang="en-US" sz="1800" dirty="0"/>
          </a:p>
          <a:p>
            <a:pPr lvl="1" fontAlgn="base"/>
            <a:endParaRPr lang="en-US" altLang="ko-KR" dirty="0"/>
          </a:p>
          <a:p>
            <a:pPr lvl="1" fontAlgn="base"/>
            <a:r>
              <a:rPr lang="ko-KR" altLang="en-US" sz="1800" dirty="0">
                <a:solidFill>
                  <a:srgbClr val="FF0000"/>
                </a:solidFill>
              </a:rPr>
              <a:t>툴이 우리 디자인의 크기</a:t>
            </a:r>
            <a:r>
              <a:rPr lang="en-US" altLang="ko-KR" sz="1800" dirty="0">
                <a:solidFill>
                  <a:srgbClr val="FF0000"/>
                </a:solidFill>
              </a:rPr>
              <a:t>(Area)</a:t>
            </a:r>
            <a:r>
              <a:rPr lang="ko-KR" altLang="en-US" sz="1800" dirty="0">
                <a:solidFill>
                  <a:srgbClr val="FF0000"/>
                </a:solidFill>
              </a:rPr>
              <a:t>를 가늠할 수 있음</a:t>
            </a:r>
            <a:r>
              <a:rPr lang="en-US" altLang="ko-KR" sz="1800" dirty="0"/>
              <a:t>. Area</a:t>
            </a:r>
            <a:r>
              <a:rPr lang="ko-KR" altLang="en-US" sz="1800" dirty="0"/>
              <a:t>에 따라서 적합한 </a:t>
            </a:r>
            <a:r>
              <a:rPr lang="en-US" altLang="ko-KR" sz="1800" dirty="0"/>
              <a:t>Wire Load Model</a:t>
            </a:r>
            <a:r>
              <a:rPr lang="ko-KR" altLang="en-US" sz="1800" dirty="0"/>
              <a:t>을 선정하고 최종적으로 기생 </a:t>
            </a:r>
            <a:r>
              <a:rPr lang="en-US" altLang="ko-KR" sz="1800" dirty="0"/>
              <a:t>R, C</a:t>
            </a:r>
            <a:r>
              <a:rPr lang="ko-KR" altLang="en-US" sz="1800" dirty="0"/>
              <a:t>값과 최종 </a:t>
            </a:r>
            <a:r>
              <a:rPr lang="en-US" altLang="ko-KR" sz="1800" dirty="0"/>
              <a:t>Net </a:t>
            </a:r>
            <a:r>
              <a:rPr lang="ko-KR" altLang="en-US" sz="1800" dirty="0"/>
              <a:t>딜레이까지 선정하여 타이밍 계산에 이용 </a:t>
            </a:r>
            <a:endParaRPr lang="en-US" altLang="ko-KR" sz="1800" dirty="0"/>
          </a:p>
          <a:p>
            <a:pPr lvl="1" fontAlgn="base"/>
            <a:endParaRPr lang="en-US" altLang="ko-KR" sz="1800" dirty="0"/>
          </a:p>
          <a:p>
            <a:pPr lvl="1" fontAlgn="base"/>
            <a:r>
              <a:rPr lang="ko-KR" altLang="en-US" sz="1800" dirty="0"/>
              <a:t>아래 명령은 특별하게 설계자가 수동으로 지정하고 싶을 때 사용</a:t>
            </a:r>
            <a:r>
              <a:rPr lang="en-US" altLang="ko-KR" sz="1800" dirty="0"/>
              <a:t>. </a:t>
            </a:r>
            <a:r>
              <a:rPr lang="ko-KR" altLang="en-US" sz="1800" dirty="0"/>
              <a:t>기본적으로는 자동 선정됨 </a:t>
            </a:r>
          </a:p>
          <a:p>
            <a:pPr lvl="1" fontAlgn="base"/>
            <a:endParaRPr lang="ko-KR" altLang="en-US" b="1" dirty="0"/>
          </a:p>
        </p:txBody>
      </p:sp>
      <p:pic>
        <p:nvPicPr>
          <p:cNvPr id="4" name="그림 4">
            <a:extLst>
              <a:ext uri="{FF2B5EF4-FFF2-40B4-BE49-F238E27FC236}">
                <a16:creationId xmlns:a16="http://schemas.microsoft.com/office/drawing/2014/main" id="{95D5AEFA-06BE-4C05-864E-98A889564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943" y="5257400"/>
            <a:ext cx="6906660" cy="50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8907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48BAA-9ADC-45C7-B6D0-CBF70C034E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BD4A0B-A2EA-4823-857A-3B47982FEFD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9396F-2DC7-9F2F-8212-5AC8FDA579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4639" y="4935172"/>
            <a:ext cx="11195050" cy="71278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5. Preparation for Synthesis</a:t>
            </a:r>
          </a:p>
        </p:txBody>
      </p:sp>
    </p:spTree>
    <p:extLst>
      <p:ext uri="{BB962C8B-B14F-4D97-AF65-F5344CB8AC3E}">
        <p14:creationId xmlns:p14="http://schemas.microsoft.com/office/powerpoint/2010/main" val="19453180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D7A60-8F72-75FD-3A2E-73845D4FE17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14010" y="594092"/>
            <a:ext cx="11310937" cy="519112"/>
          </a:xfrm>
        </p:spPr>
        <p:txBody>
          <a:bodyPr>
            <a:normAutofit fontScale="90000"/>
          </a:bodyPr>
          <a:lstStyle/>
          <a:p>
            <a:r>
              <a:rPr lang="en-US" dirty="0"/>
              <a:t>Inputs</a:t>
            </a:r>
            <a:r>
              <a:rPr lang="ko-KR" altLang="en-US" dirty="0"/>
              <a:t> </a:t>
            </a:r>
            <a:r>
              <a:rPr lang="en-US" altLang="ko-KR" dirty="0"/>
              <a:t>and</a:t>
            </a:r>
            <a:r>
              <a:rPr lang="ko-KR" altLang="en-US" dirty="0"/>
              <a:t> </a:t>
            </a:r>
            <a:r>
              <a:rPr lang="en-US" altLang="ko-KR" dirty="0"/>
              <a:t>Outputs</a:t>
            </a:r>
            <a:r>
              <a:rPr lang="ko-KR" altLang="en-US" dirty="0"/>
              <a:t> </a:t>
            </a:r>
            <a:r>
              <a:rPr lang="en-US" altLang="ko-KR" dirty="0"/>
              <a:t>of Synthesis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E59DC0-C337-5EC7-2F30-E245880728C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1925"/>
            <a:ext cx="8447088" cy="3994150"/>
          </a:xfr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FAB520D2-0804-E534-6509-30D1C9C8AB3F}"/>
              </a:ext>
            </a:extLst>
          </p:cNvPr>
          <p:cNvSpPr/>
          <p:nvPr/>
        </p:nvSpPr>
        <p:spPr>
          <a:xfrm>
            <a:off x="9041130" y="1303020"/>
            <a:ext cx="777240" cy="3314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3691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4124E-10BE-42B5-671E-DC7C31D80A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30051" y="260398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Inputs for Synthesis: Standard Design Constraints(SDC)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C7635-C3E3-7712-8A9D-27A8E213227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56441" y="1202104"/>
            <a:ext cx="5649913" cy="5370513"/>
          </a:xfrm>
        </p:spPr>
        <p:txBody>
          <a:bodyPr/>
          <a:lstStyle/>
          <a:p>
            <a:r>
              <a:rPr lang="en-US" sz="2000" b="1" dirty="0"/>
              <a:t>SDC(Standard Design Constraints)</a:t>
            </a:r>
          </a:p>
          <a:p>
            <a:pPr lvl="1"/>
            <a:r>
              <a:rPr lang="en-US" altLang="ko-KR" sz="1800" dirty="0"/>
              <a:t>Clock Period, Pulse Width, Rise/Fall Times, in/output delays </a:t>
            </a:r>
            <a:r>
              <a:rPr lang="ko-KR" altLang="en-US" sz="1800" dirty="0"/>
              <a:t>를 기록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r>
              <a:rPr lang="en-US" sz="1800" dirty="0" err="1"/>
              <a:t>Tcl</a:t>
            </a:r>
            <a:r>
              <a:rPr lang="en-US" sz="1800" dirty="0"/>
              <a:t>(Tool Command Language)</a:t>
            </a:r>
            <a:r>
              <a:rPr lang="ko-KR" altLang="en-US" sz="1800" dirty="0"/>
              <a:t>의 문법체계를 따름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r>
              <a:rPr lang="ko-KR" altLang="en-US" sz="1800" dirty="0"/>
              <a:t>설계가 실제 칩에서 동작을 할 수 있는지를 알기 위한 제약 사항 포함 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684D2C-2114-88D8-EAB3-702EE74C43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049" y="1202104"/>
            <a:ext cx="5755341" cy="13142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10CA52-2A46-6A97-6C92-E619A0EFB7B2}"/>
              </a:ext>
            </a:extLst>
          </p:cNvPr>
          <p:cNvSpPr txBox="1"/>
          <p:nvPr/>
        </p:nvSpPr>
        <p:spPr>
          <a:xfrm>
            <a:off x="6382871" y="2662518"/>
            <a:ext cx="537369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err="1"/>
              <a:t>create_clock</a:t>
            </a:r>
            <a:r>
              <a:rPr lang="ko-KR" altLang="en-US" sz="1400" dirty="0"/>
              <a:t> </a:t>
            </a:r>
            <a:r>
              <a:rPr lang="en-US" altLang="ko-KR" sz="1400" dirty="0"/>
              <a:t>–name</a:t>
            </a:r>
            <a:r>
              <a:rPr lang="ko-KR" altLang="en-US" sz="1400" dirty="0"/>
              <a:t> </a:t>
            </a:r>
            <a:r>
              <a:rPr lang="en-US" altLang="ko-KR" sz="1400" dirty="0"/>
              <a:t>–period</a:t>
            </a:r>
            <a:r>
              <a:rPr lang="ko-KR" altLang="en-US" sz="1400" dirty="0"/>
              <a:t> </a:t>
            </a:r>
            <a:r>
              <a:rPr lang="en-US" altLang="ko-KR" sz="1400" dirty="0"/>
              <a:t>10</a:t>
            </a:r>
            <a:r>
              <a:rPr lang="ko-KR" altLang="en-US" sz="1400" dirty="0"/>
              <a:t> </a:t>
            </a:r>
            <a:r>
              <a:rPr lang="en-US" altLang="ko-KR" sz="1400" dirty="0"/>
              <a:t>–waveform</a:t>
            </a:r>
            <a:r>
              <a:rPr lang="ko-KR" altLang="en-US" sz="1400" dirty="0"/>
              <a:t> </a:t>
            </a:r>
            <a:r>
              <a:rPr lang="en-US" altLang="ko-KR" sz="1400" dirty="0"/>
              <a:t>{0</a:t>
            </a:r>
            <a:r>
              <a:rPr lang="ko-KR" altLang="en-US" sz="1400" dirty="0"/>
              <a:t> </a:t>
            </a:r>
            <a:r>
              <a:rPr lang="en-US" altLang="ko-KR" sz="1400" dirty="0"/>
              <a:t>5}</a:t>
            </a:r>
            <a:r>
              <a:rPr lang="ko-KR" altLang="en-US" sz="1400" dirty="0"/>
              <a:t> </a:t>
            </a:r>
            <a:r>
              <a:rPr lang="en-US" altLang="ko-KR" sz="1400" dirty="0"/>
              <a:t>{</a:t>
            </a:r>
            <a:r>
              <a:rPr lang="en-US" altLang="ko-KR" sz="1400" dirty="0" err="1"/>
              <a:t>get_port</a:t>
            </a:r>
            <a:r>
              <a:rPr lang="ko-KR" altLang="en-US" sz="1400" dirty="0"/>
              <a:t> </a:t>
            </a:r>
            <a:r>
              <a:rPr lang="en-US" altLang="ko-KR" sz="1400" dirty="0"/>
              <a:t>“</a:t>
            </a:r>
            <a:r>
              <a:rPr lang="en-US" altLang="ko-KR" sz="1400" dirty="0" err="1"/>
              <a:t>clk</a:t>
            </a:r>
            <a:r>
              <a:rPr lang="en-US" altLang="ko-KR" sz="1400" dirty="0"/>
              <a:t>”}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Period:</a:t>
            </a:r>
            <a:r>
              <a:rPr lang="ko-KR" altLang="en-US" sz="1200" dirty="0"/>
              <a:t> </a:t>
            </a:r>
            <a:r>
              <a:rPr lang="en-US" altLang="ko-KR" sz="1200" dirty="0"/>
              <a:t>10ns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Duty Cycle: 50%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Initial signal is high at first half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err="1"/>
              <a:t>set_clock_transition</a:t>
            </a:r>
            <a:r>
              <a:rPr lang="en-US" sz="1400" dirty="0"/>
              <a:t> –rise / fall: transition delay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err="1"/>
              <a:t>set_clock_uncertainty</a:t>
            </a:r>
            <a:r>
              <a:rPr lang="en-US" sz="1400" dirty="0"/>
              <a:t>: uncertainty for skew/jitter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err="1"/>
              <a:t>set_input</a:t>
            </a:r>
            <a:r>
              <a:rPr lang="en-US" sz="1400" dirty="0"/>
              <a:t> / output delay: delay for timing slack calculation</a:t>
            </a:r>
          </a:p>
        </p:txBody>
      </p:sp>
    </p:spTree>
    <p:extLst>
      <p:ext uri="{BB962C8B-B14F-4D97-AF65-F5344CB8AC3E}">
        <p14:creationId xmlns:p14="http://schemas.microsoft.com/office/powerpoint/2010/main" val="11571180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F4C47-B881-7866-1AB5-A24DD351002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1255" y="243972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Inputs for Synthesis: Liberty Timing File(.lib)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B4A98-8FCB-E8C5-6D88-42068109479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53916" y="1233851"/>
            <a:ext cx="5222630" cy="4799740"/>
          </a:xfrm>
        </p:spPr>
        <p:txBody>
          <a:bodyPr>
            <a:normAutofit fontScale="92500" lnSpcReduction="20000"/>
          </a:bodyPr>
          <a:lstStyle/>
          <a:p>
            <a:r>
              <a:rPr lang="en-US" sz="2200" b="1" dirty="0"/>
              <a:t>LIB(Liberty Timing File)</a:t>
            </a:r>
          </a:p>
          <a:p>
            <a:pPr lvl="1">
              <a:lnSpc>
                <a:spcPct val="160000"/>
              </a:lnSpc>
            </a:pPr>
            <a:r>
              <a:rPr lang="en-US" sz="1900" dirty="0"/>
              <a:t>ASCII</a:t>
            </a:r>
            <a:r>
              <a:rPr lang="ko-KR" altLang="en-US" sz="1900" dirty="0"/>
              <a:t> 형태의 파일</a:t>
            </a:r>
            <a:endParaRPr lang="en-US" altLang="ko-KR" sz="1900" dirty="0"/>
          </a:p>
          <a:p>
            <a:pPr lvl="1">
              <a:lnSpc>
                <a:spcPct val="160000"/>
              </a:lnSpc>
            </a:pPr>
            <a:r>
              <a:rPr lang="ko-KR" altLang="en-US" sz="1900" dirty="0"/>
              <a:t>특정 공정</a:t>
            </a:r>
            <a:r>
              <a:rPr lang="en-US" altLang="ko-KR" sz="1900" dirty="0"/>
              <a:t>(process node)</a:t>
            </a:r>
            <a:r>
              <a:rPr lang="ko-KR" altLang="en-US" sz="1900" dirty="0"/>
              <a:t>에서 </a:t>
            </a:r>
            <a:r>
              <a:rPr lang="en-US" altLang="ko-KR" sz="1900" dirty="0"/>
              <a:t>Standard Cell</a:t>
            </a:r>
            <a:r>
              <a:rPr lang="ko-KR" altLang="en-US" sz="1900" dirty="0"/>
              <a:t>의 </a:t>
            </a:r>
            <a:r>
              <a:rPr lang="en-US" altLang="ko-KR" sz="1900" dirty="0"/>
              <a:t>timing</a:t>
            </a:r>
            <a:r>
              <a:rPr lang="ko-KR" altLang="en-US" sz="1900" dirty="0"/>
              <a:t>과 </a:t>
            </a:r>
            <a:r>
              <a:rPr lang="en-US" altLang="ko-KR" sz="1900" dirty="0"/>
              <a:t>power</a:t>
            </a:r>
            <a:r>
              <a:rPr lang="ko-KR" altLang="en-US" sz="1900" dirty="0"/>
              <a:t>를 표현 함</a:t>
            </a:r>
            <a:endParaRPr lang="en-US" altLang="ko-KR" sz="1900" dirty="0"/>
          </a:p>
          <a:p>
            <a:pPr lvl="1">
              <a:lnSpc>
                <a:spcPct val="160000"/>
              </a:lnSpc>
            </a:pPr>
            <a:r>
              <a:rPr lang="en-US" sz="1900" dirty="0"/>
              <a:t>Standard</a:t>
            </a:r>
            <a:r>
              <a:rPr lang="ko-KR" altLang="en-US" sz="1900" dirty="0"/>
              <a:t> </a:t>
            </a:r>
            <a:r>
              <a:rPr lang="en-US" altLang="ko-KR" sz="1900" dirty="0"/>
              <a:t>cell library vendor</a:t>
            </a:r>
            <a:r>
              <a:rPr lang="ko-KR" altLang="en-US" sz="1900" dirty="0"/>
              <a:t>나 공정사에서제공함</a:t>
            </a:r>
            <a:endParaRPr lang="en-US" altLang="ko-KR" sz="19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350837" indent="-285750"/>
            <a:r>
              <a:rPr lang="ko-KR" altLang="en-US" sz="1200" dirty="0"/>
              <a:t>참조</a:t>
            </a:r>
            <a:r>
              <a:rPr lang="en-US" altLang="ko-KR" sz="1200" dirty="0"/>
              <a:t>: </a:t>
            </a:r>
            <a:r>
              <a:rPr lang="en-US" altLang="ko-KR" sz="1200" dirty="0">
                <a:hlinkClick r:id="rId2"/>
              </a:rPr>
              <a:t>https://teamvlsi.com/2020/05/lib-and-lef-file-in-asic-design.html</a:t>
            </a:r>
            <a:r>
              <a:rPr lang="en-US" altLang="ko-KR" sz="1200" dirty="0"/>
              <a:t> 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6FFF3D-556D-687A-22B7-BC8CE02D35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9889" y="959223"/>
            <a:ext cx="3479923" cy="51356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D302D7-2F0B-BF31-A6FE-8DE977F93A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6723" y="959223"/>
            <a:ext cx="2802160" cy="504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947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42217-ED5A-BD31-A90C-1FB5B870B02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08501" y="409453"/>
            <a:ext cx="11310937" cy="519112"/>
          </a:xfrm>
        </p:spPr>
        <p:txBody>
          <a:bodyPr>
            <a:normAutofit fontScale="90000"/>
          </a:bodyPr>
          <a:lstStyle/>
          <a:p>
            <a:r>
              <a:rPr lang="en-US" dirty="0"/>
              <a:t>Synthesis 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E21598-C9E6-69A8-1E3D-2FDCA68B3CE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55" y="928565"/>
            <a:ext cx="5461000" cy="4554537"/>
          </a:xfrm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72EC637-1F49-8182-4D50-9D29923F0EDE}"/>
              </a:ext>
            </a:extLst>
          </p:cNvPr>
          <p:cNvGraphicFramePr/>
          <p:nvPr/>
        </p:nvGraphicFramePr>
        <p:xfrm>
          <a:off x="6194446" y="1362635"/>
          <a:ext cx="5460518" cy="3980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986660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EDE8D-B08D-FA55-68F3-623441A4C5C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0531" y="479792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Synthesis Flow(1): Preset Global Variables and Attributes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48D928-F532-D0FF-651B-E4C3F602520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46" y="1912143"/>
            <a:ext cx="5649913" cy="303371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21025E-F38A-8690-8248-5A21718427E1}"/>
              </a:ext>
            </a:extLst>
          </p:cNvPr>
          <p:cNvSpPr txBox="1"/>
          <p:nvPr/>
        </p:nvSpPr>
        <p:spPr>
          <a:xfrm>
            <a:off x="6720840" y="2060545"/>
            <a:ext cx="47548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Cadence RTL-to-GDSII</a:t>
            </a:r>
            <a:r>
              <a:rPr lang="ko-KR" altLang="en-US" dirty="0"/>
              <a:t>에 관여하는 모든 툴들은 </a:t>
            </a:r>
            <a:r>
              <a:rPr lang="en-US" altLang="ko-KR" dirty="0"/>
              <a:t>1) </a:t>
            </a:r>
            <a:r>
              <a:rPr lang="ko-KR" altLang="en-US" dirty="0"/>
              <a:t>일관된 </a:t>
            </a:r>
            <a:r>
              <a:rPr lang="en-US" altLang="ko-KR" dirty="0"/>
              <a:t>Stylus UI</a:t>
            </a:r>
            <a:r>
              <a:rPr lang="ko-KR" altLang="en-US" dirty="0"/>
              <a:t>와 </a:t>
            </a:r>
            <a:r>
              <a:rPr lang="en-US" altLang="ko-KR" dirty="0"/>
              <a:t>2) </a:t>
            </a:r>
            <a:r>
              <a:rPr lang="ko-KR" altLang="en-US" dirty="0"/>
              <a:t>일관된 </a:t>
            </a:r>
            <a:r>
              <a:rPr lang="en-US" altLang="ko-KR" dirty="0"/>
              <a:t>TCL </a:t>
            </a:r>
            <a:r>
              <a:rPr lang="ko-KR" altLang="en-US" dirty="0"/>
              <a:t>명령어 체계를 가짐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디자인 프로젝트 이름의 설정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스크립트 파일의 재활용을 위한 각종 글로벌 변수의 설정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0228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E1FE0-B2DF-6403-5C04-9E2ED330E56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38163" y="611677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Synthesis Flow(2): Library Setup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0A1810-D408-3C3D-E2E0-2FDB1847EC8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63" y="2382043"/>
            <a:ext cx="5649913" cy="209391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A6D14D-EE4B-BB35-BCB0-3F64EF4F7108}"/>
              </a:ext>
            </a:extLst>
          </p:cNvPr>
          <p:cNvSpPr txBox="1"/>
          <p:nvPr/>
        </p:nvSpPr>
        <p:spPr>
          <a:xfrm>
            <a:off x="6569612" y="2913564"/>
            <a:ext cx="4754880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Liberty</a:t>
            </a:r>
            <a:r>
              <a:rPr lang="ko-KR" altLang="en-US" dirty="0"/>
              <a:t> </a:t>
            </a:r>
            <a:r>
              <a:rPr lang="en-US" altLang="ko-KR" dirty="0"/>
              <a:t>file(.lib)</a:t>
            </a:r>
            <a:r>
              <a:rPr lang="ko-KR" altLang="en-US" dirty="0"/>
              <a:t> </a:t>
            </a:r>
            <a:r>
              <a:rPr lang="en-US" altLang="ko-KR" dirty="0"/>
              <a:t>import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Library Exchange Format(.</a:t>
            </a:r>
            <a:r>
              <a:rPr lang="en-US" dirty="0" err="1"/>
              <a:t>lef</a:t>
            </a:r>
            <a:r>
              <a:rPr lang="en-US" dirty="0"/>
              <a:t>) import</a:t>
            </a:r>
          </a:p>
        </p:txBody>
      </p:sp>
    </p:spTree>
    <p:extLst>
      <p:ext uri="{BB962C8B-B14F-4D97-AF65-F5344CB8AC3E}">
        <p14:creationId xmlns:p14="http://schemas.microsoft.com/office/powerpoint/2010/main" val="7702518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92771-B494-51FF-DA47-9CDDF92425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73332" y="506169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Synthesis Flow(3): Constraints Setup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9E5660-DDF9-9FE1-3EE2-0B6EE0C260A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32" y="2232818"/>
            <a:ext cx="5649913" cy="23923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48D52C-FF63-FCD2-E029-5D17D02B531F}"/>
              </a:ext>
            </a:extLst>
          </p:cNvPr>
          <p:cNvSpPr txBox="1"/>
          <p:nvPr/>
        </p:nvSpPr>
        <p:spPr>
          <a:xfrm>
            <a:off x="6560820" y="3168540"/>
            <a:ext cx="4754880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Constraints File(.</a:t>
            </a:r>
            <a:r>
              <a:rPr lang="en-US" dirty="0" err="1"/>
              <a:t>sdc</a:t>
            </a:r>
            <a:r>
              <a:rPr lang="en-US" dirty="0"/>
              <a:t>) Import</a:t>
            </a:r>
          </a:p>
        </p:txBody>
      </p:sp>
    </p:spTree>
    <p:extLst>
      <p:ext uri="{BB962C8B-B14F-4D97-AF65-F5344CB8AC3E}">
        <p14:creationId xmlns:p14="http://schemas.microsoft.com/office/powerpoint/2010/main" val="39402525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71913-FAA2-5F07-6612-ACE50F58F9F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02994" y="488585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Synthesis Flow(4): Synthesizing to Generic(Translation)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D73685F-2F86-63AB-72C7-F0BD3392779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77" y="2847940"/>
            <a:ext cx="5649913" cy="153828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1D5E74-81D8-2E59-6285-CA53948F5255}"/>
              </a:ext>
            </a:extLst>
          </p:cNvPr>
          <p:cNvSpPr txBox="1"/>
          <p:nvPr/>
        </p:nvSpPr>
        <p:spPr>
          <a:xfrm>
            <a:off x="6560820" y="2847940"/>
            <a:ext cx="4754880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RT</a:t>
            </a:r>
            <a:r>
              <a:rPr lang="ko-KR" altLang="en-US" dirty="0"/>
              <a:t> </a:t>
            </a:r>
            <a:r>
              <a:rPr lang="en-US" altLang="ko-KR" dirty="0"/>
              <a:t>Level</a:t>
            </a:r>
            <a:r>
              <a:rPr lang="ko-KR" altLang="en-US" dirty="0"/>
              <a:t>의 </a:t>
            </a:r>
            <a:r>
              <a:rPr lang="en-US" altLang="ko-KR" dirty="0"/>
              <a:t>HDL </a:t>
            </a:r>
            <a:r>
              <a:rPr lang="ko-KR" altLang="en-US" dirty="0"/>
              <a:t>코드를 </a:t>
            </a:r>
            <a:r>
              <a:rPr lang="en-US" altLang="ko-KR" dirty="0"/>
              <a:t>Generic Gate Level HDL</a:t>
            </a:r>
            <a:r>
              <a:rPr lang="ko-KR" altLang="en-US" dirty="0"/>
              <a:t>로 변환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Simple Translation</a:t>
            </a:r>
          </a:p>
        </p:txBody>
      </p:sp>
    </p:spTree>
    <p:extLst>
      <p:ext uri="{BB962C8B-B14F-4D97-AF65-F5344CB8AC3E}">
        <p14:creationId xmlns:p14="http://schemas.microsoft.com/office/powerpoint/2010/main" val="35428760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1C982-1DDC-DE29-51FB-57C8C63010B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20578" y="576507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Synthesis Flow(5): Synthesizing to Gate(Mapping)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B04C81-6C99-D4E2-A713-11640E18CC5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85" y="2743323"/>
            <a:ext cx="5649913" cy="1531937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269594-BB39-8DC9-5575-EF0CC29CB1F6}"/>
              </a:ext>
            </a:extLst>
          </p:cNvPr>
          <p:cNvSpPr txBox="1"/>
          <p:nvPr/>
        </p:nvSpPr>
        <p:spPr>
          <a:xfrm>
            <a:off x="6560820" y="2992983"/>
            <a:ext cx="4754880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Generic Gate</a:t>
            </a:r>
            <a:r>
              <a:rPr lang="ko-KR" altLang="en-US" dirty="0"/>
              <a:t>를 실제 </a:t>
            </a:r>
            <a:r>
              <a:rPr lang="en-US" altLang="ko-KR" dirty="0"/>
              <a:t>Standard Cell Library</a:t>
            </a:r>
            <a:r>
              <a:rPr lang="ko-KR" altLang="en-US" dirty="0"/>
              <a:t>상의 </a:t>
            </a:r>
            <a:r>
              <a:rPr lang="en-US" altLang="ko-KR" dirty="0"/>
              <a:t>Gate</a:t>
            </a:r>
            <a:r>
              <a:rPr lang="ko-KR" altLang="en-US" dirty="0"/>
              <a:t>와 </a:t>
            </a:r>
            <a:r>
              <a:rPr lang="en-US" altLang="ko-KR" dirty="0"/>
              <a:t>mapping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53246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B9255-43D2-9951-84DD-CBCFDFC5773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0630" y="506169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Synthesis Flow(6): Optimize Netlist(Optimization)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555C07-A74B-11EB-2F33-10ED86620A1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30" y="2037556"/>
            <a:ext cx="5649913" cy="278288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257089-F8D9-EFBD-1E39-219D17DDF82A}"/>
              </a:ext>
            </a:extLst>
          </p:cNvPr>
          <p:cNvSpPr txBox="1"/>
          <p:nvPr/>
        </p:nvSpPr>
        <p:spPr>
          <a:xfrm>
            <a:off x="6560820" y="2992983"/>
            <a:ext cx="4754880" cy="1287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PPA(Power</a:t>
            </a:r>
            <a:r>
              <a:rPr lang="ko-KR" altLang="en-US" dirty="0"/>
              <a:t> </a:t>
            </a:r>
            <a:r>
              <a:rPr lang="en-US" altLang="ko-KR" dirty="0"/>
              <a:t>Performance</a:t>
            </a:r>
            <a:r>
              <a:rPr lang="ko-KR" altLang="en-US" dirty="0"/>
              <a:t> </a:t>
            </a:r>
            <a:r>
              <a:rPr lang="en-US" altLang="ko-KR" dirty="0"/>
              <a:t>Area)</a:t>
            </a:r>
            <a:r>
              <a:rPr lang="ko-KR" altLang="en-US" dirty="0"/>
              <a:t>를 고려하여 최적화된 </a:t>
            </a:r>
            <a:r>
              <a:rPr lang="en-US" altLang="ko-KR" dirty="0"/>
              <a:t>Gate Level Netlist</a:t>
            </a:r>
            <a:r>
              <a:rPr lang="ko-KR" altLang="en-US" dirty="0"/>
              <a:t>를 도출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0374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C981E-1ECE-27AE-EAE1-1BEACC2CC4A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0531" y="620468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Synthesis Flow(7): Write “</a:t>
            </a:r>
            <a:r>
              <a:rPr lang="en-US" sz="3200" i="1" dirty="0"/>
              <a:t>do </a:t>
            </a:r>
            <a:r>
              <a:rPr lang="en-US" sz="3200" i="1" dirty="0" err="1"/>
              <a:t>lec</a:t>
            </a:r>
            <a:r>
              <a:rPr lang="en-US" sz="3200" dirty="0"/>
              <a:t>” file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9AD7B0-267C-68F7-685B-2768B33FFCD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063961"/>
            <a:ext cx="5649913" cy="103981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48A597-F87B-7307-BC1E-35D8DBD213BA}"/>
              </a:ext>
            </a:extLst>
          </p:cNvPr>
          <p:cNvSpPr txBox="1"/>
          <p:nvPr/>
        </p:nvSpPr>
        <p:spPr>
          <a:xfrm>
            <a:off x="6633797" y="2316855"/>
            <a:ext cx="4754880" cy="253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Equivalence Checking</a:t>
            </a:r>
            <a:r>
              <a:rPr lang="ko-KR" altLang="en-US" dirty="0"/>
              <a:t>을 위한 </a:t>
            </a:r>
            <a:r>
              <a:rPr lang="en-US" altLang="ko-KR" dirty="0" err="1"/>
              <a:t>do_lec</a:t>
            </a:r>
            <a:r>
              <a:rPr lang="ko-KR" altLang="en-US" dirty="0"/>
              <a:t>파일 생성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Equivalence</a:t>
            </a:r>
            <a:r>
              <a:rPr lang="ko-KR" altLang="en-US" dirty="0"/>
              <a:t> </a:t>
            </a:r>
            <a:r>
              <a:rPr lang="en-US" altLang="ko-KR" dirty="0"/>
              <a:t>Checking:</a:t>
            </a:r>
            <a:r>
              <a:rPr lang="ko-KR" altLang="en-US" dirty="0"/>
              <a:t> </a:t>
            </a:r>
            <a:r>
              <a:rPr lang="en-US" altLang="ko-KR" dirty="0"/>
              <a:t>RTL-to-GDII</a:t>
            </a:r>
            <a:r>
              <a:rPr lang="ko-KR" altLang="en-US" dirty="0"/>
              <a:t> </a:t>
            </a:r>
            <a:r>
              <a:rPr lang="en-US" altLang="ko-KR" dirty="0"/>
              <a:t>Flow</a:t>
            </a:r>
            <a:r>
              <a:rPr lang="ko-KR" altLang="en-US" dirty="0"/>
              <a:t>과정간 </a:t>
            </a:r>
            <a:r>
              <a:rPr lang="en-US" altLang="ko-KR" dirty="0"/>
              <a:t>Golden Netlist</a:t>
            </a:r>
            <a:r>
              <a:rPr lang="ko-KR" altLang="en-US" dirty="0"/>
              <a:t>와 </a:t>
            </a:r>
            <a:r>
              <a:rPr lang="en-US" altLang="ko-KR" dirty="0"/>
              <a:t>Revised Netlist</a:t>
            </a:r>
            <a:r>
              <a:rPr lang="ko-KR" altLang="en-US" dirty="0"/>
              <a:t>간의 논리적 </a:t>
            </a:r>
            <a:r>
              <a:rPr lang="ko-KR" altLang="en-US" dirty="0" err="1"/>
              <a:t>등가성</a:t>
            </a:r>
            <a:r>
              <a:rPr lang="en-US" altLang="ko-KR" dirty="0"/>
              <a:t>(logical</a:t>
            </a:r>
            <a:r>
              <a:rPr lang="ko-KR" altLang="en-US" dirty="0"/>
              <a:t> </a:t>
            </a:r>
            <a:r>
              <a:rPr lang="en-US" altLang="ko-KR" dirty="0"/>
              <a:t>equivalence) </a:t>
            </a:r>
            <a:r>
              <a:rPr lang="ko-KR" altLang="en-US" dirty="0"/>
              <a:t>확인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77538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C317A-EEF9-0F3C-DBDE-C35CCEF665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4372" y="462208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Start Genus(1)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6891DB0-50B7-E2A2-AD03-49B75D782A2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730" y="1323731"/>
            <a:ext cx="5405438" cy="3716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26AAB3-2E08-F299-3582-C0E803197C06}"/>
              </a:ext>
            </a:extLst>
          </p:cNvPr>
          <p:cNvSpPr txBox="1"/>
          <p:nvPr/>
        </p:nvSpPr>
        <p:spPr>
          <a:xfrm>
            <a:off x="6339840" y="1553682"/>
            <a:ext cx="4754880" cy="2949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Genus Synthesis Solution</a:t>
            </a:r>
            <a:r>
              <a:rPr lang="ko-KR" altLang="en-US" dirty="0"/>
              <a:t>은 세 가지 모드로 운영가능</a:t>
            </a:r>
            <a:endParaRPr lang="en-US" altLang="ko-KR" dirty="0"/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genus</a:t>
            </a:r>
            <a:r>
              <a:rPr lang="ko-KR" altLang="en-US" dirty="0"/>
              <a:t> 구동 후 </a:t>
            </a:r>
            <a:r>
              <a:rPr lang="en-US" altLang="ko-KR" dirty="0"/>
              <a:t>interactive mode</a:t>
            </a:r>
            <a:r>
              <a:rPr lang="ko-KR" altLang="en-US" dirty="0"/>
              <a:t>로 </a:t>
            </a:r>
            <a:r>
              <a:rPr lang="en-US" altLang="ko-KR" dirty="0"/>
              <a:t>command </a:t>
            </a:r>
            <a:r>
              <a:rPr lang="ko-KR" altLang="en-US" dirty="0"/>
              <a:t>입력</a:t>
            </a:r>
            <a:endParaRPr lang="en-US" altLang="ko-KR" dirty="0"/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 err="1"/>
              <a:t>tcl</a:t>
            </a:r>
            <a:r>
              <a:rPr lang="ko-KR" altLang="en-US" dirty="0"/>
              <a:t> </a:t>
            </a:r>
            <a:r>
              <a:rPr lang="en-US" altLang="ko-KR" dirty="0"/>
              <a:t>script</a:t>
            </a:r>
            <a:r>
              <a:rPr lang="ko-KR" altLang="en-US" dirty="0"/>
              <a:t>를 이용하여 </a:t>
            </a:r>
            <a:r>
              <a:rPr lang="en-US" altLang="ko-KR" dirty="0"/>
              <a:t>genus </a:t>
            </a:r>
            <a:r>
              <a:rPr lang="ko-KR" altLang="en-US" dirty="0"/>
              <a:t>구동</a:t>
            </a:r>
            <a:endParaRPr lang="en-US" altLang="ko-KR" dirty="0"/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genus</a:t>
            </a:r>
            <a:r>
              <a:rPr lang="ko-KR" altLang="en-US" dirty="0"/>
              <a:t> 구동 후 </a:t>
            </a:r>
            <a:r>
              <a:rPr lang="en-US" altLang="ko-KR" dirty="0" err="1"/>
              <a:t>tcl</a:t>
            </a:r>
            <a:r>
              <a:rPr lang="ko-KR" altLang="en-US" dirty="0"/>
              <a:t> </a:t>
            </a:r>
            <a:r>
              <a:rPr lang="en-US" altLang="ko-KR" dirty="0"/>
              <a:t>script</a:t>
            </a:r>
            <a:r>
              <a:rPr lang="ko-KR" altLang="en-US" dirty="0"/>
              <a:t> 불러오기</a:t>
            </a:r>
            <a:r>
              <a:rPr lang="en-US" altLang="ko-KR" dirty="0"/>
              <a:t>(sourcing)</a:t>
            </a:r>
          </a:p>
        </p:txBody>
      </p:sp>
    </p:spTree>
    <p:extLst>
      <p:ext uri="{BB962C8B-B14F-4D97-AF65-F5344CB8AC3E}">
        <p14:creationId xmlns:p14="http://schemas.microsoft.com/office/powerpoint/2010/main" val="139944596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EAAC36-6D3B-2B09-6674-72AE956EDAC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198438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Start Genus(2)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1F3F1565-C473-7516-E164-939B7982F58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" y="955717"/>
            <a:ext cx="5451475" cy="4979988"/>
          </a:xfr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111AD86-4037-70CE-BC54-A2F125624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55717"/>
            <a:ext cx="6009524" cy="76190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1F5C099-7FDB-1062-35BE-866C21528E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95631"/>
            <a:ext cx="6009524" cy="59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00805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C01802-7D7E-ED53-8931-CB53E23F0E4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86867" y="264319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Raise GUI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A85E328-B8AC-5EA9-270A-CE4A93CAFF2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381" y="1337468"/>
            <a:ext cx="4546600" cy="1096963"/>
          </a:xfr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70040E3-1C32-5EB2-C98D-E1E46F8A4E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8319" y="978032"/>
            <a:ext cx="6289485" cy="458343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AB6231B0-81B6-D470-C6F2-1D8DF2A87A11}"/>
              </a:ext>
            </a:extLst>
          </p:cNvPr>
          <p:cNvSpPr/>
          <p:nvPr/>
        </p:nvSpPr>
        <p:spPr>
          <a:xfrm>
            <a:off x="1520190" y="1885950"/>
            <a:ext cx="3471791" cy="285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1230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99895-52F1-2036-ED6B-60FF25F5C51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73332" y="743561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Setting Attribute[s]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055B857-BBD7-36E8-CC26-3A1BE881B68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32" y="1706929"/>
            <a:ext cx="4991100" cy="11715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143CC7-90E7-1DB2-DCF3-9B5C0FD04CC4}"/>
              </a:ext>
            </a:extLst>
          </p:cNvPr>
          <p:cNvSpPr txBox="1"/>
          <p:nvPr/>
        </p:nvSpPr>
        <p:spPr>
          <a:xfrm>
            <a:off x="6228800" y="2085547"/>
            <a:ext cx="4754880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Genus Program</a:t>
            </a:r>
            <a:r>
              <a:rPr lang="ko-KR" altLang="en-US" dirty="0"/>
              <a:t>에 미리 정의된 변수에 값을 할당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Read and Write</a:t>
            </a:r>
            <a:r>
              <a:rPr lang="ko-KR" altLang="en-US" dirty="0"/>
              <a:t> 권한을 부여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일부 속성은 </a:t>
            </a:r>
            <a:r>
              <a:rPr lang="en-US" altLang="ko-KR" dirty="0"/>
              <a:t>read-only</a:t>
            </a:r>
            <a:r>
              <a:rPr lang="ko-KR" altLang="en-US" dirty="0"/>
              <a:t>권한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0A8B1B-6F97-541B-E030-D33D9386EE5B}"/>
              </a:ext>
            </a:extLst>
          </p:cNvPr>
          <p:cNvSpPr txBox="1"/>
          <p:nvPr/>
        </p:nvSpPr>
        <p:spPr>
          <a:xfrm>
            <a:off x="1088711" y="3144812"/>
            <a:ext cx="4377690" cy="92333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set_db</a:t>
            </a:r>
            <a:r>
              <a:rPr lang="en-US" dirty="0"/>
              <a:t> / .&lt;</a:t>
            </a:r>
            <a:r>
              <a:rPr lang="en-US" dirty="0" err="1"/>
              <a:t>attr_name</a:t>
            </a:r>
            <a:r>
              <a:rPr lang="en-US" dirty="0"/>
              <a:t>&gt;</a:t>
            </a:r>
            <a:r>
              <a:rPr lang="ko-KR" altLang="en-US" dirty="0"/>
              <a:t> </a:t>
            </a:r>
            <a:r>
              <a:rPr lang="en-US" altLang="ko-KR" dirty="0"/>
              <a:t>&lt;value&gt;</a:t>
            </a:r>
          </a:p>
          <a:p>
            <a:pPr algn="ctr"/>
            <a:r>
              <a:rPr lang="en-US" dirty="0"/>
              <a:t>=</a:t>
            </a:r>
          </a:p>
          <a:p>
            <a:r>
              <a:rPr lang="en-US" altLang="ko-KR" dirty="0" err="1"/>
              <a:t>set_db</a:t>
            </a:r>
            <a:r>
              <a:rPr lang="en-US" altLang="ko-KR" dirty="0"/>
              <a:t> &lt;</a:t>
            </a:r>
            <a:r>
              <a:rPr lang="en-US" altLang="ko-KR" dirty="0" err="1"/>
              <a:t>attr_name</a:t>
            </a:r>
            <a:r>
              <a:rPr lang="en-US" altLang="ko-KR" dirty="0"/>
              <a:t>&gt; &lt;value&gt;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03711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84C617-1D9F-EC39-B31C-3AA3FC496A2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93140" y="387161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Querying Attribute[s]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093C1A0-113F-CBF5-BA5C-8C9F07C4FC0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670" y="1189926"/>
            <a:ext cx="8789988" cy="119538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EF0B11-B86A-4024-770B-E6A7AF55A13A}"/>
              </a:ext>
            </a:extLst>
          </p:cNvPr>
          <p:cNvSpPr txBox="1"/>
          <p:nvPr/>
        </p:nvSpPr>
        <p:spPr>
          <a:xfrm>
            <a:off x="1044889" y="2668968"/>
            <a:ext cx="4754880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set_db</a:t>
            </a:r>
            <a:r>
              <a:rPr lang="en-US" altLang="ko-KR" dirty="0"/>
              <a:t> 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설정된 속성</a:t>
            </a:r>
            <a:r>
              <a:rPr lang="en-US" altLang="ko-KR" dirty="0"/>
              <a:t>(attribute)</a:t>
            </a:r>
            <a:r>
              <a:rPr lang="ko-KR" altLang="en-US" dirty="0"/>
              <a:t>을 조회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단일속성 혹은 복수의 속성을 한번에 조회 가능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528D94-09F1-9EEE-E9CE-9F761A3A6407}"/>
              </a:ext>
            </a:extLst>
          </p:cNvPr>
          <p:cNvSpPr txBox="1"/>
          <p:nvPr/>
        </p:nvSpPr>
        <p:spPr>
          <a:xfrm>
            <a:off x="1044889" y="4307758"/>
            <a:ext cx="9699311" cy="1200329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[Example]</a:t>
            </a:r>
          </a:p>
          <a:p>
            <a:r>
              <a:rPr lang="en-US" dirty="0" err="1"/>
              <a:t>get_db</a:t>
            </a:r>
            <a:r>
              <a:rPr lang="en-US" dirty="0"/>
              <a:t> </a:t>
            </a:r>
            <a:r>
              <a:rPr lang="en-US" dirty="0" err="1"/>
              <a:t>tns_opto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get_db</a:t>
            </a:r>
            <a:r>
              <a:rPr lang="en-US" dirty="0"/>
              <a:t> "</a:t>
            </a:r>
            <a:r>
              <a:rPr lang="en-US" dirty="0" err="1"/>
              <a:t>clock:map_design</a:t>
            </a:r>
            <a:r>
              <a:rPr lang="en-US" dirty="0"/>
              <a:t>/functional/</a:t>
            </a:r>
            <a:r>
              <a:rPr lang="en-US" dirty="0" err="1"/>
              <a:t>high_clk</a:t>
            </a:r>
            <a:r>
              <a:rPr lang="en-US" dirty="0"/>
              <a:t> </a:t>
            </a:r>
            <a:r>
              <a:rPr lang="en-US" dirty="0" err="1"/>
              <a:t>clock:map_design</a:t>
            </a:r>
            <a:r>
              <a:rPr lang="en-US" dirty="0"/>
              <a:t>/functional/</a:t>
            </a:r>
            <a:r>
              <a:rPr lang="en-US" dirty="0" err="1"/>
              <a:t>low_clk</a:t>
            </a:r>
            <a:r>
              <a:rPr lang="en-US" dirty="0"/>
              <a:t>" .sources</a:t>
            </a:r>
          </a:p>
        </p:txBody>
      </p:sp>
    </p:spTree>
    <p:extLst>
      <p:ext uri="{BB962C8B-B14F-4D97-AF65-F5344CB8AC3E}">
        <p14:creationId xmlns:p14="http://schemas.microsoft.com/office/powerpoint/2010/main" val="190991802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B57D2B-21D7-E9F0-7083-3302B9EEC78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99709" y="420310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Reading Libraries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A707BBA-4E29-E04E-CF39-83C3FBA2737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16" y="1250095"/>
            <a:ext cx="10436225" cy="14065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3E9AF1-5AE2-8130-07E0-A1DBB256C0E6}"/>
              </a:ext>
            </a:extLst>
          </p:cNvPr>
          <p:cNvSpPr txBox="1"/>
          <p:nvPr/>
        </p:nvSpPr>
        <p:spPr>
          <a:xfrm>
            <a:off x="1044889" y="2785234"/>
            <a:ext cx="10019351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init_lib_search_path</a:t>
            </a:r>
            <a:r>
              <a:rPr lang="ko-KR" altLang="en-US" dirty="0"/>
              <a:t>에서 정의한 라이브러리 경로에서 라이브러리 파일</a:t>
            </a:r>
            <a:r>
              <a:rPr lang="en-US" altLang="ko-KR" dirty="0"/>
              <a:t>(.lib </a:t>
            </a:r>
            <a:r>
              <a:rPr lang="ko-KR" altLang="en-US" dirty="0"/>
              <a:t>또는 </a:t>
            </a:r>
            <a:r>
              <a:rPr lang="en-US" altLang="ko-KR" dirty="0"/>
              <a:t>.v)</a:t>
            </a:r>
            <a:r>
              <a:rPr lang="ko-KR" altLang="en-US" dirty="0"/>
              <a:t>을 읽어 들인다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1F8A57F-EE55-919B-CA6E-076B6C7D87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981" y="4084196"/>
            <a:ext cx="6716196" cy="85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56804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6EAD50-1F14-57C2-653D-7B35C513082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29370" y="367128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Reading</a:t>
            </a:r>
            <a:r>
              <a:rPr lang="ko-KR" altLang="en-US" sz="3200" dirty="0"/>
              <a:t> </a:t>
            </a:r>
            <a:r>
              <a:rPr lang="en-US" altLang="ko-KR" sz="3200" dirty="0"/>
              <a:t>Designs(RTL)</a:t>
            </a:r>
            <a:endParaRPr lang="en-US" sz="32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5E4D5EB0-D94D-938C-18DF-5C698516576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08" y="1076203"/>
            <a:ext cx="10218738" cy="151923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D0D882-7DA9-9108-BF36-B2B8C6F6250A}"/>
              </a:ext>
            </a:extLst>
          </p:cNvPr>
          <p:cNvSpPr txBox="1"/>
          <p:nvPr/>
        </p:nvSpPr>
        <p:spPr>
          <a:xfrm>
            <a:off x="1044889" y="2785234"/>
            <a:ext cx="10019351" cy="253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init_hdl_search_path</a:t>
            </a:r>
            <a:r>
              <a:rPr lang="ko-KR" altLang="en-US" dirty="0"/>
              <a:t>에서 정의한 </a:t>
            </a:r>
            <a:r>
              <a:rPr lang="en-US" altLang="ko-KR" dirty="0"/>
              <a:t>HDL</a:t>
            </a:r>
            <a:r>
              <a:rPr lang="ko-KR" altLang="en-US" dirty="0"/>
              <a:t>파일 경로에서 </a:t>
            </a:r>
            <a:r>
              <a:rPr lang="en-US" altLang="ko-KR" dirty="0"/>
              <a:t>RTL</a:t>
            </a:r>
            <a:r>
              <a:rPr lang="ko-KR" altLang="en-US" dirty="0"/>
              <a:t> </a:t>
            </a:r>
            <a:r>
              <a:rPr lang="en-US" altLang="ko-KR" dirty="0"/>
              <a:t>Source(Verilog, System Verilog, VHDL, </a:t>
            </a:r>
            <a:r>
              <a:rPr lang="en-US" altLang="ko-KR" dirty="0" err="1"/>
              <a:t>SystemC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를 읽어 들인다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복수의 파일일 경우 </a:t>
            </a:r>
            <a:r>
              <a:rPr lang="en-US" altLang="ko-KR" dirty="0"/>
              <a:t>{design1</a:t>
            </a:r>
            <a:r>
              <a:rPr lang="ko-KR" altLang="en-US" dirty="0"/>
              <a:t> </a:t>
            </a:r>
            <a:r>
              <a:rPr lang="en-US" altLang="ko-KR" dirty="0"/>
              <a:t>design2</a:t>
            </a:r>
            <a:r>
              <a:rPr lang="ko-KR" altLang="en-US" dirty="0"/>
              <a:t> </a:t>
            </a:r>
            <a:r>
              <a:rPr lang="en-US" altLang="ko-KR" dirty="0"/>
              <a:t>}</a:t>
            </a:r>
            <a:r>
              <a:rPr lang="ko-KR" altLang="en-US" dirty="0"/>
              <a:t>와 같은 방식으로 </a:t>
            </a:r>
            <a:r>
              <a:rPr lang="en-US" altLang="ko-KR" dirty="0"/>
              <a:t>{ } </a:t>
            </a:r>
            <a:r>
              <a:rPr lang="ko-KR" altLang="en-US" dirty="0"/>
              <a:t>안에 스페이스를 </a:t>
            </a:r>
            <a:r>
              <a:rPr lang="en-US" altLang="ko-KR" dirty="0"/>
              <a:t>delimiter</a:t>
            </a:r>
            <a:r>
              <a:rPr lang="ko-KR" altLang="en-US" dirty="0"/>
              <a:t>로 해서 </a:t>
            </a:r>
            <a:r>
              <a:rPr lang="en-US" altLang="ko-KR" dirty="0"/>
              <a:t>enumeration</a:t>
            </a:r>
            <a:r>
              <a:rPr lang="ko-KR" altLang="en-US" dirty="0"/>
              <a:t>한다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verilog</a:t>
            </a:r>
            <a:r>
              <a:rPr lang="ko-KR" altLang="en-US" dirty="0"/>
              <a:t> </a:t>
            </a:r>
            <a:r>
              <a:rPr lang="en-US" altLang="ko-KR" dirty="0"/>
              <a:t>source</a:t>
            </a:r>
            <a:r>
              <a:rPr lang="ko-KR" altLang="en-US" dirty="0"/>
              <a:t> </a:t>
            </a:r>
            <a:r>
              <a:rPr lang="en-US" altLang="ko-KR" dirty="0"/>
              <a:t>file</a:t>
            </a:r>
            <a:r>
              <a:rPr lang="ko-KR" altLang="en-US" dirty="0"/>
              <a:t>의 경우 </a:t>
            </a:r>
            <a:r>
              <a:rPr lang="en-US" altLang="ko-KR" dirty="0"/>
              <a:t>default</a:t>
            </a:r>
            <a:r>
              <a:rPr lang="ko-KR" altLang="en-US" dirty="0"/>
              <a:t>는 </a:t>
            </a:r>
            <a:r>
              <a:rPr lang="en-US" altLang="ko-KR" dirty="0"/>
              <a:t>v1995, v2001</a:t>
            </a:r>
            <a:r>
              <a:rPr lang="ko-KR" altLang="en-US" dirty="0"/>
              <a:t>이다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A58DD6F-A2C7-67BB-EE6E-BFD9F822ED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019" y="5144186"/>
            <a:ext cx="8023127" cy="88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18063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5AE0CA-B491-387A-5D02-B124A6975D1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7294" y="366226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Elaboration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A3CFB85-267A-7EC9-DE18-A730C46D176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23" y="1132393"/>
            <a:ext cx="9121775" cy="11588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97D741-64FE-0F34-266B-6A0D0038B1CF}"/>
              </a:ext>
            </a:extLst>
          </p:cNvPr>
          <p:cNvSpPr txBox="1"/>
          <p:nvPr/>
        </p:nvSpPr>
        <p:spPr>
          <a:xfrm>
            <a:off x="964879" y="2545739"/>
            <a:ext cx="10019351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데이터 구조를 형성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디자인 상에 필요한 </a:t>
            </a:r>
            <a:r>
              <a:rPr lang="en-US" altLang="ko-KR" dirty="0"/>
              <a:t>register</a:t>
            </a:r>
            <a:r>
              <a:rPr lang="ko-KR" altLang="en-US" dirty="0"/>
              <a:t>를 추론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합성되지 않는 코드의 제거를 통한 최적화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Gate Clock</a:t>
            </a:r>
            <a:r>
              <a:rPr lang="ko-KR" altLang="en-US" dirty="0"/>
              <a:t>의 대상 블록을 확인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5FD8A75-4131-927E-4FBC-BC78ADC9E0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553" y="4495824"/>
            <a:ext cx="6941001" cy="47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52356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87AFD7-9CA8-1096-0FBC-F2CB766097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7294" y="355671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Read</a:t>
            </a:r>
            <a:r>
              <a:rPr lang="ko-KR" altLang="en-US" sz="3200" dirty="0"/>
              <a:t> </a:t>
            </a:r>
            <a:r>
              <a:rPr lang="en-US" altLang="ko-KR" sz="3200" dirty="0"/>
              <a:t>Constraints</a:t>
            </a:r>
            <a:endParaRPr lang="en-US" sz="32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D7B8FF7-E870-EF65-621D-1DE205AC176F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5" y="1131617"/>
            <a:ext cx="9418638" cy="115728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F42665-78F1-A1AB-CC08-383D619FAEEB}"/>
              </a:ext>
            </a:extLst>
          </p:cNvPr>
          <p:cNvSpPr txBox="1"/>
          <p:nvPr/>
        </p:nvSpPr>
        <p:spPr>
          <a:xfrm>
            <a:off x="964879" y="2545739"/>
            <a:ext cx="10019351" cy="871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Elaboration </a:t>
            </a:r>
            <a:r>
              <a:rPr lang="ko-KR" altLang="en-US" dirty="0"/>
              <a:t>이후에 수행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Standard Design</a:t>
            </a:r>
            <a:r>
              <a:rPr lang="ko-KR" altLang="en-US" dirty="0"/>
              <a:t> </a:t>
            </a:r>
            <a:r>
              <a:rPr lang="en-US" altLang="ko-KR" dirty="0"/>
              <a:t>Constraints file(.</a:t>
            </a:r>
            <a:r>
              <a:rPr lang="en-US" altLang="ko-KR" dirty="0" err="1"/>
              <a:t>sdc</a:t>
            </a:r>
            <a:r>
              <a:rPr lang="en-US" altLang="ko-KR" dirty="0"/>
              <a:t>)</a:t>
            </a:r>
            <a:r>
              <a:rPr lang="ko-KR" altLang="en-US" dirty="0"/>
              <a:t>를 읽어 들임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FF771C2-B429-73AA-7ABE-904D2C54C3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132" y="3979158"/>
            <a:ext cx="7907278" cy="48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73999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F4DF2B-AF8D-2594-8B21-4960A8CF487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0531" y="323800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Setting</a:t>
            </a:r>
            <a:r>
              <a:rPr lang="ko-KR" altLang="en-US" sz="3200" dirty="0"/>
              <a:t> </a:t>
            </a:r>
            <a:r>
              <a:rPr lang="en-US" altLang="ko-KR" sz="3200" dirty="0"/>
              <a:t>Effort</a:t>
            </a:r>
            <a:r>
              <a:rPr lang="ko-KR" altLang="en-US" sz="3200" dirty="0"/>
              <a:t> </a:t>
            </a:r>
            <a:r>
              <a:rPr lang="en-US" altLang="ko-KR" sz="3200" dirty="0"/>
              <a:t>Levels</a:t>
            </a:r>
            <a:r>
              <a:rPr lang="ko-KR" altLang="en-US" sz="3200" dirty="0"/>
              <a:t> </a:t>
            </a:r>
            <a:r>
              <a:rPr lang="en-US" altLang="ko-KR" sz="3200" dirty="0"/>
              <a:t>Prior</a:t>
            </a:r>
            <a:r>
              <a:rPr lang="ko-KR" altLang="en-US" sz="3200" dirty="0"/>
              <a:t> </a:t>
            </a:r>
            <a:r>
              <a:rPr lang="en-US" altLang="ko-KR" sz="3200" dirty="0"/>
              <a:t>to</a:t>
            </a:r>
            <a:r>
              <a:rPr lang="ko-KR" altLang="en-US" sz="3200" dirty="0"/>
              <a:t> </a:t>
            </a:r>
            <a:r>
              <a:rPr lang="en-US" altLang="ko-KR" sz="3200" dirty="0"/>
              <a:t>Synthesis</a:t>
            </a:r>
            <a:endParaRPr lang="en-US" sz="32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BDE00FB-7A76-BA56-1A20-B99E8CB5D87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92" y="2492375"/>
            <a:ext cx="5018088" cy="936625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84DEA87-15BA-F41C-E089-86B19498CE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035" y="1085849"/>
            <a:ext cx="2323809" cy="8761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84DE567-07C6-D4B1-E02F-E4F7C4DFA8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035" y="2446025"/>
            <a:ext cx="2276190" cy="88571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45336AF-8726-FFE5-C65F-9E099B0D25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035" y="3815725"/>
            <a:ext cx="2390476" cy="895238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0096F2A3-1A58-08B8-C965-6B73095B2E2B}"/>
              </a:ext>
            </a:extLst>
          </p:cNvPr>
          <p:cNvCxnSpPr>
            <a:endCxn id="7" idx="1"/>
          </p:cNvCxnSpPr>
          <p:nvPr/>
        </p:nvCxnSpPr>
        <p:spPr>
          <a:xfrm flipV="1">
            <a:off x="5223510" y="1523944"/>
            <a:ext cx="2659525" cy="1093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2CEBE78F-8B99-2BAB-9B06-486078A64B20}"/>
              </a:ext>
            </a:extLst>
          </p:cNvPr>
          <p:cNvCxnSpPr>
            <a:endCxn id="9" idx="1"/>
          </p:cNvCxnSpPr>
          <p:nvPr/>
        </p:nvCxnSpPr>
        <p:spPr>
          <a:xfrm>
            <a:off x="5223510" y="2888882"/>
            <a:ext cx="26595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4229A04-6156-BBA2-1C86-52AAE6E0C7D7}"/>
              </a:ext>
            </a:extLst>
          </p:cNvPr>
          <p:cNvCxnSpPr>
            <a:endCxn id="11" idx="1"/>
          </p:cNvCxnSpPr>
          <p:nvPr/>
        </p:nvCxnSpPr>
        <p:spPr>
          <a:xfrm>
            <a:off x="5223510" y="3131820"/>
            <a:ext cx="2659525" cy="1131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F034B5A-AB8F-972E-AB26-B3A4920A1543}"/>
              </a:ext>
            </a:extLst>
          </p:cNvPr>
          <p:cNvSpPr txBox="1"/>
          <p:nvPr/>
        </p:nvSpPr>
        <p:spPr>
          <a:xfrm>
            <a:off x="123092" y="3707524"/>
            <a:ext cx="5723162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Synthesis 3-Stage</a:t>
            </a:r>
            <a:r>
              <a:rPr lang="ko-KR" altLang="en-US" dirty="0"/>
              <a:t>에 대한 </a:t>
            </a:r>
            <a:r>
              <a:rPr lang="en-US" altLang="ko-KR" dirty="0"/>
              <a:t>Effort Level</a:t>
            </a:r>
            <a:r>
              <a:rPr lang="ko-KR" altLang="en-US" dirty="0"/>
              <a:t>을 설정한다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변수는 </a:t>
            </a:r>
            <a:r>
              <a:rPr lang="en-US" altLang="ko-KR" dirty="0"/>
              <a:t>preset </a:t>
            </a:r>
            <a:r>
              <a:rPr lang="ko-KR" altLang="en-US" dirty="0"/>
              <a:t>단계에서 </a:t>
            </a:r>
            <a:r>
              <a:rPr lang="en-US" altLang="ko-KR" dirty="0"/>
              <a:t>global</a:t>
            </a:r>
            <a:r>
              <a:rPr lang="ko-KR" altLang="en-US" dirty="0"/>
              <a:t>하게 설정할 수 있다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필요한 경우 </a:t>
            </a:r>
            <a:r>
              <a:rPr lang="en-US" altLang="ko-KR" dirty="0"/>
              <a:t>override</a:t>
            </a:r>
            <a:r>
              <a:rPr lang="ko-KR" altLang="en-US" dirty="0"/>
              <a:t>하여 적용한다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976199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F9C48E-911C-3F1E-7CA6-6DB4A2F81EE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83186" y="198438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Generating</a:t>
            </a:r>
            <a:r>
              <a:rPr lang="ko-KR" altLang="en-US" sz="3200" dirty="0"/>
              <a:t> </a:t>
            </a:r>
            <a:r>
              <a:rPr lang="en-US" altLang="ko-KR" sz="3200" dirty="0"/>
              <a:t>Reports</a:t>
            </a:r>
            <a:endParaRPr lang="en-US" sz="32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2EEF7D2-F4EB-4B66-68BD-C02BEA65DA1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277" y="1862137"/>
            <a:ext cx="5840413" cy="3133725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774C144-F057-CCAF-EA47-7FB4BDB8C4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1621" y="1429452"/>
            <a:ext cx="4095238" cy="101904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E0A3308-3E80-6E0A-9545-53D354A460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762" y="4019024"/>
            <a:ext cx="5695238" cy="1409524"/>
          </a:xfrm>
          <a:prstGeom prst="rect">
            <a:avLst/>
          </a:prstGeom>
        </p:spPr>
      </p:pic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FAF7AC99-3B10-9F3F-590D-FB6DB06245F4}"/>
              </a:ext>
            </a:extLst>
          </p:cNvPr>
          <p:cNvSpPr/>
          <p:nvPr/>
        </p:nvSpPr>
        <p:spPr>
          <a:xfrm>
            <a:off x="8823960" y="2834640"/>
            <a:ext cx="514350" cy="594360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34747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E7AF21-FAF7-18D7-275B-FF9DD4DCD87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6087" y="266638"/>
            <a:ext cx="11310937" cy="519112"/>
          </a:xfrm>
        </p:spPr>
        <p:txBody>
          <a:bodyPr>
            <a:noAutofit/>
          </a:bodyPr>
          <a:lstStyle/>
          <a:p>
            <a:r>
              <a:rPr lang="en-US" sz="3200" dirty="0"/>
              <a:t>Generating Outputs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737B870-C394-2523-B693-EE3942557CB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1" y="946749"/>
            <a:ext cx="5649913" cy="2132012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704969E-2A75-368D-8439-4542E01157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849" y="3393831"/>
            <a:ext cx="9247619" cy="80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079C5B2-2234-468A-A880-44C9C052B8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610" y="5146990"/>
            <a:ext cx="6438095" cy="876190"/>
          </a:xfrm>
          <a:prstGeom prst="rect">
            <a:avLst/>
          </a:prstGeom>
        </p:spPr>
      </p:pic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7B4F7D75-C3F3-2E00-8159-158472F3791D}"/>
              </a:ext>
            </a:extLst>
          </p:cNvPr>
          <p:cNvSpPr/>
          <p:nvPr/>
        </p:nvSpPr>
        <p:spPr>
          <a:xfrm>
            <a:off x="5408137" y="4414062"/>
            <a:ext cx="548640" cy="502920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06543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E06C08-7D88-4F9F-802D-8870CBF89E7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F7CC8-72E8-4922-93D1-1EE87AF8CFB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9BC207-E668-475B-A270-4E48641F8931}"/>
              </a:ext>
            </a:extLst>
          </p:cNvPr>
          <p:cNvSpPr txBox="1">
            <a:spLocks/>
          </p:cNvSpPr>
          <p:nvPr/>
        </p:nvSpPr>
        <p:spPr>
          <a:xfrm>
            <a:off x="184639" y="4935172"/>
            <a:ext cx="11195050" cy="712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LAB</a:t>
            </a:r>
          </a:p>
        </p:txBody>
      </p:sp>
    </p:spTree>
    <p:extLst>
      <p:ext uri="{BB962C8B-B14F-4D97-AF65-F5344CB8AC3E}">
        <p14:creationId xmlns:p14="http://schemas.microsoft.com/office/powerpoint/2010/main" val="150761495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35348F-A9BE-CDA5-7E58-C6E7FAF40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LAB(1)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2EAD89-602D-1354-E3AA-8EC3A3F0FB92}"/>
              </a:ext>
            </a:extLst>
          </p:cNvPr>
          <p:cNvSpPr txBox="1"/>
          <p:nvPr/>
        </p:nvSpPr>
        <p:spPr>
          <a:xfrm>
            <a:off x="531119" y="1116992"/>
            <a:ext cx="11153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Interactive Mode Synthesis</a:t>
            </a:r>
          </a:p>
        </p:txBody>
      </p:sp>
    </p:spTree>
    <p:extLst>
      <p:ext uri="{BB962C8B-B14F-4D97-AF65-F5344CB8AC3E}">
        <p14:creationId xmlns:p14="http://schemas.microsoft.com/office/powerpoint/2010/main" val="306238586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7B23C7-3721-F338-1EDE-7F55E5E11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033BCF-D795-C11A-87BF-822CC52A35B4}"/>
              </a:ext>
            </a:extLst>
          </p:cNvPr>
          <p:cNvSpPr txBox="1"/>
          <p:nvPr/>
        </p:nvSpPr>
        <p:spPr>
          <a:xfrm>
            <a:off x="531119" y="1116992"/>
            <a:ext cx="11153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TCL Scripting for Synthesis</a:t>
            </a:r>
          </a:p>
        </p:txBody>
      </p:sp>
    </p:spTree>
    <p:extLst>
      <p:ext uri="{BB962C8B-B14F-4D97-AF65-F5344CB8AC3E}">
        <p14:creationId xmlns:p14="http://schemas.microsoft.com/office/powerpoint/2010/main" val="2301934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14045</TotalTime>
  <Words>3262</Words>
  <Application>Microsoft Office PowerPoint</Application>
  <PresentationFormat>Widescreen</PresentationFormat>
  <Paragraphs>438</Paragraphs>
  <Slides>77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6" baseType="lpstr">
      <vt:lpstr>굴림</vt:lpstr>
      <vt:lpstr>맑은 고딕</vt:lpstr>
      <vt:lpstr>Rubik Light</vt:lpstr>
      <vt:lpstr>나눔스퀘어 네오 Regular</vt:lpstr>
      <vt:lpstr>함초롬바탕</vt:lpstr>
      <vt:lpstr>휴먼명조</vt:lpstr>
      <vt:lpstr>Arial</vt:lpstr>
      <vt:lpstr>Arial Black</vt:lpstr>
      <vt:lpstr>Office 테마</vt:lpstr>
      <vt:lpstr>Digital Implementation 101</vt:lpstr>
      <vt:lpstr>1. RTL-to-GDSII Implementation Flow</vt:lpstr>
      <vt:lpstr>Overview: Digital Realization of the RTL-to-GDSII Flow</vt:lpstr>
      <vt:lpstr>2. Overview</vt:lpstr>
      <vt:lpstr>Notion of Synthesis</vt:lpstr>
      <vt:lpstr>PowerPoint Presentation</vt:lpstr>
      <vt:lpstr>PowerPoint Presentation</vt:lpstr>
      <vt:lpstr>PowerPoint Presentation</vt:lpstr>
      <vt:lpstr>Transformation of RTL Code : 3 Steps</vt:lpstr>
      <vt:lpstr>PowerPoint Presentation</vt:lpstr>
      <vt:lpstr>3. Timing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 Constraints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5. Preparation for Synthesis</vt:lpstr>
      <vt:lpstr>Inputs and Outputs of Synthesis</vt:lpstr>
      <vt:lpstr>Inputs for Synthesis: Standard Design Constraints(SDC)</vt:lpstr>
      <vt:lpstr>Inputs for Synthesis: Liberty Timing File(.lib)</vt:lpstr>
      <vt:lpstr>Synthesis Flow</vt:lpstr>
      <vt:lpstr>Synthesis Flow(1): Preset Global Variables and Attributes</vt:lpstr>
      <vt:lpstr>Synthesis Flow(2): Library Setup</vt:lpstr>
      <vt:lpstr>Synthesis Flow(3): Constraints Setup</vt:lpstr>
      <vt:lpstr>Synthesis Flow(4): Synthesizing to Generic(Translation) </vt:lpstr>
      <vt:lpstr>Synthesis Flow(5): Synthesizing to Gate(Mapping)</vt:lpstr>
      <vt:lpstr>Synthesis Flow(6): Optimize Netlist(Optimization)</vt:lpstr>
      <vt:lpstr>Synthesis Flow(7): Write “do lec” file</vt:lpstr>
      <vt:lpstr>Start Genus(1)</vt:lpstr>
      <vt:lpstr>Start Genus(2)</vt:lpstr>
      <vt:lpstr>Raise GUI</vt:lpstr>
      <vt:lpstr>Setting Attribute[s]</vt:lpstr>
      <vt:lpstr>Querying Attribute[s]</vt:lpstr>
      <vt:lpstr>Reading Libraries</vt:lpstr>
      <vt:lpstr>Reading Designs(RTL)</vt:lpstr>
      <vt:lpstr>Elaboration</vt:lpstr>
      <vt:lpstr>Read Constraints</vt:lpstr>
      <vt:lpstr>Setting Effort Levels Prior to Synthesis</vt:lpstr>
      <vt:lpstr>Generating Reports</vt:lpstr>
      <vt:lpstr>Generating Outputs</vt:lpstr>
      <vt:lpstr>PowerPoint Presentation</vt:lpstr>
      <vt:lpstr>LAB(1)</vt:lpstr>
      <vt:lpstr>LAB(2)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 Control with PS Part</dc:title>
  <dc:creator>예빈 문</dc:creator>
  <cp:lastModifiedBy> 우승안</cp:lastModifiedBy>
  <cp:revision>766</cp:revision>
  <dcterms:created xsi:type="dcterms:W3CDTF">2024-09-20T05:42:48Z</dcterms:created>
  <dcterms:modified xsi:type="dcterms:W3CDTF">2026-05-20T14:37:01Z</dcterms:modified>
</cp:coreProperties>
</file>